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09DA3F-F0DA-7BD7-C643-A8503FB46BDD}">
          <p14:sldIdLst>
            <p14:sldId id="256"/>
          </p14:sldIdLst>
        </p14:section>
        <p14:section name="Problem" id="{2C661D98-14A8-9E03-0E8D-11F14C333068}">
          <p14:sldIdLst>
            <p14:sldId id="257"/>
            <p14:sldId id="258"/>
          </p14:sldIdLst>
        </p14:section>
        <p14:section name="Approach" id="{56F10FB3-E2BA-54E3-7949-B705BECC8AF8}">
          <p14:sldIdLst>
            <p14:sldId id="259"/>
            <p14:sldId id="260"/>
            <p14:sldId id="261"/>
            <p14:sldId id="262"/>
            <p14:sldId id="264"/>
          </p14:sldIdLst>
        </p14:section>
        <p14:section name="Results" id="{966B6036-7BF5-2B79-1D0C-0C9EF45F37DE}">
          <p14:sldIdLst>
            <p14:sldId id="265"/>
            <p14:sldId id="266"/>
            <p14:sldId id="267"/>
          </p14:sldIdLst>
        </p14:section>
        <p14:section name="Verification" id="{28F7D113-C0DC-D11D-53FB-A510D0E538CC}">
          <p14:sldIdLst>
            <p14:sldId id="268"/>
          </p14:sldIdLst>
        </p14:section>
        <p14:section name="Close" id="{3D808358-EAFA-7094-B126-7715A8EB31AA}">
          <p14:sldIdLst>
            <p14:sldId id="269"/>
          </p14:sldIdLst>
        </p14:section>
        <p14:section name="Appendix" id="{B3CBA4C2-1FEB-BB4C-8025-EE866A77380E}">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4063"/>
    <p:restoredTop sz="94610"/>
  </p:normalViewPr>
  <p:slideViewPr>
    <p:cSldViewPr snapToGrid="0" snapToObjects="1">
      <p:cViewPr varScale="1">
        <p:scale>
          <a:sx n="61" d="100"/>
          <a:sy n="61" d="100"/>
        </p:scale>
        <p:origin x="208" y="1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lang="en-CA" sz="1400" b="0" i="0" u="none" strike="noStrike">
                <a:solidFill>
                  <a:schemeClr val="tx1"/>
                </a:solidFill>
                <a:latin typeface="+mn-lt"/>
              </a:rPr>
              <a:t>Average delay per call, minutes (lower is better)</a:t>
            </a:r>
          </a:p>
        </c:rich>
      </c:tx>
      <c:overlay val="0"/>
    </c:title>
    <c:autoTitleDeleted val="0"/>
    <c:plotArea>
      <c:layout/>
      <c:barChart>
        <c:barDir val="col"/>
        <c:grouping val="clustered"/>
        <c:varyColors val="0"/>
        <c:ser>
          <c:idx val="0"/>
          <c:order val="0"/>
          <c:tx>
            <c:strRef>
              <c:f>Sheet1!$B$1</c:f>
              <c:strCache>
                <c:ptCount val="1"/>
                <c:pt idx="0">
                  <c:v>Greedy</c:v>
                </c:pt>
              </c:strCache>
            </c:strRef>
          </c:tx>
          <c:spPr>
            <a:solidFill>
              <a:srgbClr val="6B7588"/>
            </a:solidFill>
            <a:effectLst/>
          </c:spPr>
          <c:invertIfNegative val="0"/>
          <c:dLbls>
            <c:numFmt formatCode="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Mixed</c:v>
                </c:pt>
                <c:pt idx="1">
                  <c:v>Patterns</c:v>
                </c:pt>
                <c:pt idx="2">
                  <c:v>Rush hour</c:v>
                </c:pt>
                <c:pt idx="3">
                  <c:v>Large city</c:v>
                </c:pt>
                <c:pt idx="4">
                  <c:v>Overloaded</c:v>
                </c:pt>
              </c:strCache>
            </c:strRef>
          </c:cat>
          <c:val>
            <c:numRef>
              <c:f>Sheet1!$B$2:$B$6</c:f>
              <c:numCache>
                <c:formatCode>General</c:formatCode>
                <c:ptCount val="5"/>
                <c:pt idx="0">
                  <c:v>20.3</c:v>
                </c:pt>
                <c:pt idx="1">
                  <c:v>22.5</c:v>
                </c:pt>
                <c:pt idx="2">
                  <c:v>29.27</c:v>
                </c:pt>
                <c:pt idx="3">
                  <c:v>20.309999999999999</c:v>
                </c:pt>
                <c:pt idx="4">
                  <c:v>28.85</c:v>
                </c:pt>
              </c:numCache>
            </c:numRef>
          </c:val>
          <c:extLst>
            <c:ext xmlns:c16="http://schemas.microsoft.com/office/drawing/2014/chart" uri="{C3380CC4-5D6E-409C-BE32-E72D297353CC}">
              <c16:uniqueId val="{00000000-667C-C241-B7D8-831A802F7BB6}"/>
            </c:ext>
          </c:extLst>
        </c:ser>
        <c:ser>
          <c:idx val="1"/>
          <c:order val="1"/>
          <c:tx>
            <c:strRef>
              <c:f>Sheet1!$C$1</c:f>
              <c:strCache>
                <c:ptCount val="1"/>
                <c:pt idx="0">
                  <c:v>Ours, return to base</c:v>
                </c:pt>
              </c:strCache>
            </c:strRef>
          </c:tx>
          <c:spPr>
            <a:solidFill>
              <a:srgbClr val="EE8C96"/>
            </a:solidFill>
            <a:effectLst/>
          </c:spPr>
          <c:invertIfNegative val="0"/>
          <c:dLbls>
            <c:numFmt formatCode="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Mixed</c:v>
                </c:pt>
                <c:pt idx="1">
                  <c:v>Patterns</c:v>
                </c:pt>
                <c:pt idx="2">
                  <c:v>Rush hour</c:v>
                </c:pt>
                <c:pt idx="3">
                  <c:v>Large city</c:v>
                </c:pt>
                <c:pt idx="4">
                  <c:v>Overloaded</c:v>
                </c:pt>
              </c:strCache>
            </c:strRef>
          </c:cat>
          <c:val>
            <c:numRef>
              <c:f>Sheet1!$C$2:$C$6</c:f>
              <c:numCache>
                <c:formatCode>General</c:formatCode>
                <c:ptCount val="5"/>
                <c:pt idx="0">
                  <c:v>18.579999999999998</c:v>
                </c:pt>
                <c:pt idx="1">
                  <c:v>22.05</c:v>
                </c:pt>
                <c:pt idx="2">
                  <c:v>25.64</c:v>
                </c:pt>
                <c:pt idx="3">
                  <c:v>19.98</c:v>
                </c:pt>
                <c:pt idx="4">
                  <c:v>24.02</c:v>
                </c:pt>
              </c:numCache>
            </c:numRef>
          </c:val>
          <c:extLst>
            <c:ext xmlns:c16="http://schemas.microsoft.com/office/drawing/2014/chart" uri="{C3380CC4-5D6E-409C-BE32-E72D297353CC}">
              <c16:uniqueId val="{00000001-667C-C241-B7D8-831A802F7BB6}"/>
            </c:ext>
          </c:extLst>
        </c:ser>
        <c:ser>
          <c:idx val="2"/>
          <c:order val="2"/>
          <c:tx>
            <c:strRef>
              <c:f>Sheet1!$D$1</c:f>
              <c:strCache>
                <c:ptCount val="1"/>
                <c:pt idx="0">
                  <c:v>Ours, standby</c:v>
                </c:pt>
              </c:strCache>
            </c:strRef>
          </c:tx>
          <c:spPr>
            <a:solidFill>
              <a:srgbClr val="D62839"/>
            </a:solidFill>
            <a:effectLst/>
          </c:spPr>
          <c:invertIfNegative val="0"/>
          <c:dLbls>
            <c:numFmt formatCode="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Mixed</c:v>
                </c:pt>
                <c:pt idx="1">
                  <c:v>Patterns</c:v>
                </c:pt>
                <c:pt idx="2">
                  <c:v>Rush hour</c:v>
                </c:pt>
                <c:pt idx="3">
                  <c:v>Large city</c:v>
                </c:pt>
                <c:pt idx="4">
                  <c:v>Overloaded</c:v>
                </c:pt>
              </c:strCache>
            </c:strRef>
          </c:cat>
          <c:val>
            <c:numRef>
              <c:f>Sheet1!$D$2:$D$6</c:f>
              <c:numCache>
                <c:formatCode>General</c:formatCode>
                <c:ptCount val="5"/>
                <c:pt idx="0">
                  <c:v>15.83</c:v>
                </c:pt>
                <c:pt idx="1">
                  <c:v>17.22</c:v>
                </c:pt>
                <c:pt idx="2">
                  <c:v>23.97</c:v>
                </c:pt>
                <c:pt idx="3">
                  <c:v>14.44</c:v>
                </c:pt>
                <c:pt idx="4">
                  <c:v>21.72</c:v>
                </c:pt>
              </c:numCache>
            </c:numRef>
          </c:val>
          <c:extLst>
            <c:ext xmlns:c16="http://schemas.microsoft.com/office/drawing/2014/chart" uri="{C3380CC4-5D6E-409C-BE32-E72D297353CC}">
              <c16:uniqueId val="{00000002-667C-C241-B7D8-831A802F7BB6}"/>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1E5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chemeClr val="accent6"/>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lang="en-CA" sz="1400" b="0" i="0" u="none" strike="noStrike">
                <a:solidFill>
                  <a:schemeClr val="tx1"/>
                </a:solidFill>
                <a:latin typeface="+mn-lt"/>
              </a:rPr>
              <a:t>Total delay vs the hindsight optimum</a:t>
            </a:r>
          </a:p>
        </c:rich>
      </c:tx>
      <c:overlay val="0"/>
    </c:title>
    <c:autoTitleDeleted val="0"/>
    <c:plotArea>
      <c:layout/>
      <c:barChart>
        <c:barDir val="col"/>
        <c:grouping val="clustered"/>
        <c:varyColors val="0"/>
        <c:ser>
          <c:idx val="0"/>
          <c:order val="0"/>
          <c:tx>
            <c:strRef>
              <c:f>Sheet1!$B$1</c:f>
              <c:strCache>
                <c:ptCount val="1"/>
                <c:pt idx="0">
                  <c:v>Greedy</c:v>
                </c:pt>
              </c:strCache>
            </c:strRef>
          </c:tx>
          <c:spPr>
            <a:solidFill>
              <a:srgbClr val="6B7588"/>
            </a:solidFill>
            <a:effectLst/>
          </c:spPr>
          <c:invertIfNegative val="0"/>
          <c:dLbls>
            <c:numFmt formatCode="\+0.0%;\-0.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Mixed (150 days)</c:v>
                </c:pt>
                <c:pt idx="1">
                  <c:v>Patterns (40)</c:v>
                </c:pt>
                <c:pt idx="2">
                  <c:v>Rush hour (40)</c:v>
                </c:pt>
              </c:strCache>
            </c:strRef>
          </c:cat>
          <c:val>
            <c:numRef>
              <c:f>Sheet1!$B$2:$B$4</c:f>
              <c:numCache>
                <c:formatCode>General</c:formatCode>
                <c:ptCount val="3"/>
                <c:pt idx="0">
                  <c:v>4.1700000000000001E-2</c:v>
                </c:pt>
                <c:pt idx="1">
                  <c:v>4.3999999999999997E-2</c:v>
                </c:pt>
                <c:pt idx="2">
                  <c:v>0.1918</c:v>
                </c:pt>
              </c:numCache>
            </c:numRef>
          </c:val>
          <c:extLst>
            <c:ext xmlns:c16="http://schemas.microsoft.com/office/drawing/2014/chart" uri="{C3380CC4-5D6E-409C-BE32-E72D297353CC}">
              <c16:uniqueId val="{00000000-B5E2-D242-95D0-AF6F9AB3134B}"/>
            </c:ext>
          </c:extLst>
        </c:ser>
        <c:ser>
          <c:idx val="1"/>
          <c:order val="1"/>
          <c:tx>
            <c:strRef>
              <c:f>Sheet1!$C$1</c:f>
              <c:strCache>
                <c:ptCount val="1"/>
                <c:pt idx="0">
                  <c:v>Ours, return to base</c:v>
                </c:pt>
              </c:strCache>
            </c:strRef>
          </c:tx>
          <c:spPr>
            <a:solidFill>
              <a:srgbClr val="EE8C96"/>
            </a:solidFill>
            <a:effectLst/>
          </c:spPr>
          <c:invertIfNegative val="0"/>
          <c:dLbls>
            <c:numFmt formatCode="\+0.0%;\-0.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Mixed (150 days)</c:v>
                </c:pt>
                <c:pt idx="1">
                  <c:v>Patterns (40)</c:v>
                </c:pt>
                <c:pt idx="2">
                  <c:v>Rush hour (40)</c:v>
                </c:pt>
              </c:strCache>
            </c:strRef>
          </c:cat>
          <c:val>
            <c:numRef>
              <c:f>Sheet1!$C$2:$C$4</c:f>
              <c:numCache>
                <c:formatCode>General</c:formatCode>
                <c:ptCount val="3"/>
                <c:pt idx="0">
                  <c:v>5.7999999999999996E-3</c:v>
                </c:pt>
                <c:pt idx="1">
                  <c:v>1.3599999999999999E-2</c:v>
                </c:pt>
                <c:pt idx="2">
                  <c:v>2.1399999999999999E-2</c:v>
                </c:pt>
              </c:numCache>
            </c:numRef>
          </c:val>
          <c:extLst>
            <c:ext xmlns:c16="http://schemas.microsoft.com/office/drawing/2014/chart" uri="{C3380CC4-5D6E-409C-BE32-E72D297353CC}">
              <c16:uniqueId val="{00000001-B5E2-D242-95D0-AF6F9AB3134B}"/>
            </c:ext>
          </c:extLst>
        </c:ser>
        <c:ser>
          <c:idx val="2"/>
          <c:order val="2"/>
          <c:tx>
            <c:strRef>
              <c:f>Sheet1!$D$1</c:f>
              <c:strCache>
                <c:ptCount val="1"/>
                <c:pt idx="0">
                  <c:v>Ours, standby</c:v>
                </c:pt>
              </c:strCache>
            </c:strRef>
          </c:tx>
          <c:spPr>
            <a:solidFill>
              <a:srgbClr val="D62839"/>
            </a:solidFill>
            <a:effectLst/>
          </c:spPr>
          <c:invertIfNegative val="0"/>
          <c:dLbls>
            <c:numFmt formatCode="\+0.0%;\-0.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Mixed (150 days)</c:v>
                </c:pt>
                <c:pt idx="1">
                  <c:v>Patterns (40)</c:v>
                </c:pt>
                <c:pt idx="2">
                  <c:v>Rush hour (40)</c:v>
                </c:pt>
              </c:strCache>
            </c:strRef>
          </c:cat>
          <c:val>
            <c:numRef>
              <c:f>Sheet1!$D$2:$D$4</c:f>
              <c:numCache>
                <c:formatCode>General</c:formatCode>
                <c:ptCount val="3"/>
                <c:pt idx="0">
                  <c:v>-0.1085</c:v>
                </c:pt>
                <c:pt idx="1">
                  <c:v>-0.18609999999999999</c:v>
                </c:pt>
                <c:pt idx="2">
                  <c:v>-6.8199999999999997E-2</c:v>
                </c:pt>
              </c:numCache>
            </c:numRef>
          </c:val>
          <c:extLst>
            <c:ext xmlns:c16="http://schemas.microsoft.com/office/drawing/2014/chart" uri="{C3380CC4-5D6E-409C-BE32-E72D297353CC}">
              <c16:uniqueId val="{00000002-B5E2-D242-95D0-AF6F9AB3134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max val="0.3"/>
          <c:min val="-0.3"/>
        </c:scaling>
        <c:delete val="0"/>
        <c:axPos val="l"/>
        <c:majorGridlines>
          <c:spPr>
            <a:ln w="6350" cap="flat">
              <a:solidFill>
                <a:srgbClr val="E1E5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chemeClr val="accent6"/>
                </a:solidFill>
                <a:latin typeface="+mn-lt"/>
              </a:defRPr>
            </a:pPr>
            <a:endParaRPr lang="en-US"/>
          </a:p>
        </c:txPr>
        <c:crossAx val="2094734554"/>
        <c:crosses val="autoZero"/>
        <c:crossBetween val="between"/>
        <c:majorUnit val="0.1"/>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chemeClr val="tx1"/>
                </a:solidFill>
                <a:latin typeface="+mn-lt"/>
              </a:defRPr>
            </a:pPr>
            <a:r>
              <a:rPr lang="en-CA" sz="1400" b="0" i="0" u="none" strike="noStrike">
                <a:solidFill>
                  <a:schemeClr val="tx1"/>
                </a:solidFill>
                <a:latin typeface="+mn-lt"/>
              </a:rPr>
              <a:t>Change in total delay, each idea at its best setting</a:t>
            </a:r>
          </a:p>
        </c:rich>
      </c:tx>
      <c:overlay val="0"/>
    </c:title>
    <c:autoTitleDeleted val="0"/>
    <c:plotArea>
      <c:layout/>
      <c:barChart>
        <c:barDir val="bar"/>
        <c:grouping val="clustered"/>
        <c:varyColors val="0"/>
        <c:ser>
          <c:idx val="0"/>
          <c:order val="0"/>
          <c:tx>
            <c:strRef>
              <c:f>Sheet1!$B$1</c:f>
              <c:strCache>
                <c:ptCount val="1"/>
                <c:pt idx="0">
                  <c:v>Change in delay</c:v>
                </c:pt>
              </c:strCache>
            </c:strRef>
          </c:tx>
          <c:spPr>
            <a:solidFill>
              <a:srgbClr val="6B7588"/>
            </a:solidFill>
            <a:effectLst/>
          </c:spPr>
          <c:invertIfNegative val="0"/>
          <c:dLbls>
            <c:numFmt formatCode="\+0.0%;\-0.0%;0.0%" sourceLinked="0"/>
            <c:spPr>
              <a:noFill/>
              <a:ln>
                <a:noFill/>
              </a:ln>
              <a:effectLst/>
            </c:spPr>
            <c:txPr>
              <a:bodyPr/>
              <a:lstStyle/>
              <a:p>
                <a:pPr>
                  <a:defRPr sz="10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Re-plan every minute</c:v>
                </c:pt>
                <c:pt idx="1">
                  <c:v>Smooth the demand map</c:v>
                </c:pt>
                <c:pt idx="2">
                  <c:v>Penalise long jobs (look-ahead)</c:v>
                </c:pt>
                <c:pt idx="3">
                  <c:v>Favour recent calls</c:v>
                </c:pt>
                <c:pt idx="4">
                  <c:v>Move to standby eagerly (+11% driving)</c:v>
                </c:pt>
                <c:pt idx="5">
                  <c:v>Hold calls to batch them (2 min)</c:v>
                </c:pt>
                <c:pt idx="6">
                  <c:v>Keep a backup vehicle near base</c:v>
                </c:pt>
              </c:strCache>
            </c:strRef>
          </c:cat>
          <c:val>
            <c:numRef>
              <c:f>Sheet1!$B$2:$B$8</c:f>
              <c:numCache>
                <c:formatCode>General</c:formatCode>
                <c:ptCount val="7"/>
                <c:pt idx="0">
                  <c:v>2.0000000000000002E-5</c:v>
                </c:pt>
                <c:pt idx="1">
                  <c:v>-1.47E-3</c:v>
                </c:pt>
                <c:pt idx="2">
                  <c:v>-3.0100000000000001E-3</c:v>
                </c:pt>
                <c:pt idx="3">
                  <c:v>2.3E-3</c:v>
                </c:pt>
                <c:pt idx="4">
                  <c:v>-5.1700000000000001E-3</c:v>
                </c:pt>
                <c:pt idx="5">
                  <c:v>6.3899999999999998E-3</c:v>
                </c:pt>
                <c:pt idx="6">
                  <c:v>2.4899999999999999E-2</c:v>
                </c:pt>
              </c:numCache>
            </c:numRef>
          </c:val>
          <c:extLst>
            <c:ext xmlns:c16="http://schemas.microsoft.com/office/drawing/2014/chart" uri="{C3380CC4-5D6E-409C-BE32-E72D297353CC}">
              <c16:uniqueId val="{00000000-8B7B-A049-B97D-506FDF70120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chemeClr val="tx1"/>
                </a:solidFill>
                <a:latin typeface="+mn-lt"/>
              </a:defRPr>
            </a:pPr>
            <a:endParaRPr lang="en-US"/>
          </a:p>
        </c:txPr>
        <c:crossAx val="2094734552"/>
        <c:crosses val="autoZero"/>
        <c:auto val="1"/>
        <c:lblAlgn val="ctr"/>
        <c:lblOffset val="100"/>
        <c:noMultiLvlLbl val="1"/>
      </c:catAx>
      <c:valAx>
        <c:axId val="2094734552"/>
        <c:scaling>
          <c:orientation val="minMax"/>
          <c:max val="3.5000000000000003E-2"/>
          <c:min val="-1.4999999999999999E-2"/>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3148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Our task: dispatch a fleet of emergency vehicles on a grid city, as the calls come in. In the next 12 minutes: the problem, three ways to solve it (a greedy baseline, our online dispatcher, and a CP-SAT solver that sees the future), how they compare, and how we checked it all.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input is the brief's format: the number of vehicles, then one line per call: the time it comes in, blocks north or south, blocks east or west, and how long the job takes once a vehicle is there. Every block takes one minute, and a vehicle drives the north/south leg first, so vehicle 0 here goes 15 minutes north, then 20 west. We score a schedule by total response delay: for every call, the time from the call coming in to a vehicle arriving on scene, summed over the 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A few rules shape everything that follows, and we confirmed them with the organizers. Calls are handled as they come: no decision may use a call before its time, so this is an online problem. Once a vehicle is driving to a job it's committed, but calls still waiting in a queue can be moved. Idle vehicles may wait anywhere, not only at base. No call comes in after midnight, and that's our only end-of-day signal: from midnight each vehicle finishes its calls, then goes home. We never look at where the input file ends to decide the day is over.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We built three solvers. Greedy is the baseline: take calls in order, give each to the vehicle that can get there soonest, and never revisit that choice; idle vehicles go home. Ours sees exactly what greedy sees, only calls that have come in, but every time something happens it re-plans every waiting call across every vehicle, and it parks idle vehicles near where calls have been coming from. CP-SAT is different in kind: it reads the whole day in advance and computes the optimal routes. That breaks the as-they-come rule, so it isn't a submission. It's our yardstick for how much better anyone could 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Here's the difference in one picture. One vehicle is busy at base until 09:30. Meanwhile a far call with a 30-minute job comes in, then two short calls close by. Greedy assigned them in the order they came, so the two short calls wait behind the long one: 183 minutes of total delay. Ours re-plans the queue when the vehicle frees up, takes the two short calls first, then the far one: 99 minutes. Same information, 46% less delay. (Both numbers are from running dispatcher.py on this input.)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Our dispatcher is an event loop. When a call comes in or a vehicle frees up, we re-plan the whole queue: which vehicle takes which waiting call, and in what order, to minimise total delay. Each vehicle leaves for the first call in its queue, and once it's driving it's committed. Idle vehicles go to standby spots; after midnight they go home instead. How we plan depends on the queue: up to 7 waiting calls we try every split and order; up to 12 an exact dynamic program over subsets gives the same answer much faster; beyond that, cheapest insertion followed by local search. Ties go to the plan that leaves vehicles better placed for the next call.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Where should an idle vehicle wait? We put vehicles at the k-median of the calls seen so far: the spots that minimise the drive to past calls, with base counted as three calls so a single early call doesn't drag a vehicle across town. A vehicle only moves if that improves average coverage by at least a minute, which avoids driving around for nothing. On this sample day the average drive to a call drops from about 20 minutes to about 10. Across our 1,980 simulated days, standby beat return-to-base on 1,600 and lost on 215.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CP-SAT is the constraint solver in Google OR-Tools. We give it the whole day: each vehicle's route is a circuit through its calls, with exact timing, including waiting for a call to come in and the vehicle drifting back toward base between jobs. On small days it proves the answer optimal; on larger days it gives its best schedule and a lower bound. We checked it against brute force: on 40 small random days it matched trying every possible schedule every time, and greedy was not optimal on 19 of those 40.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Now the results. We generated 1,980 days across five suites: mixed days, specific demand patterns, rush hours, a large city with about 8 vehicles, and overloaded days. Average delay per call: greedy 22.6 minutes, ours with return to base 20.7, ours with standby 17.3, which is 23.5% below greedy. Ours was better on 1,709 days and worse on 142. Re-planning alone, with greedy's return-to-base rule, is worth 8%; standby parking is worth the rest.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How much is left on the table? On 230 sampled days we compared with CP-SAT's optimum, under its rules: return to base. Greedy is 4 to 19% above it. Our dispatcher under the same rules is 0.6 to 2.1% above, without seeing the future. With standby it's 7 to 19% below that optimum, because parking near demand is worth more than perfect foresight. And if we told our dispatcher the city's true call pattern, it would gain only about 6% more (3 to 9% by suite), so demand estimation is close to its ceiling. If asked: on hindsight_check.py's tiny random days (1 to 25 calls) the per-day average gap is about 4%, because a few minutes on a 30-minute day is a big percentage.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We also tried ideas that didn't make it, each measured on 1,920 simulated days at its best setting. Holding calls a few minutes to batch them always hurt, more the longer we held them. Keeping a backup vehicle near base hurt. Weighting recent calls, penalising long jobs, smoothing the demand map and re-planning every minute were all within half a percent. Moving to standby more eagerly saved half a percent of delay but cost 11% more driving, so we kept the stricter threshold. The backlog planner is the one that made the cut.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How do we know the schedules are right? run_checks.py runs eight checks, all passing. An independent validator replays every schedule and recomputes the delay. Tricky cases have hand-computed totals, and bad input gets a clear error naming the line. The no-peeking test cuts every call from some time T on and checks that nothing the dispatcher did before T changes. Our no-replan mode reproduces the hindsight greedy exactly, and base mode never beats CP-SAT's proven optimum. On the right is the web replay: standby and return-to-base side by side, minute by minute. Good moment for a 30-second demo if time allows.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Three takeaways. Re-planning the queue beats committing early. Waiting near demand beats going home. And we're within about 2% of perfect hindsight under the same rules, without seeing the future. Thanks, happy to take questions or show the replay.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Totals from running each solver on inputs/*.txt. single_vehicle shows re-planning's effect most: one vehicle, so the queue order is everything (615 vs 462). typical_day shows standby beating even the hindsight optimum under return-to-base rules.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120640" cy="173736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3063240"/>
            <a:ext cx="5120640" cy="1097280"/>
          </a:xfrm>
          <a:prstGeom prst="rect">
            <a:avLst/>
          </a:prstGeom>
          <a:noFill/>
          <a:ln/>
        </p:spPr>
        <p:txBody>
          <a:bodyPr wrap="square" rtlCol="0"/>
          <a:lstStyle>
            <a:lvl1pPr marL="0" indent="0">
              <a:buNone/>
              <a:defRPr lang="en-US" sz="1600" dirty="0">
                <a:solidFill>
                  <a:schemeClr val="bg2"/>
                </a:solidFill>
              </a:defRPr>
            </a:lvl1pPr>
          </a:lstStyle>
          <a:p>
            <a:pPr marL="0" indent="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accent6"/>
                </a:solidFill>
              </a:rPr>
              <a:t>UVEC 2026 · Emergency dispatch</a:t>
            </a:r>
            <a:endParaRPr lang="en-US" sz="1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chemeClr val="bg2"/>
                </a:solidFill>
              </a:rPr>
              <a:t>UVEC 2026 · Emergency dispatch</a:t>
            </a:r>
            <a:endParaRPr lang="en-US" sz="10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5120640" cy="1737360"/>
          </a:xfrm>
          <a:prstGeom prst="rect">
            <a:avLst/>
          </a:prstGeom>
          <a:noFill/>
          <a:ln/>
        </p:spPr>
        <p:txBody>
          <a:bodyPr wrap="square" lIns="0" tIns="0" rIns="0" bIns="0" rtlCol="0" anchor="b"/>
          <a:lstStyle/>
          <a:p>
            <a:pPr marL="0" indent="0" algn="l">
              <a:buNone/>
            </a:pPr>
            <a:r>
              <a:rPr lang="en-US" sz="3600" b="1" dirty="0">
                <a:solidFill>
                  <a:schemeClr val="bg1"/>
                </a:solidFill>
              </a:rPr>
              <a:t>Dispatching emergency vehicles as calls come in</a:t>
            </a:r>
            <a:endParaRPr lang="en-US" sz="3600" dirty="0"/>
          </a:p>
        </p:txBody>
      </p:sp>
      <p:sp>
        <p:nvSpPr>
          <p:cNvPr id="3" name="Text 0"/>
          <p:cNvSpPr>
            <a:spLocks noGrp="1"/>
          </p:cNvSpPr>
          <p:nvPr>
            <p:ph type="body" idx="101" hasCustomPrompt="1"/>
          </p:nvPr>
        </p:nvSpPr>
        <p:spPr>
          <a:xfrm>
            <a:off x="548640" y="3063240"/>
            <a:ext cx="5120640" cy="1097280"/>
          </a:xfrm>
          <a:prstGeom prst="rect">
            <a:avLst/>
          </a:prstGeom>
          <a:noFill/>
          <a:ln/>
        </p:spPr>
        <p:txBody>
          <a:bodyPr wrap="square" lIns="0" tIns="0" rIns="0" bIns="0" rtlCol="0" anchor="t"/>
          <a:lstStyle/>
          <a:p>
            <a:pPr marL="0" indent="0">
              <a:spcAft>
                <a:spcPts val="800"/>
              </a:spcAft>
              <a:buNone/>
            </a:pPr>
            <a:r>
              <a:rPr lang="en-US" sz="1600" dirty="0">
                <a:solidFill>
                  <a:schemeClr val="bg2"/>
                </a:solidFill>
              </a:rPr>
              <a:t>An online dispatcher, a greedy baseline and an annoyingly complex mid range decision making algorithm</a:t>
            </a:r>
            <a:endParaRPr lang="en-US" sz="1600" dirty="0"/>
          </a:p>
          <a:p>
            <a:pPr marL="0" indent="0">
              <a:spcAft>
                <a:spcPts val="800"/>
              </a:spcAft>
              <a:buNone/>
            </a:pPr>
            <a:r>
              <a:rPr lang="en-US" sz="1400" dirty="0">
                <a:solidFill>
                  <a:schemeClr val="bg2"/>
                </a:solidFill>
              </a:rPr>
              <a:t>UVEC 2026 Programming Stream · October 25, 2026</a:t>
            </a:r>
            <a:endParaRPr lang="en-US" sz="1600" dirty="0"/>
          </a:p>
        </p:txBody>
      </p:sp>
      <p:sp>
        <p:nvSpPr>
          <p:cNvPr id="4" name="title map grid"/>
          <p:cNvSpPr/>
          <p:nvPr/>
        </p:nvSpPr>
        <p:spPr>
          <a:xfrm>
            <a:off x="6172200" y="914400"/>
            <a:ext cx="0" cy="2779776"/>
          </a:xfrm>
          <a:prstGeom prst="line">
            <a:avLst/>
          </a:prstGeom>
          <a:noFill/>
          <a:ln w="6350">
            <a:solidFill>
              <a:srgbClr val="2C3E5E"/>
            </a:solidFill>
            <a:prstDash val="solid"/>
          </a:ln>
        </p:spPr>
        <p:txBody>
          <a:bodyPr/>
          <a:lstStyle/>
          <a:p>
            <a:endParaRPr lang="en-US"/>
          </a:p>
        </p:txBody>
      </p:sp>
      <p:sp>
        <p:nvSpPr>
          <p:cNvPr id="5" name="title map grid"/>
          <p:cNvSpPr/>
          <p:nvPr/>
        </p:nvSpPr>
        <p:spPr>
          <a:xfrm>
            <a:off x="6345936" y="914400"/>
            <a:ext cx="0" cy="2779776"/>
          </a:xfrm>
          <a:prstGeom prst="line">
            <a:avLst/>
          </a:prstGeom>
          <a:noFill/>
          <a:ln w="6350">
            <a:solidFill>
              <a:srgbClr val="2C3E5E"/>
            </a:solidFill>
            <a:prstDash val="solid"/>
          </a:ln>
        </p:spPr>
        <p:txBody>
          <a:bodyPr/>
          <a:lstStyle/>
          <a:p>
            <a:endParaRPr lang="en-US"/>
          </a:p>
        </p:txBody>
      </p:sp>
      <p:sp>
        <p:nvSpPr>
          <p:cNvPr id="6" name="title map grid"/>
          <p:cNvSpPr/>
          <p:nvPr/>
        </p:nvSpPr>
        <p:spPr>
          <a:xfrm>
            <a:off x="6519672" y="914400"/>
            <a:ext cx="0" cy="2779776"/>
          </a:xfrm>
          <a:prstGeom prst="line">
            <a:avLst/>
          </a:prstGeom>
          <a:noFill/>
          <a:ln w="6350">
            <a:solidFill>
              <a:srgbClr val="2C3E5E"/>
            </a:solidFill>
            <a:prstDash val="solid"/>
          </a:ln>
        </p:spPr>
        <p:txBody>
          <a:bodyPr/>
          <a:lstStyle/>
          <a:p>
            <a:endParaRPr lang="en-US"/>
          </a:p>
        </p:txBody>
      </p:sp>
      <p:sp>
        <p:nvSpPr>
          <p:cNvPr id="7" name="title map grid"/>
          <p:cNvSpPr/>
          <p:nvPr/>
        </p:nvSpPr>
        <p:spPr>
          <a:xfrm>
            <a:off x="6693408" y="914400"/>
            <a:ext cx="0" cy="2779776"/>
          </a:xfrm>
          <a:prstGeom prst="line">
            <a:avLst/>
          </a:prstGeom>
          <a:noFill/>
          <a:ln w="6350">
            <a:solidFill>
              <a:srgbClr val="2C3E5E"/>
            </a:solidFill>
            <a:prstDash val="solid"/>
          </a:ln>
        </p:spPr>
        <p:txBody>
          <a:bodyPr/>
          <a:lstStyle/>
          <a:p>
            <a:endParaRPr lang="en-US"/>
          </a:p>
        </p:txBody>
      </p:sp>
      <p:sp>
        <p:nvSpPr>
          <p:cNvPr id="8" name="title map grid"/>
          <p:cNvSpPr/>
          <p:nvPr/>
        </p:nvSpPr>
        <p:spPr>
          <a:xfrm>
            <a:off x="6867144" y="914400"/>
            <a:ext cx="0" cy="2779776"/>
          </a:xfrm>
          <a:prstGeom prst="line">
            <a:avLst/>
          </a:prstGeom>
          <a:noFill/>
          <a:ln w="6350">
            <a:solidFill>
              <a:srgbClr val="2C3E5E"/>
            </a:solidFill>
            <a:prstDash val="solid"/>
          </a:ln>
        </p:spPr>
        <p:txBody>
          <a:bodyPr/>
          <a:lstStyle/>
          <a:p>
            <a:endParaRPr lang="en-US"/>
          </a:p>
        </p:txBody>
      </p:sp>
      <p:sp>
        <p:nvSpPr>
          <p:cNvPr id="9" name="title map grid"/>
          <p:cNvSpPr/>
          <p:nvPr/>
        </p:nvSpPr>
        <p:spPr>
          <a:xfrm>
            <a:off x="7040880" y="914400"/>
            <a:ext cx="0" cy="2779776"/>
          </a:xfrm>
          <a:prstGeom prst="line">
            <a:avLst/>
          </a:prstGeom>
          <a:noFill/>
          <a:ln w="6350">
            <a:solidFill>
              <a:srgbClr val="2C3E5E"/>
            </a:solidFill>
            <a:prstDash val="solid"/>
          </a:ln>
        </p:spPr>
        <p:txBody>
          <a:bodyPr/>
          <a:lstStyle/>
          <a:p>
            <a:endParaRPr lang="en-US"/>
          </a:p>
        </p:txBody>
      </p:sp>
      <p:sp>
        <p:nvSpPr>
          <p:cNvPr id="10" name="title map grid"/>
          <p:cNvSpPr/>
          <p:nvPr/>
        </p:nvSpPr>
        <p:spPr>
          <a:xfrm>
            <a:off x="7214616" y="914400"/>
            <a:ext cx="0" cy="2779776"/>
          </a:xfrm>
          <a:prstGeom prst="line">
            <a:avLst/>
          </a:prstGeom>
          <a:noFill/>
          <a:ln w="6350">
            <a:solidFill>
              <a:srgbClr val="2C3E5E"/>
            </a:solidFill>
            <a:prstDash val="solid"/>
          </a:ln>
        </p:spPr>
        <p:txBody>
          <a:bodyPr/>
          <a:lstStyle/>
          <a:p>
            <a:endParaRPr lang="en-US"/>
          </a:p>
        </p:txBody>
      </p:sp>
      <p:sp>
        <p:nvSpPr>
          <p:cNvPr id="11" name="title map grid"/>
          <p:cNvSpPr/>
          <p:nvPr/>
        </p:nvSpPr>
        <p:spPr>
          <a:xfrm>
            <a:off x="7388352" y="914400"/>
            <a:ext cx="0" cy="2779776"/>
          </a:xfrm>
          <a:prstGeom prst="line">
            <a:avLst/>
          </a:prstGeom>
          <a:noFill/>
          <a:ln w="12700">
            <a:solidFill>
              <a:srgbClr val="3D5278"/>
            </a:solidFill>
            <a:prstDash val="solid"/>
          </a:ln>
        </p:spPr>
        <p:txBody>
          <a:bodyPr/>
          <a:lstStyle/>
          <a:p>
            <a:endParaRPr lang="en-US"/>
          </a:p>
        </p:txBody>
      </p:sp>
      <p:sp>
        <p:nvSpPr>
          <p:cNvPr id="12" name="title map grid"/>
          <p:cNvSpPr/>
          <p:nvPr/>
        </p:nvSpPr>
        <p:spPr>
          <a:xfrm>
            <a:off x="7562088" y="914400"/>
            <a:ext cx="0" cy="2779776"/>
          </a:xfrm>
          <a:prstGeom prst="line">
            <a:avLst/>
          </a:prstGeom>
          <a:noFill/>
          <a:ln w="6350">
            <a:solidFill>
              <a:srgbClr val="2C3E5E"/>
            </a:solidFill>
            <a:prstDash val="solid"/>
          </a:ln>
        </p:spPr>
        <p:txBody>
          <a:bodyPr/>
          <a:lstStyle/>
          <a:p>
            <a:endParaRPr lang="en-US"/>
          </a:p>
        </p:txBody>
      </p:sp>
      <p:sp>
        <p:nvSpPr>
          <p:cNvPr id="13" name="title map grid"/>
          <p:cNvSpPr/>
          <p:nvPr/>
        </p:nvSpPr>
        <p:spPr>
          <a:xfrm>
            <a:off x="7735824" y="914400"/>
            <a:ext cx="0" cy="2779776"/>
          </a:xfrm>
          <a:prstGeom prst="line">
            <a:avLst/>
          </a:prstGeom>
          <a:noFill/>
          <a:ln w="6350">
            <a:solidFill>
              <a:srgbClr val="2C3E5E"/>
            </a:solidFill>
            <a:prstDash val="solid"/>
          </a:ln>
        </p:spPr>
        <p:txBody>
          <a:bodyPr/>
          <a:lstStyle/>
          <a:p>
            <a:endParaRPr lang="en-US"/>
          </a:p>
        </p:txBody>
      </p:sp>
      <p:sp>
        <p:nvSpPr>
          <p:cNvPr id="14" name="title map grid"/>
          <p:cNvSpPr/>
          <p:nvPr/>
        </p:nvSpPr>
        <p:spPr>
          <a:xfrm>
            <a:off x="7909560" y="914400"/>
            <a:ext cx="0" cy="2779776"/>
          </a:xfrm>
          <a:prstGeom prst="line">
            <a:avLst/>
          </a:prstGeom>
          <a:noFill/>
          <a:ln w="6350">
            <a:solidFill>
              <a:srgbClr val="2C3E5E"/>
            </a:solidFill>
            <a:prstDash val="solid"/>
          </a:ln>
        </p:spPr>
        <p:txBody>
          <a:bodyPr/>
          <a:lstStyle/>
          <a:p>
            <a:endParaRPr lang="en-US"/>
          </a:p>
        </p:txBody>
      </p:sp>
      <p:sp>
        <p:nvSpPr>
          <p:cNvPr id="15" name="title map grid"/>
          <p:cNvSpPr/>
          <p:nvPr/>
        </p:nvSpPr>
        <p:spPr>
          <a:xfrm>
            <a:off x="8083296" y="914400"/>
            <a:ext cx="0" cy="2779776"/>
          </a:xfrm>
          <a:prstGeom prst="line">
            <a:avLst/>
          </a:prstGeom>
          <a:noFill/>
          <a:ln w="6350">
            <a:solidFill>
              <a:srgbClr val="2C3E5E"/>
            </a:solidFill>
            <a:prstDash val="solid"/>
          </a:ln>
        </p:spPr>
        <p:txBody>
          <a:bodyPr/>
          <a:lstStyle/>
          <a:p>
            <a:endParaRPr lang="en-US"/>
          </a:p>
        </p:txBody>
      </p:sp>
      <p:sp>
        <p:nvSpPr>
          <p:cNvPr id="16" name="title map grid"/>
          <p:cNvSpPr/>
          <p:nvPr/>
        </p:nvSpPr>
        <p:spPr>
          <a:xfrm>
            <a:off x="8257032" y="914400"/>
            <a:ext cx="0" cy="2779776"/>
          </a:xfrm>
          <a:prstGeom prst="line">
            <a:avLst/>
          </a:prstGeom>
          <a:noFill/>
          <a:ln w="6350">
            <a:solidFill>
              <a:srgbClr val="2C3E5E"/>
            </a:solidFill>
            <a:prstDash val="solid"/>
          </a:ln>
        </p:spPr>
        <p:txBody>
          <a:bodyPr/>
          <a:lstStyle/>
          <a:p>
            <a:endParaRPr lang="en-US"/>
          </a:p>
        </p:txBody>
      </p:sp>
      <p:sp>
        <p:nvSpPr>
          <p:cNvPr id="17" name="title map grid"/>
          <p:cNvSpPr/>
          <p:nvPr/>
        </p:nvSpPr>
        <p:spPr>
          <a:xfrm>
            <a:off x="8430768" y="914400"/>
            <a:ext cx="0" cy="2779776"/>
          </a:xfrm>
          <a:prstGeom prst="line">
            <a:avLst/>
          </a:prstGeom>
          <a:noFill/>
          <a:ln w="6350">
            <a:solidFill>
              <a:srgbClr val="2C3E5E"/>
            </a:solidFill>
            <a:prstDash val="solid"/>
          </a:ln>
        </p:spPr>
        <p:txBody>
          <a:bodyPr/>
          <a:lstStyle/>
          <a:p>
            <a:endParaRPr lang="en-US"/>
          </a:p>
        </p:txBody>
      </p:sp>
      <p:sp>
        <p:nvSpPr>
          <p:cNvPr id="18" name="title map grid"/>
          <p:cNvSpPr/>
          <p:nvPr/>
        </p:nvSpPr>
        <p:spPr>
          <a:xfrm>
            <a:off x="6172200" y="3694176"/>
            <a:ext cx="2258568" cy="0"/>
          </a:xfrm>
          <a:prstGeom prst="line">
            <a:avLst/>
          </a:prstGeom>
          <a:noFill/>
          <a:ln w="6350">
            <a:solidFill>
              <a:srgbClr val="2C3E5E"/>
            </a:solidFill>
            <a:prstDash val="solid"/>
          </a:ln>
        </p:spPr>
        <p:txBody>
          <a:bodyPr/>
          <a:lstStyle/>
          <a:p>
            <a:endParaRPr lang="en-US"/>
          </a:p>
        </p:txBody>
      </p:sp>
      <p:sp>
        <p:nvSpPr>
          <p:cNvPr id="19" name="title map grid"/>
          <p:cNvSpPr/>
          <p:nvPr/>
        </p:nvSpPr>
        <p:spPr>
          <a:xfrm>
            <a:off x="6172200" y="3520440"/>
            <a:ext cx="2258568" cy="0"/>
          </a:xfrm>
          <a:prstGeom prst="line">
            <a:avLst/>
          </a:prstGeom>
          <a:noFill/>
          <a:ln w="6350">
            <a:solidFill>
              <a:srgbClr val="2C3E5E"/>
            </a:solidFill>
            <a:prstDash val="solid"/>
          </a:ln>
        </p:spPr>
        <p:txBody>
          <a:bodyPr/>
          <a:lstStyle/>
          <a:p>
            <a:endParaRPr lang="en-US"/>
          </a:p>
        </p:txBody>
      </p:sp>
      <p:sp>
        <p:nvSpPr>
          <p:cNvPr id="20" name="title map grid"/>
          <p:cNvSpPr/>
          <p:nvPr/>
        </p:nvSpPr>
        <p:spPr>
          <a:xfrm>
            <a:off x="6172200" y="3346704"/>
            <a:ext cx="2258568" cy="0"/>
          </a:xfrm>
          <a:prstGeom prst="line">
            <a:avLst/>
          </a:prstGeom>
          <a:noFill/>
          <a:ln w="6350">
            <a:solidFill>
              <a:srgbClr val="2C3E5E"/>
            </a:solidFill>
            <a:prstDash val="solid"/>
          </a:ln>
        </p:spPr>
        <p:txBody>
          <a:bodyPr/>
          <a:lstStyle/>
          <a:p>
            <a:endParaRPr lang="en-US"/>
          </a:p>
        </p:txBody>
      </p:sp>
      <p:sp>
        <p:nvSpPr>
          <p:cNvPr id="21" name="title map grid"/>
          <p:cNvSpPr/>
          <p:nvPr/>
        </p:nvSpPr>
        <p:spPr>
          <a:xfrm>
            <a:off x="6172200" y="3172968"/>
            <a:ext cx="2258568" cy="0"/>
          </a:xfrm>
          <a:prstGeom prst="line">
            <a:avLst/>
          </a:prstGeom>
          <a:noFill/>
          <a:ln w="6350">
            <a:solidFill>
              <a:srgbClr val="2C3E5E"/>
            </a:solidFill>
            <a:prstDash val="solid"/>
          </a:ln>
        </p:spPr>
        <p:txBody>
          <a:bodyPr/>
          <a:lstStyle/>
          <a:p>
            <a:endParaRPr lang="en-US"/>
          </a:p>
        </p:txBody>
      </p:sp>
      <p:sp>
        <p:nvSpPr>
          <p:cNvPr id="22" name="title map grid"/>
          <p:cNvSpPr/>
          <p:nvPr/>
        </p:nvSpPr>
        <p:spPr>
          <a:xfrm>
            <a:off x="6172200" y="2999232"/>
            <a:ext cx="2258568" cy="0"/>
          </a:xfrm>
          <a:prstGeom prst="line">
            <a:avLst/>
          </a:prstGeom>
          <a:noFill/>
          <a:ln w="6350">
            <a:solidFill>
              <a:srgbClr val="2C3E5E"/>
            </a:solidFill>
            <a:prstDash val="solid"/>
          </a:ln>
        </p:spPr>
        <p:txBody>
          <a:bodyPr/>
          <a:lstStyle/>
          <a:p>
            <a:endParaRPr lang="en-US"/>
          </a:p>
        </p:txBody>
      </p:sp>
      <p:sp>
        <p:nvSpPr>
          <p:cNvPr id="23" name="title map grid"/>
          <p:cNvSpPr/>
          <p:nvPr/>
        </p:nvSpPr>
        <p:spPr>
          <a:xfrm>
            <a:off x="6172200" y="2825496"/>
            <a:ext cx="2258568" cy="0"/>
          </a:xfrm>
          <a:prstGeom prst="line">
            <a:avLst/>
          </a:prstGeom>
          <a:noFill/>
          <a:ln w="6350">
            <a:solidFill>
              <a:srgbClr val="2C3E5E"/>
            </a:solidFill>
            <a:prstDash val="solid"/>
          </a:ln>
        </p:spPr>
        <p:txBody>
          <a:bodyPr/>
          <a:lstStyle/>
          <a:p>
            <a:endParaRPr lang="en-US"/>
          </a:p>
        </p:txBody>
      </p:sp>
      <p:sp>
        <p:nvSpPr>
          <p:cNvPr id="24" name="title map grid"/>
          <p:cNvSpPr/>
          <p:nvPr/>
        </p:nvSpPr>
        <p:spPr>
          <a:xfrm>
            <a:off x="6172200" y="2651760"/>
            <a:ext cx="2258568" cy="0"/>
          </a:xfrm>
          <a:prstGeom prst="line">
            <a:avLst/>
          </a:prstGeom>
          <a:noFill/>
          <a:ln w="12700">
            <a:solidFill>
              <a:srgbClr val="3D5278"/>
            </a:solidFill>
            <a:prstDash val="solid"/>
          </a:ln>
        </p:spPr>
        <p:txBody>
          <a:bodyPr/>
          <a:lstStyle/>
          <a:p>
            <a:endParaRPr lang="en-US"/>
          </a:p>
        </p:txBody>
      </p:sp>
      <p:sp>
        <p:nvSpPr>
          <p:cNvPr id="25" name="title map grid"/>
          <p:cNvSpPr/>
          <p:nvPr/>
        </p:nvSpPr>
        <p:spPr>
          <a:xfrm>
            <a:off x="6172200" y="2478024"/>
            <a:ext cx="2258568" cy="0"/>
          </a:xfrm>
          <a:prstGeom prst="line">
            <a:avLst/>
          </a:prstGeom>
          <a:noFill/>
          <a:ln w="6350">
            <a:solidFill>
              <a:srgbClr val="2C3E5E"/>
            </a:solidFill>
            <a:prstDash val="solid"/>
          </a:ln>
        </p:spPr>
        <p:txBody>
          <a:bodyPr/>
          <a:lstStyle/>
          <a:p>
            <a:endParaRPr lang="en-US"/>
          </a:p>
        </p:txBody>
      </p:sp>
      <p:sp>
        <p:nvSpPr>
          <p:cNvPr id="26" name="title map grid"/>
          <p:cNvSpPr/>
          <p:nvPr/>
        </p:nvSpPr>
        <p:spPr>
          <a:xfrm>
            <a:off x="6172200" y="2304288"/>
            <a:ext cx="2258568" cy="0"/>
          </a:xfrm>
          <a:prstGeom prst="line">
            <a:avLst/>
          </a:prstGeom>
          <a:noFill/>
          <a:ln w="6350">
            <a:solidFill>
              <a:srgbClr val="2C3E5E"/>
            </a:solidFill>
            <a:prstDash val="solid"/>
          </a:ln>
        </p:spPr>
        <p:txBody>
          <a:bodyPr/>
          <a:lstStyle/>
          <a:p>
            <a:endParaRPr lang="en-US"/>
          </a:p>
        </p:txBody>
      </p:sp>
      <p:sp>
        <p:nvSpPr>
          <p:cNvPr id="27" name="title map grid"/>
          <p:cNvSpPr/>
          <p:nvPr/>
        </p:nvSpPr>
        <p:spPr>
          <a:xfrm>
            <a:off x="6172200" y="2130552"/>
            <a:ext cx="2258568" cy="0"/>
          </a:xfrm>
          <a:prstGeom prst="line">
            <a:avLst/>
          </a:prstGeom>
          <a:noFill/>
          <a:ln w="6350">
            <a:solidFill>
              <a:srgbClr val="2C3E5E"/>
            </a:solidFill>
            <a:prstDash val="solid"/>
          </a:ln>
        </p:spPr>
        <p:txBody>
          <a:bodyPr/>
          <a:lstStyle/>
          <a:p>
            <a:endParaRPr lang="en-US"/>
          </a:p>
        </p:txBody>
      </p:sp>
      <p:sp>
        <p:nvSpPr>
          <p:cNvPr id="28" name="title map grid"/>
          <p:cNvSpPr/>
          <p:nvPr/>
        </p:nvSpPr>
        <p:spPr>
          <a:xfrm>
            <a:off x="6172200" y="1956816"/>
            <a:ext cx="2258568" cy="0"/>
          </a:xfrm>
          <a:prstGeom prst="line">
            <a:avLst/>
          </a:prstGeom>
          <a:noFill/>
          <a:ln w="6350">
            <a:solidFill>
              <a:srgbClr val="2C3E5E"/>
            </a:solidFill>
            <a:prstDash val="solid"/>
          </a:ln>
        </p:spPr>
        <p:txBody>
          <a:bodyPr/>
          <a:lstStyle/>
          <a:p>
            <a:endParaRPr lang="en-US"/>
          </a:p>
        </p:txBody>
      </p:sp>
      <p:sp>
        <p:nvSpPr>
          <p:cNvPr id="29" name="title map grid"/>
          <p:cNvSpPr/>
          <p:nvPr/>
        </p:nvSpPr>
        <p:spPr>
          <a:xfrm>
            <a:off x="6172200" y="1783080"/>
            <a:ext cx="2258568" cy="0"/>
          </a:xfrm>
          <a:prstGeom prst="line">
            <a:avLst/>
          </a:prstGeom>
          <a:noFill/>
          <a:ln w="6350">
            <a:solidFill>
              <a:srgbClr val="2C3E5E"/>
            </a:solidFill>
            <a:prstDash val="solid"/>
          </a:ln>
        </p:spPr>
        <p:txBody>
          <a:bodyPr/>
          <a:lstStyle/>
          <a:p>
            <a:endParaRPr lang="en-US"/>
          </a:p>
        </p:txBody>
      </p:sp>
      <p:sp>
        <p:nvSpPr>
          <p:cNvPr id="30" name="title map grid"/>
          <p:cNvSpPr/>
          <p:nvPr/>
        </p:nvSpPr>
        <p:spPr>
          <a:xfrm>
            <a:off x="6172200" y="1609344"/>
            <a:ext cx="2258568" cy="0"/>
          </a:xfrm>
          <a:prstGeom prst="line">
            <a:avLst/>
          </a:prstGeom>
          <a:noFill/>
          <a:ln w="6350">
            <a:solidFill>
              <a:srgbClr val="2C3E5E"/>
            </a:solidFill>
            <a:prstDash val="solid"/>
          </a:ln>
        </p:spPr>
        <p:txBody>
          <a:bodyPr/>
          <a:lstStyle/>
          <a:p>
            <a:endParaRPr lang="en-US"/>
          </a:p>
        </p:txBody>
      </p:sp>
      <p:sp>
        <p:nvSpPr>
          <p:cNvPr id="31" name="title map grid"/>
          <p:cNvSpPr/>
          <p:nvPr/>
        </p:nvSpPr>
        <p:spPr>
          <a:xfrm>
            <a:off x="6172200" y="1435608"/>
            <a:ext cx="2258568" cy="0"/>
          </a:xfrm>
          <a:prstGeom prst="line">
            <a:avLst/>
          </a:prstGeom>
          <a:noFill/>
          <a:ln w="6350">
            <a:solidFill>
              <a:srgbClr val="2C3E5E"/>
            </a:solidFill>
            <a:prstDash val="solid"/>
          </a:ln>
        </p:spPr>
        <p:txBody>
          <a:bodyPr/>
          <a:lstStyle/>
          <a:p>
            <a:endParaRPr lang="en-US"/>
          </a:p>
        </p:txBody>
      </p:sp>
      <p:sp>
        <p:nvSpPr>
          <p:cNvPr id="32" name="title map grid"/>
          <p:cNvSpPr/>
          <p:nvPr/>
        </p:nvSpPr>
        <p:spPr>
          <a:xfrm>
            <a:off x="6172200" y="1261872"/>
            <a:ext cx="2258568" cy="0"/>
          </a:xfrm>
          <a:prstGeom prst="line">
            <a:avLst/>
          </a:prstGeom>
          <a:noFill/>
          <a:ln w="6350">
            <a:solidFill>
              <a:srgbClr val="2C3E5E"/>
            </a:solidFill>
            <a:prstDash val="solid"/>
          </a:ln>
        </p:spPr>
        <p:txBody>
          <a:bodyPr/>
          <a:lstStyle/>
          <a:p>
            <a:endParaRPr lang="en-US"/>
          </a:p>
        </p:txBody>
      </p:sp>
      <p:sp>
        <p:nvSpPr>
          <p:cNvPr id="33" name="title map grid"/>
          <p:cNvSpPr/>
          <p:nvPr/>
        </p:nvSpPr>
        <p:spPr>
          <a:xfrm>
            <a:off x="6172200" y="1088136"/>
            <a:ext cx="2258568" cy="0"/>
          </a:xfrm>
          <a:prstGeom prst="line">
            <a:avLst/>
          </a:prstGeom>
          <a:noFill/>
          <a:ln w="6350">
            <a:solidFill>
              <a:srgbClr val="2C3E5E"/>
            </a:solidFill>
            <a:prstDash val="solid"/>
          </a:ln>
        </p:spPr>
        <p:txBody>
          <a:bodyPr/>
          <a:lstStyle/>
          <a:p>
            <a:endParaRPr lang="en-US"/>
          </a:p>
        </p:txBody>
      </p:sp>
      <p:sp>
        <p:nvSpPr>
          <p:cNvPr id="34" name="title map grid"/>
          <p:cNvSpPr/>
          <p:nvPr/>
        </p:nvSpPr>
        <p:spPr>
          <a:xfrm>
            <a:off x="6172200" y="914400"/>
            <a:ext cx="2258568" cy="0"/>
          </a:xfrm>
          <a:prstGeom prst="line">
            <a:avLst/>
          </a:prstGeom>
          <a:noFill/>
          <a:ln w="6350">
            <a:solidFill>
              <a:srgbClr val="2C3E5E"/>
            </a:solidFill>
            <a:prstDash val="solid"/>
          </a:ln>
        </p:spPr>
        <p:txBody>
          <a:bodyPr/>
          <a:lstStyle/>
          <a:p>
            <a:endParaRPr lang="en-US"/>
          </a:p>
        </p:txBody>
      </p:sp>
      <p:sp>
        <p:nvSpPr>
          <p:cNvPr id="35" name="title route"/>
          <p:cNvSpPr/>
          <p:nvPr/>
        </p:nvSpPr>
        <p:spPr>
          <a:xfrm>
            <a:off x="7388352" y="1435608"/>
            <a:ext cx="0" cy="1216152"/>
          </a:xfrm>
          <a:prstGeom prst="line">
            <a:avLst/>
          </a:prstGeom>
          <a:noFill/>
          <a:ln w="28575">
            <a:solidFill>
              <a:schemeClr val="accent1"/>
            </a:solidFill>
            <a:prstDash val="solid"/>
          </a:ln>
        </p:spPr>
        <p:txBody>
          <a:bodyPr/>
          <a:lstStyle/>
          <a:p>
            <a:endParaRPr lang="en-US"/>
          </a:p>
        </p:txBody>
      </p:sp>
      <p:sp>
        <p:nvSpPr>
          <p:cNvPr id="36" name="title route"/>
          <p:cNvSpPr/>
          <p:nvPr/>
        </p:nvSpPr>
        <p:spPr>
          <a:xfrm>
            <a:off x="6519672" y="1435608"/>
            <a:ext cx="868680" cy="0"/>
          </a:xfrm>
          <a:prstGeom prst="line">
            <a:avLst/>
          </a:prstGeom>
          <a:noFill/>
          <a:ln w="28575">
            <a:solidFill>
              <a:schemeClr val="accent1"/>
            </a:solidFill>
            <a:prstDash val="solid"/>
          </a:ln>
        </p:spPr>
        <p:txBody>
          <a:bodyPr/>
          <a:lstStyle/>
          <a:p>
            <a:endParaRPr lang="en-US"/>
          </a:p>
        </p:txBody>
      </p:sp>
      <p:sp>
        <p:nvSpPr>
          <p:cNvPr id="37" name="title call"/>
          <p:cNvSpPr/>
          <p:nvPr/>
        </p:nvSpPr>
        <p:spPr>
          <a:xfrm>
            <a:off x="6400800" y="1316736"/>
            <a:ext cx="237744" cy="237744"/>
          </a:xfrm>
          <a:prstGeom prst="diamond">
            <a:avLst/>
          </a:prstGeom>
          <a:solidFill>
            <a:schemeClr val="accent1"/>
          </a:solidFill>
          <a:ln w="9525">
            <a:solidFill>
              <a:schemeClr val="bg1"/>
            </a:solidFill>
            <a:prstDash val="solid"/>
          </a:ln>
        </p:spPr>
        <p:txBody>
          <a:bodyPr/>
          <a:lstStyle/>
          <a:p>
            <a:endParaRPr lang="en-US"/>
          </a:p>
        </p:txBody>
      </p:sp>
      <p:sp>
        <p:nvSpPr>
          <p:cNvPr id="38" name="title call"/>
          <p:cNvSpPr/>
          <p:nvPr/>
        </p:nvSpPr>
        <p:spPr>
          <a:xfrm>
            <a:off x="7991856" y="3081528"/>
            <a:ext cx="182880" cy="182880"/>
          </a:xfrm>
          <a:prstGeom prst="diamond">
            <a:avLst/>
          </a:prstGeom>
          <a:solidFill>
            <a:schemeClr val="accent4"/>
          </a:solidFill>
          <a:ln w="9525">
            <a:solidFill>
              <a:schemeClr val="bg1"/>
            </a:solidFill>
            <a:prstDash val="solid"/>
          </a:ln>
        </p:spPr>
        <p:txBody>
          <a:bodyPr/>
          <a:lstStyle/>
          <a:p>
            <a:endParaRPr lang="en-US"/>
          </a:p>
        </p:txBody>
      </p:sp>
      <p:sp>
        <p:nvSpPr>
          <p:cNvPr id="39" name="title call"/>
          <p:cNvSpPr/>
          <p:nvPr/>
        </p:nvSpPr>
        <p:spPr>
          <a:xfrm>
            <a:off x="7818120" y="1517904"/>
            <a:ext cx="182880" cy="182880"/>
          </a:xfrm>
          <a:prstGeom prst="diamond">
            <a:avLst/>
          </a:prstGeom>
          <a:solidFill>
            <a:schemeClr val="accent4"/>
          </a:solidFill>
          <a:ln w="9525">
            <a:solidFill>
              <a:schemeClr val="bg1"/>
            </a:solidFill>
            <a:prstDash val="solid"/>
          </a:ln>
        </p:spPr>
        <p:txBody>
          <a:bodyPr/>
          <a:lstStyle/>
          <a:p>
            <a:endParaRPr lang="en-US"/>
          </a:p>
        </p:txBody>
      </p:sp>
      <p:sp>
        <p:nvSpPr>
          <p:cNvPr id="40" name="title call"/>
          <p:cNvSpPr/>
          <p:nvPr/>
        </p:nvSpPr>
        <p:spPr>
          <a:xfrm>
            <a:off x="6601968" y="3255264"/>
            <a:ext cx="182880" cy="182880"/>
          </a:xfrm>
          <a:prstGeom prst="diamond">
            <a:avLst/>
          </a:prstGeom>
          <a:solidFill>
            <a:schemeClr val="accent4"/>
          </a:solidFill>
          <a:ln w="9525">
            <a:solidFill>
              <a:schemeClr val="bg1"/>
            </a:solidFill>
            <a:prstDash val="solid"/>
          </a:ln>
        </p:spPr>
        <p:txBody>
          <a:bodyPr/>
          <a:lstStyle/>
          <a:p>
            <a:endParaRPr lang="en-US"/>
          </a:p>
        </p:txBody>
      </p:sp>
      <p:sp>
        <p:nvSpPr>
          <p:cNvPr id="41" name="title base"/>
          <p:cNvSpPr/>
          <p:nvPr/>
        </p:nvSpPr>
        <p:spPr>
          <a:xfrm>
            <a:off x="7278624" y="2542032"/>
            <a:ext cx="219456" cy="219456"/>
          </a:xfrm>
          <a:prstGeom prst="rect">
            <a:avLst/>
          </a:prstGeom>
          <a:solidFill>
            <a:schemeClr val="bg1">
              <a:alpha val="0"/>
            </a:schemeClr>
          </a:solidFill>
          <a:ln w="19050">
            <a:solidFill>
              <a:schemeClr val="bg1"/>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The problem</a:t>
            </a:r>
            <a:endParaRPr lang="en-US" sz="3600" dirty="0"/>
          </a:p>
        </p:txBody>
      </p:sp>
      <p:sp>
        <p:nvSpPr>
          <p:cNvPr id="3" name="Text 1"/>
          <p:cNvSpPr txBox="1"/>
          <p:nvPr/>
        </p:nvSpPr>
        <p:spPr>
          <a:xfrm>
            <a:off x="457200" y="1051560"/>
            <a:ext cx="4023360" cy="274320"/>
          </a:xfrm>
          <a:prstGeom prst="rect">
            <a:avLst/>
          </a:prstGeom>
          <a:noFill/>
          <a:ln/>
        </p:spPr>
        <p:txBody>
          <a:bodyPr wrap="square" lIns="0" tIns="0" rIns="0" bIns="0" rtlCol="0" anchor="t"/>
          <a:lstStyle/>
          <a:p>
            <a:pPr marL="0" indent="0">
              <a:buNone/>
            </a:pPr>
            <a:r>
              <a:rPr lang="en-US" sz="1200" b="1" dirty="0">
                <a:solidFill>
                  <a:schemeClr val="accent6"/>
                </a:solidFill>
              </a:rPr>
              <a:t>Input (the brief's example)</a:t>
            </a:r>
            <a:endParaRPr lang="en-US" sz="1200" dirty="0"/>
          </a:p>
        </p:txBody>
      </p:sp>
      <p:sp>
        <p:nvSpPr>
          <p:cNvPr id="4" name="input box"/>
          <p:cNvSpPr/>
          <p:nvPr/>
        </p:nvSpPr>
        <p:spPr>
          <a:xfrm>
            <a:off x="457200" y="1325880"/>
            <a:ext cx="4023360" cy="1188720"/>
          </a:xfrm>
          <a:prstGeom prst="roundRect">
            <a:avLst>
              <a:gd name="adj" fmla="val 6154"/>
            </a:avLst>
          </a:prstGeom>
          <a:solidFill>
            <a:schemeClr val="bg2"/>
          </a:solidFill>
          <a:ln w="12700">
            <a:solidFill>
              <a:schemeClr val="bg2"/>
            </a:solidFill>
            <a:prstDash val="solid"/>
          </a:ln>
        </p:spPr>
        <p:txBody>
          <a:bodyPr/>
          <a:lstStyle/>
          <a:p>
            <a:endParaRPr lang="en-US"/>
          </a:p>
        </p:txBody>
      </p:sp>
      <p:sp>
        <p:nvSpPr>
          <p:cNvPr id="5" name="input text"/>
          <p:cNvSpPr txBox="1"/>
          <p:nvPr/>
        </p:nvSpPr>
        <p:spPr>
          <a:xfrm>
            <a:off x="640080" y="1463040"/>
            <a:ext cx="2194560" cy="1097280"/>
          </a:xfrm>
          <a:prstGeom prst="rect">
            <a:avLst/>
          </a:prstGeom>
          <a:noFill/>
          <a:ln/>
        </p:spPr>
        <p:txBody>
          <a:bodyPr wrap="square" lIns="0" tIns="0" rIns="0" bIns="0" rtlCol="0" anchor="t"/>
          <a:lstStyle/>
          <a:p>
            <a:pPr marL="0" indent="0">
              <a:lnSpc>
                <a:spcPct val="105000"/>
              </a:lnSpc>
              <a:buNone/>
            </a:pPr>
            <a:r>
              <a:rPr lang="en-US" sz="1500" dirty="0">
                <a:solidFill>
                  <a:schemeClr val="tx2"/>
                </a:solidFill>
                <a:latin typeface="Courier New" pitchFamily="34" charset="0"/>
                <a:ea typeface="Courier New" pitchFamily="34" charset="-122"/>
                <a:cs typeface="Courier New" pitchFamily="34" charset="-120"/>
              </a:rPr>
              <a:t>2</a:t>
            </a:r>
            <a:endParaRPr lang="en-US" sz="1500" dirty="0"/>
          </a:p>
          <a:p>
            <a:pPr marL="0" indent="0">
              <a:lnSpc>
                <a:spcPct val="105000"/>
              </a:lnSpc>
              <a:buNone/>
            </a:pPr>
            <a:r>
              <a:rPr lang="en-US" sz="1500" dirty="0">
                <a:solidFill>
                  <a:schemeClr val="tx2"/>
                </a:solidFill>
                <a:latin typeface="Courier New" pitchFamily="34" charset="0"/>
                <a:ea typeface="Courier New" pitchFamily="34" charset="-122"/>
                <a:cs typeface="Courier New" pitchFamily="34" charset="-120"/>
              </a:rPr>
              <a:t>10:45 15 N 20 W 45</a:t>
            </a:r>
            <a:endParaRPr lang="en-US" sz="1500" dirty="0"/>
          </a:p>
          <a:p>
            <a:pPr marL="0" indent="0">
              <a:lnSpc>
                <a:spcPct val="105000"/>
              </a:lnSpc>
              <a:buNone/>
            </a:pPr>
            <a:r>
              <a:rPr lang="en-US" sz="1500" dirty="0">
                <a:solidFill>
                  <a:schemeClr val="tx2"/>
                </a:solidFill>
                <a:latin typeface="Courier New" pitchFamily="34" charset="0"/>
                <a:ea typeface="Courier New" pitchFamily="34" charset="-122"/>
                <a:cs typeface="Courier New" pitchFamily="34" charset="-120"/>
              </a:rPr>
              <a:t>11:00 2 S 3 E 30</a:t>
            </a:r>
            <a:endParaRPr lang="en-US" sz="1500" dirty="0"/>
          </a:p>
          <a:p>
            <a:pPr marL="0" indent="0">
              <a:lnSpc>
                <a:spcPct val="105000"/>
              </a:lnSpc>
              <a:buNone/>
            </a:pPr>
            <a:r>
              <a:rPr lang="en-US" sz="1500" dirty="0">
                <a:solidFill>
                  <a:schemeClr val="tx2"/>
                </a:solidFill>
                <a:latin typeface="Courier New" pitchFamily="34" charset="0"/>
                <a:ea typeface="Courier New" pitchFamily="34" charset="-122"/>
                <a:cs typeface="Courier New" pitchFamily="34" charset="-120"/>
              </a:rPr>
              <a:t>16:02 4 E 15</a:t>
            </a:r>
            <a:endParaRPr lang="en-US" sz="1500" dirty="0"/>
          </a:p>
        </p:txBody>
      </p:sp>
      <p:sp>
        <p:nvSpPr>
          <p:cNvPr id="6" name="input notes"/>
          <p:cNvSpPr txBox="1"/>
          <p:nvPr/>
        </p:nvSpPr>
        <p:spPr>
          <a:xfrm>
            <a:off x="2880360" y="1463040"/>
            <a:ext cx="1508760" cy="1097280"/>
          </a:xfrm>
          <a:prstGeom prst="rect">
            <a:avLst/>
          </a:prstGeom>
          <a:noFill/>
          <a:ln/>
        </p:spPr>
        <p:txBody>
          <a:bodyPr wrap="square" lIns="0" tIns="0" rIns="0" bIns="0" rtlCol="0" anchor="t"/>
          <a:lstStyle/>
          <a:p>
            <a:pPr marL="0" indent="0">
              <a:spcAft>
                <a:spcPts val="400"/>
              </a:spcAft>
              <a:buNone/>
            </a:pPr>
            <a:r>
              <a:rPr lang="en-US" sz="1100" dirty="0">
                <a:solidFill>
                  <a:schemeClr val="accent6"/>
                </a:solidFill>
              </a:rPr>
              <a:t>vehicles</a:t>
            </a:r>
            <a:endParaRPr lang="en-US" sz="1100" dirty="0"/>
          </a:p>
          <a:p>
            <a:pPr marL="0" indent="0">
              <a:spcAft>
                <a:spcPts val="400"/>
              </a:spcAft>
              <a:buNone/>
            </a:pPr>
            <a:r>
              <a:rPr lang="en-US" sz="1100" dirty="0">
                <a:solidFill>
                  <a:schemeClr val="accent6"/>
                </a:solidFill>
              </a:rPr>
              <a:t>one call per line: time, blocks N/S, blocks E/W, job minutes</a:t>
            </a:r>
            <a:endParaRPr lang="en-US" sz="1100" dirty="0"/>
          </a:p>
        </p:txBody>
      </p:sp>
      <p:sp>
        <p:nvSpPr>
          <p:cNvPr id="7" name="goal card"/>
          <p:cNvSpPr/>
          <p:nvPr/>
        </p:nvSpPr>
        <p:spPr>
          <a:xfrm>
            <a:off x="457200" y="2880360"/>
            <a:ext cx="4023360" cy="100584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8" name="goal circle"/>
          <p:cNvSpPr/>
          <p:nvPr/>
        </p:nvSpPr>
        <p:spPr>
          <a:xfrm>
            <a:off x="640080" y="3090672"/>
            <a:ext cx="566928" cy="566928"/>
          </a:xfrm>
          <a:prstGeom prst="ellipse">
            <a:avLst/>
          </a:prstGeom>
          <a:solidFill>
            <a:schemeClr val="accent1"/>
          </a:solidFill>
          <a:ln w="12700">
            <a:solidFill>
              <a:schemeClr val="accent1"/>
            </a:solidFill>
            <a:prstDash val="solid"/>
          </a:ln>
        </p:spPr>
        <p:txBody>
          <a:bodyPr/>
          <a:lstStyle/>
          <a:p>
            <a:endParaRPr lang="en-US"/>
          </a:p>
        </p:txBody>
      </p:sp>
      <p:pic>
        <p:nvPicPr>
          <p:cNvPr id="9" name="goal icon" descr="goal"/>
          <p:cNvPicPr>
            <a:picLocks noChangeAspect="1"/>
          </p:cNvPicPr>
          <p:nvPr/>
        </p:nvPicPr>
        <p:blipFill>
          <a:blip r:embed="rId3"/>
          <a:stretch>
            <a:fillRect/>
          </a:stretch>
        </p:blipFill>
        <p:spPr>
          <a:xfrm>
            <a:off x="776143" y="3226735"/>
            <a:ext cx="294803" cy="294803"/>
          </a:xfrm>
          <a:prstGeom prst="rect">
            <a:avLst/>
          </a:prstGeom>
        </p:spPr>
      </p:pic>
      <p:sp>
        <p:nvSpPr>
          <p:cNvPr id="10" name="Text 7"/>
          <p:cNvSpPr txBox="1"/>
          <p:nvPr/>
        </p:nvSpPr>
        <p:spPr>
          <a:xfrm>
            <a:off x="1371600" y="3017520"/>
            <a:ext cx="3017520" cy="292608"/>
          </a:xfrm>
          <a:prstGeom prst="rect">
            <a:avLst/>
          </a:prstGeom>
          <a:noFill/>
          <a:ln/>
        </p:spPr>
        <p:txBody>
          <a:bodyPr wrap="square" lIns="0" tIns="0" rIns="0" bIns="0" rtlCol="0" anchor="t"/>
          <a:lstStyle/>
          <a:p>
            <a:pPr marL="0" indent="0">
              <a:buNone/>
            </a:pPr>
            <a:r>
              <a:rPr lang="en-US" sz="1600" b="1" dirty="0">
                <a:solidFill>
                  <a:schemeClr val="tx2"/>
                </a:solidFill>
              </a:rPr>
              <a:t>Minimise total response delay</a:t>
            </a:r>
            <a:endParaRPr lang="en-US" sz="1600" dirty="0"/>
          </a:p>
        </p:txBody>
      </p:sp>
      <p:sp>
        <p:nvSpPr>
          <p:cNvPr id="11" name="Text 8"/>
          <p:cNvSpPr txBox="1"/>
          <p:nvPr/>
        </p:nvSpPr>
        <p:spPr>
          <a:xfrm>
            <a:off x="1371600" y="3310128"/>
            <a:ext cx="3017520" cy="502920"/>
          </a:xfrm>
          <a:prstGeom prst="rect">
            <a:avLst/>
          </a:prstGeom>
          <a:noFill/>
          <a:ln/>
        </p:spPr>
        <p:txBody>
          <a:bodyPr wrap="square" lIns="0" tIns="0" rIns="0" bIns="0" rtlCol="0" anchor="t"/>
          <a:lstStyle/>
          <a:p>
            <a:pPr marL="0" indent="0">
              <a:buNone/>
            </a:pPr>
            <a:r>
              <a:rPr lang="en-US" sz="1400" dirty="0">
                <a:solidFill>
                  <a:schemeClr val="tx1"/>
                </a:solidFill>
              </a:rPr>
              <a:t>the sum, over every call, of arrival on scene minus call time</a:t>
            </a:r>
            <a:endParaRPr lang="en-US" sz="1400" dirty="0"/>
          </a:p>
        </p:txBody>
      </p:sp>
      <p:sp>
        <p:nvSpPr>
          <p:cNvPr id="12" name="Text 9"/>
          <p:cNvSpPr txBox="1"/>
          <p:nvPr/>
        </p:nvSpPr>
        <p:spPr>
          <a:xfrm>
            <a:off x="457200" y="4069080"/>
            <a:ext cx="4023360" cy="457200"/>
          </a:xfrm>
          <a:prstGeom prst="rect">
            <a:avLst/>
          </a:prstGeom>
          <a:noFill/>
          <a:ln/>
        </p:spPr>
        <p:txBody>
          <a:bodyPr wrap="square" lIns="0" tIns="0" rIns="0" bIns="0" rtlCol="0" anchor="t"/>
          <a:lstStyle/>
          <a:p>
            <a:pPr marL="0" indent="0">
              <a:buNone/>
            </a:pPr>
            <a:r>
              <a:rPr lang="en-US" sz="1400" dirty="0">
                <a:solidFill>
                  <a:schemeClr val="tx1"/>
                </a:solidFill>
              </a:rPr>
              <a:t>Every block takes 1 minute. Vehicles start the day at base and end it there.</a:t>
            </a:r>
            <a:endParaRPr lang="en-US" sz="1400" dirty="0"/>
          </a:p>
        </p:txBody>
      </p:sp>
      <p:sp>
        <p:nvSpPr>
          <p:cNvPr id="13" name="problem map grid"/>
          <p:cNvSpPr/>
          <p:nvPr/>
        </p:nvSpPr>
        <p:spPr>
          <a:xfrm>
            <a:off x="4983480" y="1188720"/>
            <a:ext cx="0" cy="2784348"/>
          </a:xfrm>
          <a:prstGeom prst="line">
            <a:avLst/>
          </a:prstGeom>
          <a:noFill/>
          <a:ln w="6350">
            <a:solidFill>
              <a:srgbClr val="DCE1E8"/>
            </a:solidFill>
            <a:prstDash val="solid"/>
          </a:ln>
        </p:spPr>
        <p:txBody>
          <a:bodyPr/>
          <a:lstStyle/>
          <a:p>
            <a:endParaRPr lang="en-US"/>
          </a:p>
        </p:txBody>
      </p:sp>
      <p:sp>
        <p:nvSpPr>
          <p:cNvPr id="14" name="problem map grid"/>
          <p:cNvSpPr/>
          <p:nvPr/>
        </p:nvSpPr>
        <p:spPr>
          <a:xfrm>
            <a:off x="5116068" y="1188720"/>
            <a:ext cx="0" cy="2784348"/>
          </a:xfrm>
          <a:prstGeom prst="line">
            <a:avLst/>
          </a:prstGeom>
          <a:noFill/>
          <a:ln w="6350">
            <a:solidFill>
              <a:srgbClr val="DCE1E8"/>
            </a:solidFill>
            <a:prstDash val="solid"/>
          </a:ln>
        </p:spPr>
        <p:txBody>
          <a:bodyPr/>
          <a:lstStyle/>
          <a:p>
            <a:endParaRPr lang="en-US"/>
          </a:p>
        </p:txBody>
      </p:sp>
      <p:sp>
        <p:nvSpPr>
          <p:cNvPr id="15" name="problem map grid"/>
          <p:cNvSpPr/>
          <p:nvPr/>
        </p:nvSpPr>
        <p:spPr>
          <a:xfrm>
            <a:off x="5248656" y="1188720"/>
            <a:ext cx="0" cy="2784348"/>
          </a:xfrm>
          <a:prstGeom prst="line">
            <a:avLst/>
          </a:prstGeom>
          <a:noFill/>
          <a:ln w="6350">
            <a:solidFill>
              <a:srgbClr val="DCE1E8"/>
            </a:solidFill>
            <a:prstDash val="solid"/>
          </a:ln>
        </p:spPr>
        <p:txBody>
          <a:bodyPr/>
          <a:lstStyle/>
          <a:p>
            <a:endParaRPr lang="en-US"/>
          </a:p>
        </p:txBody>
      </p:sp>
      <p:sp>
        <p:nvSpPr>
          <p:cNvPr id="16" name="problem map grid"/>
          <p:cNvSpPr/>
          <p:nvPr/>
        </p:nvSpPr>
        <p:spPr>
          <a:xfrm>
            <a:off x="5381244" y="1188720"/>
            <a:ext cx="0" cy="2784348"/>
          </a:xfrm>
          <a:prstGeom prst="line">
            <a:avLst/>
          </a:prstGeom>
          <a:noFill/>
          <a:ln w="6350">
            <a:solidFill>
              <a:srgbClr val="DCE1E8"/>
            </a:solidFill>
            <a:prstDash val="solid"/>
          </a:ln>
        </p:spPr>
        <p:txBody>
          <a:bodyPr/>
          <a:lstStyle/>
          <a:p>
            <a:endParaRPr lang="en-US"/>
          </a:p>
        </p:txBody>
      </p:sp>
      <p:sp>
        <p:nvSpPr>
          <p:cNvPr id="17" name="problem map grid"/>
          <p:cNvSpPr/>
          <p:nvPr/>
        </p:nvSpPr>
        <p:spPr>
          <a:xfrm>
            <a:off x="5513832" y="1188720"/>
            <a:ext cx="0" cy="2784348"/>
          </a:xfrm>
          <a:prstGeom prst="line">
            <a:avLst/>
          </a:prstGeom>
          <a:noFill/>
          <a:ln w="6350">
            <a:solidFill>
              <a:srgbClr val="DCE1E8"/>
            </a:solidFill>
            <a:prstDash val="solid"/>
          </a:ln>
        </p:spPr>
        <p:txBody>
          <a:bodyPr/>
          <a:lstStyle/>
          <a:p>
            <a:endParaRPr lang="en-US"/>
          </a:p>
        </p:txBody>
      </p:sp>
      <p:sp>
        <p:nvSpPr>
          <p:cNvPr id="18" name="problem map grid"/>
          <p:cNvSpPr/>
          <p:nvPr/>
        </p:nvSpPr>
        <p:spPr>
          <a:xfrm>
            <a:off x="5646420" y="1188720"/>
            <a:ext cx="0" cy="2784348"/>
          </a:xfrm>
          <a:prstGeom prst="line">
            <a:avLst/>
          </a:prstGeom>
          <a:noFill/>
          <a:ln w="6350">
            <a:solidFill>
              <a:srgbClr val="DCE1E8"/>
            </a:solidFill>
            <a:prstDash val="solid"/>
          </a:ln>
        </p:spPr>
        <p:txBody>
          <a:bodyPr/>
          <a:lstStyle/>
          <a:p>
            <a:endParaRPr lang="en-US"/>
          </a:p>
        </p:txBody>
      </p:sp>
      <p:sp>
        <p:nvSpPr>
          <p:cNvPr id="19" name="problem map grid"/>
          <p:cNvSpPr/>
          <p:nvPr/>
        </p:nvSpPr>
        <p:spPr>
          <a:xfrm>
            <a:off x="5779008" y="1188720"/>
            <a:ext cx="0" cy="2784348"/>
          </a:xfrm>
          <a:prstGeom prst="line">
            <a:avLst/>
          </a:prstGeom>
          <a:noFill/>
          <a:ln w="6350">
            <a:solidFill>
              <a:srgbClr val="DCE1E8"/>
            </a:solidFill>
            <a:prstDash val="solid"/>
          </a:ln>
        </p:spPr>
        <p:txBody>
          <a:bodyPr/>
          <a:lstStyle/>
          <a:p>
            <a:endParaRPr lang="en-US"/>
          </a:p>
        </p:txBody>
      </p:sp>
      <p:sp>
        <p:nvSpPr>
          <p:cNvPr id="20" name="problem map grid"/>
          <p:cNvSpPr/>
          <p:nvPr/>
        </p:nvSpPr>
        <p:spPr>
          <a:xfrm>
            <a:off x="5911596" y="1188720"/>
            <a:ext cx="0" cy="2784348"/>
          </a:xfrm>
          <a:prstGeom prst="line">
            <a:avLst/>
          </a:prstGeom>
          <a:noFill/>
          <a:ln w="6350">
            <a:solidFill>
              <a:srgbClr val="DCE1E8"/>
            </a:solidFill>
            <a:prstDash val="solid"/>
          </a:ln>
        </p:spPr>
        <p:txBody>
          <a:bodyPr/>
          <a:lstStyle/>
          <a:p>
            <a:endParaRPr lang="en-US"/>
          </a:p>
        </p:txBody>
      </p:sp>
      <p:sp>
        <p:nvSpPr>
          <p:cNvPr id="21" name="problem map grid"/>
          <p:cNvSpPr/>
          <p:nvPr/>
        </p:nvSpPr>
        <p:spPr>
          <a:xfrm>
            <a:off x="6044184" y="1188720"/>
            <a:ext cx="0" cy="2784348"/>
          </a:xfrm>
          <a:prstGeom prst="line">
            <a:avLst/>
          </a:prstGeom>
          <a:noFill/>
          <a:ln w="6350">
            <a:solidFill>
              <a:srgbClr val="DCE1E8"/>
            </a:solidFill>
            <a:prstDash val="solid"/>
          </a:ln>
        </p:spPr>
        <p:txBody>
          <a:bodyPr/>
          <a:lstStyle/>
          <a:p>
            <a:endParaRPr lang="en-US"/>
          </a:p>
        </p:txBody>
      </p:sp>
      <p:sp>
        <p:nvSpPr>
          <p:cNvPr id="22" name="problem map grid"/>
          <p:cNvSpPr/>
          <p:nvPr/>
        </p:nvSpPr>
        <p:spPr>
          <a:xfrm>
            <a:off x="6176772" y="1188720"/>
            <a:ext cx="0" cy="2784348"/>
          </a:xfrm>
          <a:prstGeom prst="line">
            <a:avLst/>
          </a:prstGeom>
          <a:noFill/>
          <a:ln w="6350">
            <a:solidFill>
              <a:srgbClr val="DCE1E8"/>
            </a:solidFill>
            <a:prstDash val="solid"/>
          </a:ln>
        </p:spPr>
        <p:txBody>
          <a:bodyPr/>
          <a:lstStyle/>
          <a:p>
            <a:endParaRPr lang="en-US"/>
          </a:p>
        </p:txBody>
      </p:sp>
      <p:sp>
        <p:nvSpPr>
          <p:cNvPr id="23" name="problem map grid"/>
          <p:cNvSpPr/>
          <p:nvPr/>
        </p:nvSpPr>
        <p:spPr>
          <a:xfrm>
            <a:off x="6309360" y="1188720"/>
            <a:ext cx="0" cy="2784348"/>
          </a:xfrm>
          <a:prstGeom prst="line">
            <a:avLst/>
          </a:prstGeom>
          <a:noFill/>
          <a:ln w="6350">
            <a:solidFill>
              <a:srgbClr val="DCE1E8"/>
            </a:solidFill>
            <a:prstDash val="solid"/>
          </a:ln>
        </p:spPr>
        <p:txBody>
          <a:bodyPr/>
          <a:lstStyle/>
          <a:p>
            <a:endParaRPr lang="en-US"/>
          </a:p>
        </p:txBody>
      </p:sp>
      <p:sp>
        <p:nvSpPr>
          <p:cNvPr id="24" name="problem map grid"/>
          <p:cNvSpPr/>
          <p:nvPr/>
        </p:nvSpPr>
        <p:spPr>
          <a:xfrm>
            <a:off x="6441948" y="1188720"/>
            <a:ext cx="0" cy="2784348"/>
          </a:xfrm>
          <a:prstGeom prst="line">
            <a:avLst/>
          </a:prstGeom>
          <a:noFill/>
          <a:ln w="6350">
            <a:solidFill>
              <a:srgbClr val="DCE1E8"/>
            </a:solidFill>
            <a:prstDash val="solid"/>
          </a:ln>
        </p:spPr>
        <p:txBody>
          <a:bodyPr/>
          <a:lstStyle/>
          <a:p>
            <a:endParaRPr lang="en-US"/>
          </a:p>
        </p:txBody>
      </p:sp>
      <p:sp>
        <p:nvSpPr>
          <p:cNvPr id="25" name="problem map grid"/>
          <p:cNvSpPr/>
          <p:nvPr/>
        </p:nvSpPr>
        <p:spPr>
          <a:xfrm>
            <a:off x="6574536" y="1188720"/>
            <a:ext cx="0" cy="2784348"/>
          </a:xfrm>
          <a:prstGeom prst="line">
            <a:avLst/>
          </a:prstGeom>
          <a:noFill/>
          <a:ln w="6350">
            <a:solidFill>
              <a:srgbClr val="DCE1E8"/>
            </a:solidFill>
            <a:prstDash val="solid"/>
          </a:ln>
        </p:spPr>
        <p:txBody>
          <a:bodyPr/>
          <a:lstStyle/>
          <a:p>
            <a:endParaRPr lang="en-US"/>
          </a:p>
        </p:txBody>
      </p:sp>
      <p:sp>
        <p:nvSpPr>
          <p:cNvPr id="26" name="problem map grid"/>
          <p:cNvSpPr/>
          <p:nvPr/>
        </p:nvSpPr>
        <p:spPr>
          <a:xfrm>
            <a:off x="6707124" y="1188720"/>
            <a:ext cx="0" cy="2784348"/>
          </a:xfrm>
          <a:prstGeom prst="line">
            <a:avLst/>
          </a:prstGeom>
          <a:noFill/>
          <a:ln w="6350">
            <a:solidFill>
              <a:srgbClr val="DCE1E8"/>
            </a:solidFill>
            <a:prstDash val="solid"/>
          </a:ln>
        </p:spPr>
        <p:txBody>
          <a:bodyPr/>
          <a:lstStyle/>
          <a:p>
            <a:endParaRPr lang="en-US"/>
          </a:p>
        </p:txBody>
      </p:sp>
      <p:sp>
        <p:nvSpPr>
          <p:cNvPr id="27" name="problem map grid"/>
          <p:cNvSpPr/>
          <p:nvPr/>
        </p:nvSpPr>
        <p:spPr>
          <a:xfrm>
            <a:off x="6839712" y="1188720"/>
            <a:ext cx="0" cy="2784348"/>
          </a:xfrm>
          <a:prstGeom prst="line">
            <a:avLst/>
          </a:prstGeom>
          <a:noFill/>
          <a:ln w="6350">
            <a:solidFill>
              <a:srgbClr val="DCE1E8"/>
            </a:solidFill>
            <a:prstDash val="solid"/>
          </a:ln>
        </p:spPr>
        <p:txBody>
          <a:bodyPr/>
          <a:lstStyle/>
          <a:p>
            <a:endParaRPr lang="en-US"/>
          </a:p>
        </p:txBody>
      </p:sp>
      <p:sp>
        <p:nvSpPr>
          <p:cNvPr id="28" name="problem map grid"/>
          <p:cNvSpPr/>
          <p:nvPr/>
        </p:nvSpPr>
        <p:spPr>
          <a:xfrm>
            <a:off x="6972300" y="1188720"/>
            <a:ext cx="0" cy="2784348"/>
          </a:xfrm>
          <a:prstGeom prst="line">
            <a:avLst/>
          </a:prstGeom>
          <a:noFill/>
          <a:ln w="6350">
            <a:solidFill>
              <a:srgbClr val="DCE1E8"/>
            </a:solidFill>
            <a:prstDash val="solid"/>
          </a:ln>
        </p:spPr>
        <p:txBody>
          <a:bodyPr/>
          <a:lstStyle/>
          <a:p>
            <a:endParaRPr lang="en-US"/>
          </a:p>
        </p:txBody>
      </p:sp>
      <p:sp>
        <p:nvSpPr>
          <p:cNvPr id="29" name="problem map grid"/>
          <p:cNvSpPr/>
          <p:nvPr/>
        </p:nvSpPr>
        <p:spPr>
          <a:xfrm>
            <a:off x="7104888" y="1188720"/>
            <a:ext cx="0" cy="2784348"/>
          </a:xfrm>
          <a:prstGeom prst="line">
            <a:avLst/>
          </a:prstGeom>
          <a:noFill/>
          <a:ln w="6350">
            <a:solidFill>
              <a:srgbClr val="DCE1E8"/>
            </a:solidFill>
            <a:prstDash val="solid"/>
          </a:ln>
        </p:spPr>
        <p:txBody>
          <a:bodyPr/>
          <a:lstStyle/>
          <a:p>
            <a:endParaRPr lang="en-US"/>
          </a:p>
        </p:txBody>
      </p:sp>
      <p:sp>
        <p:nvSpPr>
          <p:cNvPr id="30" name="problem map grid"/>
          <p:cNvSpPr/>
          <p:nvPr/>
        </p:nvSpPr>
        <p:spPr>
          <a:xfrm>
            <a:off x="7237476" y="1188720"/>
            <a:ext cx="0" cy="2784348"/>
          </a:xfrm>
          <a:prstGeom prst="line">
            <a:avLst/>
          </a:prstGeom>
          <a:noFill/>
          <a:ln w="6350">
            <a:solidFill>
              <a:srgbClr val="DCE1E8"/>
            </a:solidFill>
            <a:prstDash val="solid"/>
          </a:ln>
        </p:spPr>
        <p:txBody>
          <a:bodyPr/>
          <a:lstStyle/>
          <a:p>
            <a:endParaRPr lang="en-US"/>
          </a:p>
        </p:txBody>
      </p:sp>
      <p:sp>
        <p:nvSpPr>
          <p:cNvPr id="31" name="problem map grid"/>
          <p:cNvSpPr/>
          <p:nvPr/>
        </p:nvSpPr>
        <p:spPr>
          <a:xfrm>
            <a:off x="7370064" y="1188720"/>
            <a:ext cx="0" cy="2784348"/>
          </a:xfrm>
          <a:prstGeom prst="line">
            <a:avLst/>
          </a:prstGeom>
          <a:noFill/>
          <a:ln w="6350">
            <a:solidFill>
              <a:srgbClr val="DCE1E8"/>
            </a:solidFill>
            <a:prstDash val="solid"/>
          </a:ln>
        </p:spPr>
        <p:txBody>
          <a:bodyPr/>
          <a:lstStyle/>
          <a:p>
            <a:endParaRPr lang="en-US"/>
          </a:p>
        </p:txBody>
      </p:sp>
      <p:sp>
        <p:nvSpPr>
          <p:cNvPr id="32" name="problem map grid"/>
          <p:cNvSpPr/>
          <p:nvPr/>
        </p:nvSpPr>
        <p:spPr>
          <a:xfrm>
            <a:off x="7502652" y="1188720"/>
            <a:ext cx="0" cy="2784348"/>
          </a:xfrm>
          <a:prstGeom prst="line">
            <a:avLst/>
          </a:prstGeom>
          <a:noFill/>
          <a:ln w="6350">
            <a:solidFill>
              <a:srgbClr val="DCE1E8"/>
            </a:solidFill>
            <a:prstDash val="solid"/>
          </a:ln>
        </p:spPr>
        <p:txBody>
          <a:bodyPr/>
          <a:lstStyle/>
          <a:p>
            <a:endParaRPr lang="en-US"/>
          </a:p>
        </p:txBody>
      </p:sp>
      <p:sp>
        <p:nvSpPr>
          <p:cNvPr id="33" name="problem map grid"/>
          <p:cNvSpPr/>
          <p:nvPr/>
        </p:nvSpPr>
        <p:spPr>
          <a:xfrm>
            <a:off x="7635240" y="1188720"/>
            <a:ext cx="0" cy="2784348"/>
          </a:xfrm>
          <a:prstGeom prst="line">
            <a:avLst/>
          </a:prstGeom>
          <a:noFill/>
          <a:ln w="6350">
            <a:solidFill>
              <a:srgbClr val="DCE1E8"/>
            </a:solidFill>
            <a:prstDash val="solid"/>
          </a:ln>
        </p:spPr>
        <p:txBody>
          <a:bodyPr/>
          <a:lstStyle/>
          <a:p>
            <a:endParaRPr lang="en-US"/>
          </a:p>
        </p:txBody>
      </p:sp>
      <p:sp>
        <p:nvSpPr>
          <p:cNvPr id="34" name="problem map grid"/>
          <p:cNvSpPr/>
          <p:nvPr/>
        </p:nvSpPr>
        <p:spPr>
          <a:xfrm>
            <a:off x="7767828" y="1188720"/>
            <a:ext cx="0" cy="2784348"/>
          </a:xfrm>
          <a:prstGeom prst="line">
            <a:avLst/>
          </a:prstGeom>
          <a:noFill/>
          <a:ln w="6350">
            <a:solidFill>
              <a:srgbClr val="DCE1E8"/>
            </a:solidFill>
            <a:prstDash val="solid"/>
          </a:ln>
        </p:spPr>
        <p:txBody>
          <a:bodyPr/>
          <a:lstStyle/>
          <a:p>
            <a:endParaRPr lang="en-US"/>
          </a:p>
        </p:txBody>
      </p:sp>
      <p:sp>
        <p:nvSpPr>
          <p:cNvPr id="35" name="problem map grid"/>
          <p:cNvSpPr/>
          <p:nvPr/>
        </p:nvSpPr>
        <p:spPr>
          <a:xfrm>
            <a:off x="7900416" y="1188720"/>
            <a:ext cx="0" cy="2784348"/>
          </a:xfrm>
          <a:prstGeom prst="line">
            <a:avLst/>
          </a:prstGeom>
          <a:noFill/>
          <a:ln w="12700">
            <a:solidFill>
              <a:srgbClr val="B8C0CC"/>
            </a:solidFill>
            <a:prstDash val="solid"/>
          </a:ln>
        </p:spPr>
        <p:txBody>
          <a:bodyPr/>
          <a:lstStyle/>
          <a:p>
            <a:endParaRPr lang="en-US"/>
          </a:p>
        </p:txBody>
      </p:sp>
      <p:sp>
        <p:nvSpPr>
          <p:cNvPr id="36" name="problem map grid"/>
          <p:cNvSpPr/>
          <p:nvPr/>
        </p:nvSpPr>
        <p:spPr>
          <a:xfrm>
            <a:off x="8033004" y="1188720"/>
            <a:ext cx="0" cy="2784348"/>
          </a:xfrm>
          <a:prstGeom prst="line">
            <a:avLst/>
          </a:prstGeom>
          <a:noFill/>
          <a:ln w="6350">
            <a:solidFill>
              <a:srgbClr val="DCE1E8"/>
            </a:solidFill>
            <a:prstDash val="solid"/>
          </a:ln>
        </p:spPr>
        <p:txBody>
          <a:bodyPr/>
          <a:lstStyle/>
          <a:p>
            <a:endParaRPr lang="en-US"/>
          </a:p>
        </p:txBody>
      </p:sp>
      <p:sp>
        <p:nvSpPr>
          <p:cNvPr id="37" name="problem map grid"/>
          <p:cNvSpPr/>
          <p:nvPr/>
        </p:nvSpPr>
        <p:spPr>
          <a:xfrm>
            <a:off x="8165592" y="1188720"/>
            <a:ext cx="0" cy="2784348"/>
          </a:xfrm>
          <a:prstGeom prst="line">
            <a:avLst/>
          </a:prstGeom>
          <a:noFill/>
          <a:ln w="6350">
            <a:solidFill>
              <a:srgbClr val="DCE1E8"/>
            </a:solidFill>
            <a:prstDash val="solid"/>
          </a:ln>
        </p:spPr>
        <p:txBody>
          <a:bodyPr/>
          <a:lstStyle/>
          <a:p>
            <a:endParaRPr lang="en-US"/>
          </a:p>
        </p:txBody>
      </p:sp>
      <p:sp>
        <p:nvSpPr>
          <p:cNvPr id="38" name="problem map grid"/>
          <p:cNvSpPr/>
          <p:nvPr/>
        </p:nvSpPr>
        <p:spPr>
          <a:xfrm>
            <a:off x="8298180" y="1188720"/>
            <a:ext cx="0" cy="2784348"/>
          </a:xfrm>
          <a:prstGeom prst="line">
            <a:avLst/>
          </a:prstGeom>
          <a:noFill/>
          <a:ln w="6350">
            <a:solidFill>
              <a:srgbClr val="DCE1E8"/>
            </a:solidFill>
            <a:prstDash val="solid"/>
          </a:ln>
        </p:spPr>
        <p:txBody>
          <a:bodyPr/>
          <a:lstStyle/>
          <a:p>
            <a:endParaRPr lang="en-US"/>
          </a:p>
        </p:txBody>
      </p:sp>
      <p:sp>
        <p:nvSpPr>
          <p:cNvPr id="39" name="problem map grid"/>
          <p:cNvSpPr/>
          <p:nvPr/>
        </p:nvSpPr>
        <p:spPr>
          <a:xfrm>
            <a:off x="8430768" y="1188720"/>
            <a:ext cx="0" cy="2784348"/>
          </a:xfrm>
          <a:prstGeom prst="line">
            <a:avLst/>
          </a:prstGeom>
          <a:noFill/>
          <a:ln w="6350">
            <a:solidFill>
              <a:srgbClr val="DCE1E8"/>
            </a:solidFill>
            <a:prstDash val="solid"/>
          </a:ln>
        </p:spPr>
        <p:txBody>
          <a:bodyPr/>
          <a:lstStyle/>
          <a:p>
            <a:endParaRPr lang="en-US"/>
          </a:p>
        </p:txBody>
      </p:sp>
      <p:sp>
        <p:nvSpPr>
          <p:cNvPr id="40" name="problem map grid"/>
          <p:cNvSpPr/>
          <p:nvPr/>
        </p:nvSpPr>
        <p:spPr>
          <a:xfrm>
            <a:off x="8563356" y="1188720"/>
            <a:ext cx="0" cy="2784348"/>
          </a:xfrm>
          <a:prstGeom prst="line">
            <a:avLst/>
          </a:prstGeom>
          <a:noFill/>
          <a:ln w="6350">
            <a:solidFill>
              <a:srgbClr val="DCE1E8"/>
            </a:solidFill>
            <a:prstDash val="solid"/>
          </a:ln>
        </p:spPr>
        <p:txBody>
          <a:bodyPr/>
          <a:lstStyle/>
          <a:p>
            <a:endParaRPr lang="en-US"/>
          </a:p>
        </p:txBody>
      </p:sp>
      <p:sp>
        <p:nvSpPr>
          <p:cNvPr id="41" name="problem map grid"/>
          <p:cNvSpPr/>
          <p:nvPr/>
        </p:nvSpPr>
        <p:spPr>
          <a:xfrm>
            <a:off x="8695944" y="1188720"/>
            <a:ext cx="0" cy="2784348"/>
          </a:xfrm>
          <a:prstGeom prst="line">
            <a:avLst/>
          </a:prstGeom>
          <a:noFill/>
          <a:ln w="6350">
            <a:solidFill>
              <a:srgbClr val="DCE1E8"/>
            </a:solidFill>
            <a:prstDash val="solid"/>
          </a:ln>
        </p:spPr>
        <p:txBody>
          <a:bodyPr/>
          <a:lstStyle/>
          <a:p>
            <a:endParaRPr lang="en-US"/>
          </a:p>
        </p:txBody>
      </p:sp>
      <p:sp>
        <p:nvSpPr>
          <p:cNvPr id="42" name="problem map grid"/>
          <p:cNvSpPr/>
          <p:nvPr/>
        </p:nvSpPr>
        <p:spPr>
          <a:xfrm>
            <a:off x="4983480" y="3973068"/>
            <a:ext cx="3712464" cy="0"/>
          </a:xfrm>
          <a:prstGeom prst="line">
            <a:avLst/>
          </a:prstGeom>
          <a:noFill/>
          <a:ln w="6350">
            <a:solidFill>
              <a:srgbClr val="DCE1E8"/>
            </a:solidFill>
            <a:prstDash val="solid"/>
          </a:ln>
        </p:spPr>
        <p:txBody>
          <a:bodyPr/>
          <a:lstStyle/>
          <a:p>
            <a:endParaRPr lang="en-US"/>
          </a:p>
        </p:txBody>
      </p:sp>
      <p:sp>
        <p:nvSpPr>
          <p:cNvPr id="43" name="problem map grid"/>
          <p:cNvSpPr/>
          <p:nvPr/>
        </p:nvSpPr>
        <p:spPr>
          <a:xfrm>
            <a:off x="4983480" y="3840480"/>
            <a:ext cx="3712464" cy="0"/>
          </a:xfrm>
          <a:prstGeom prst="line">
            <a:avLst/>
          </a:prstGeom>
          <a:noFill/>
          <a:ln w="6350">
            <a:solidFill>
              <a:srgbClr val="DCE1E8"/>
            </a:solidFill>
            <a:prstDash val="solid"/>
          </a:ln>
        </p:spPr>
        <p:txBody>
          <a:bodyPr/>
          <a:lstStyle/>
          <a:p>
            <a:endParaRPr lang="en-US"/>
          </a:p>
        </p:txBody>
      </p:sp>
      <p:sp>
        <p:nvSpPr>
          <p:cNvPr id="44" name="problem map grid"/>
          <p:cNvSpPr/>
          <p:nvPr/>
        </p:nvSpPr>
        <p:spPr>
          <a:xfrm>
            <a:off x="4983480" y="3707892"/>
            <a:ext cx="3712464" cy="0"/>
          </a:xfrm>
          <a:prstGeom prst="line">
            <a:avLst/>
          </a:prstGeom>
          <a:noFill/>
          <a:ln w="6350">
            <a:solidFill>
              <a:srgbClr val="DCE1E8"/>
            </a:solidFill>
            <a:prstDash val="solid"/>
          </a:ln>
        </p:spPr>
        <p:txBody>
          <a:bodyPr/>
          <a:lstStyle/>
          <a:p>
            <a:endParaRPr lang="en-US"/>
          </a:p>
        </p:txBody>
      </p:sp>
      <p:sp>
        <p:nvSpPr>
          <p:cNvPr id="45" name="problem map grid"/>
          <p:cNvSpPr/>
          <p:nvPr/>
        </p:nvSpPr>
        <p:spPr>
          <a:xfrm>
            <a:off x="4983480" y="3575304"/>
            <a:ext cx="3712464" cy="0"/>
          </a:xfrm>
          <a:prstGeom prst="line">
            <a:avLst/>
          </a:prstGeom>
          <a:noFill/>
          <a:ln w="6350">
            <a:solidFill>
              <a:srgbClr val="DCE1E8"/>
            </a:solidFill>
            <a:prstDash val="solid"/>
          </a:ln>
        </p:spPr>
        <p:txBody>
          <a:bodyPr/>
          <a:lstStyle/>
          <a:p>
            <a:endParaRPr lang="en-US"/>
          </a:p>
        </p:txBody>
      </p:sp>
      <p:sp>
        <p:nvSpPr>
          <p:cNvPr id="46" name="problem map grid"/>
          <p:cNvSpPr/>
          <p:nvPr/>
        </p:nvSpPr>
        <p:spPr>
          <a:xfrm>
            <a:off x="4983480" y="3442716"/>
            <a:ext cx="3712464" cy="0"/>
          </a:xfrm>
          <a:prstGeom prst="line">
            <a:avLst/>
          </a:prstGeom>
          <a:noFill/>
          <a:ln w="12700">
            <a:solidFill>
              <a:srgbClr val="B8C0CC"/>
            </a:solidFill>
            <a:prstDash val="solid"/>
          </a:ln>
        </p:spPr>
        <p:txBody>
          <a:bodyPr/>
          <a:lstStyle/>
          <a:p>
            <a:endParaRPr lang="en-US"/>
          </a:p>
        </p:txBody>
      </p:sp>
      <p:sp>
        <p:nvSpPr>
          <p:cNvPr id="47" name="problem map grid"/>
          <p:cNvSpPr/>
          <p:nvPr/>
        </p:nvSpPr>
        <p:spPr>
          <a:xfrm>
            <a:off x="4983480" y="3310128"/>
            <a:ext cx="3712464" cy="0"/>
          </a:xfrm>
          <a:prstGeom prst="line">
            <a:avLst/>
          </a:prstGeom>
          <a:noFill/>
          <a:ln w="6350">
            <a:solidFill>
              <a:srgbClr val="DCE1E8"/>
            </a:solidFill>
            <a:prstDash val="solid"/>
          </a:ln>
        </p:spPr>
        <p:txBody>
          <a:bodyPr/>
          <a:lstStyle/>
          <a:p>
            <a:endParaRPr lang="en-US"/>
          </a:p>
        </p:txBody>
      </p:sp>
      <p:sp>
        <p:nvSpPr>
          <p:cNvPr id="48" name="problem map grid"/>
          <p:cNvSpPr/>
          <p:nvPr/>
        </p:nvSpPr>
        <p:spPr>
          <a:xfrm>
            <a:off x="4983480" y="3177540"/>
            <a:ext cx="3712464" cy="0"/>
          </a:xfrm>
          <a:prstGeom prst="line">
            <a:avLst/>
          </a:prstGeom>
          <a:noFill/>
          <a:ln w="6350">
            <a:solidFill>
              <a:srgbClr val="DCE1E8"/>
            </a:solidFill>
            <a:prstDash val="solid"/>
          </a:ln>
        </p:spPr>
        <p:txBody>
          <a:bodyPr/>
          <a:lstStyle/>
          <a:p>
            <a:endParaRPr lang="en-US"/>
          </a:p>
        </p:txBody>
      </p:sp>
      <p:sp>
        <p:nvSpPr>
          <p:cNvPr id="49" name="problem map grid"/>
          <p:cNvSpPr/>
          <p:nvPr/>
        </p:nvSpPr>
        <p:spPr>
          <a:xfrm>
            <a:off x="4983480" y="3044952"/>
            <a:ext cx="3712464" cy="0"/>
          </a:xfrm>
          <a:prstGeom prst="line">
            <a:avLst/>
          </a:prstGeom>
          <a:noFill/>
          <a:ln w="6350">
            <a:solidFill>
              <a:srgbClr val="DCE1E8"/>
            </a:solidFill>
            <a:prstDash val="solid"/>
          </a:ln>
        </p:spPr>
        <p:txBody>
          <a:bodyPr/>
          <a:lstStyle/>
          <a:p>
            <a:endParaRPr lang="en-US"/>
          </a:p>
        </p:txBody>
      </p:sp>
      <p:sp>
        <p:nvSpPr>
          <p:cNvPr id="50" name="problem map grid"/>
          <p:cNvSpPr/>
          <p:nvPr/>
        </p:nvSpPr>
        <p:spPr>
          <a:xfrm>
            <a:off x="4983480" y="2912364"/>
            <a:ext cx="3712464" cy="0"/>
          </a:xfrm>
          <a:prstGeom prst="line">
            <a:avLst/>
          </a:prstGeom>
          <a:noFill/>
          <a:ln w="6350">
            <a:solidFill>
              <a:srgbClr val="DCE1E8"/>
            </a:solidFill>
            <a:prstDash val="solid"/>
          </a:ln>
        </p:spPr>
        <p:txBody>
          <a:bodyPr/>
          <a:lstStyle/>
          <a:p>
            <a:endParaRPr lang="en-US"/>
          </a:p>
        </p:txBody>
      </p:sp>
      <p:sp>
        <p:nvSpPr>
          <p:cNvPr id="51" name="problem map grid"/>
          <p:cNvSpPr/>
          <p:nvPr/>
        </p:nvSpPr>
        <p:spPr>
          <a:xfrm>
            <a:off x="4983480" y="2779776"/>
            <a:ext cx="3712464" cy="0"/>
          </a:xfrm>
          <a:prstGeom prst="line">
            <a:avLst/>
          </a:prstGeom>
          <a:noFill/>
          <a:ln w="6350">
            <a:solidFill>
              <a:srgbClr val="DCE1E8"/>
            </a:solidFill>
            <a:prstDash val="solid"/>
          </a:ln>
        </p:spPr>
        <p:txBody>
          <a:bodyPr/>
          <a:lstStyle/>
          <a:p>
            <a:endParaRPr lang="en-US"/>
          </a:p>
        </p:txBody>
      </p:sp>
      <p:sp>
        <p:nvSpPr>
          <p:cNvPr id="52" name="problem map grid"/>
          <p:cNvSpPr/>
          <p:nvPr/>
        </p:nvSpPr>
        <p:spPr>
          <a:xfrm>
            <a:off x="4983480" y="2647188"/>
            <a:ext cx="3712464" cy="0"/>
          </a:xfrm>
          <a:prstGeom prst="line">
            <a:avLst/>
          </a:prstGeom>
          <a:noFill/>
          <a:ln w="6350">
            <a:solidFill>
              <a:srgbClr val="DCE1E8"/>
            </a:solidFill>
            <a:prstDash val="solid"/>
          </a:ln>
        </p:spPr>
        <p:txBody>
          <a:bodyPr/>
          <a:lstStyle/>
          <a:p>
            <a:endParaRPr lang="en-US"/>
          </a:p>
        </p:txBody>
      </p:sp>
      <p:sp>
        <p:nvSpPr>
          <p:cNvPr id="53" name="problem map grid"/>
          <p:cNvSpPr/>
          <p:nvPr/>
        </p:nvSpPr>
        <p:spPr>
          <a:xfrm>
            <a:off x="4983480" y="2514600"/>
            <a:ext cx="3712464" cy="0"/>
          </a:xfrm>
          <a:prstGeom prst="line">
            <a:avLst/>
          </a:prstGeom>
          <a:noFill/>
          <a:ln w="6350">
            <a:solidFill>
              <a:srgbClr val="DCE1E8"/>
            </a:solidFill>
            <a:prstDash val="solid"/>
          </a:ln>
        </p:spPr>
        <p:txBody>
          <a:bodyPr/>
          <a:lstStyle/>
          <a:p>
            <a:endParaRPr lang="en-US"/>
          </a:p>
        </p:txBody>
      </p:sp>
      <p:sp>
        <p:nvSpPr>
          <p:cNvPr id="54" name="problem map grid"/>
          <p:cNvSpPr/>
          <p:nvPr/>
        </p:nvSpPr>
        <p:spPr>
          <a:xfrm>
            <a:off x="4983480" y="2382012"/>
            <a:ext cx="3712464" cy="0"/>
          </a:xfrm>
          <a:prstGeom prst="line">
            <a:avLst/>
          </a:prstGeom>
          <a:noFill/>
          <a:ln w="6350">
            <a:solidFill>
              <a:srgbClr val="DCE1E8"/>
            </a:solidFill>
            <a:prstDash val="solid"/>
          </a:ln>
        </p:spPr>
        <p:txBody>
          <a:bodyPr/>
          <a:lstStyle/>
          <a:p>
            <a:endParaRPr lang="en-US"/>
          </a:p>
        </p:txBody>
      </p:sp>
      <p:sp>
        <p:nvSpPr>
          <p:cNvPr id="55" name="problem map grid"/>
          <p:cNvSpPr/>
          <p:nvPr/>
        </p:nvSpPr>
        <p:spPr>
          <a:xfrm>
            <a:off x="4983480" y="2249424"/>
            <a:ext cx="3712464" cy="0"/>
          </a:xfrm>
          <a:prstGeom prst="line">
            <a:avLst/>
          </a:prstGeom>
          <a:noFill/>
          <a:ln w="6350">
            <a:solidFill>
              <a:srgbClr val="DCE1E8"/>
            </a:solidFill>
            <a:prstDash val="solid"/>
          </a:ln>
        </p:spPr>
        <p:txBody>
          <a:bodyPr/>
          <a:lstStyle/>
          <a:p>
            <a:endParaRPr lang="en-US"/>
          </a:p>
        </p:txBody>
      </p:sp>
      <p:sp>
        <p:nvSpPr>
          <p:cNvPr id="56" name="problem map grid"/>
          <p:cNvSpPr/>
          <p:nvPr/>
        </p:nvSpPr>
        <p:spPr>
          <a:xfrm>
            <a:off x="4983480" y="2116836"/>
            <a:ext cx="3712464" cy="0"/>
          </a:xfrm>
          <a:prstGeom prst="line">
            <a:avLst/>
          </a:prstGeom>
          <a:noFill/>
          <a:ln w="6350">
            <a:solidFill>
              <a:srgbClr val="DCE1E8"/>
            </a:solidFill>
            <a:prstDash val="solid"/>
          </a:ln>
        </p:spPr>
        <p:txBody>
          <a:bodyPr/>
          <a:lstStyle/>
          <a:p>
            <a:endParaRPr lang="en-US"/>
          </a:p>
        </p:txBody>
      </p:sp>
      <p:sp>
        <p:nvSpPr>
          <p:cNvPr id="57" name="problem map grid"/>
          <p:cNvSpPr/>
          <p:nvPr/>
        </p:nvSpPr>
        <p:spPr>
          <a:xfrm>
            <a:off x="4983480" y="1984248"/>
            <a:ext cx="3712464" cy="0"/>
          </a:xfrm>
          <a:prstGeom prst="line">
            <a:avLst/>
          </a:prstGeom>
          <a:noFill/>
          <a:ln w="6350">
            <a:solidFill>
              <a:srgbClr val="DCE1E8"/>
            </a:solidFill>
            <a:prstDash val="solid"/>
          </a:ln>
        </p:spPr>
        <p:txBody>
          <a:bodyPr/>
          <a:lstStyle/>
          <a:p>
            <a:endParaRPr lang="en-US"/>
          </a:p>
        </p:txBody>
      </p:sp>
      <p:sp>
        <p:nvSpPr>
          <p:cNvPr id="58" name="problem map grid"/>
          <p:cNvSpPr/>
          <p:nvPr/>
        </p:nvSpPr>
        <p:spPr>
          <a:xfrm>
            <a:off x="4983480" y="1851660"/>
            <a:ext cx="3712464" cy="0"/>
          </a:xfrm>
          <a:prstGeom prst="line">
            <a:avLst/>
          </a:prstGeom>
          <a:noFill/>
          <a:ln w="6350">
            <a:solidFill>
              <a:srgbClr val="DCE1E8"/>
            </a:solidFill>
            <a:prstDash val="solid"/>
          </a:ln>
        </p:spPr>
        <p:txBody>
          <a:bodyPr/>
          <a:lstStyle/>
          <a:p>
            <a:endParaRPr lang="en-US"/>
          </a:p>
        </p:txBody>
      </p:sp>
      <p:sp>
        <p:nvSpPr>
          <p:cNvPr id="59" name="problem map grid"/>
          <p:cNvSpPr/>
          <p:nvPr/>
        </p:nvSpPr>
        <p:spPr>
          <a:xfrm>
            <a:off x="4983480" y="1719072"/>
            <a:ext cx="3712464" cy="0"/>
          </a:xfrm>
          <a:prstGeom prst="line">
            <a:avLst/>
          </a:prstGeom>
          <a:noFill/>
          <a:ln w="6350">
            <a:solidFill>
              <a:srgbClr val="DCE1E8"/>
            </a:solidFill>
            <a:prstDash val="solid"/>
          </a:ln>
        </p:spPr>
        <p:txBody>
          <a:bodyPr/>
          <a:lstStyle/>
          <a:p>
            <a:endParaRPr lang="en-US"/>
          </a:p>
        </p:txBody>
      </p:sp>
      <p:sp>
        <p:nvSpPr>
          <p:cNvPr id="60" name="problem map grid"/>
          <p:cNvSpPr/>
          <p:nvPr/>
        </p:nvSpPr>
        <p:spPr>
          <a:xfrm>
            <a:off x="4983480" y="1586484"/>
            <a:ext cx="3712464" cy="0"/>
          </a:xfrm>
          <a:prstGeom prst="line">
            <a:avLst/>
          </a:prstGeom>
          <a:noFill/>
          <a:ln w="6350">
            <a:solidFill>
              <a:srgbClr val="DCE1E8"/>
            </a:solidFill>
            <a:prstDash val="solid"/>
          </a:ln>
        </p:spPr>
        <p:txBody>
          <a:bodyPr/>
          <a:lstStyle/>
          <a:p>
            <a:endParaRPr lang="en-US"/>
          </a:p>
        </p:txBody>
      </p:sp>
      <p:sp>
        <p:nvSpPr>
          <p:cNvPr id="61" name="problem map grid"/>
          <p:cNvSpPr/>
          <p:nvPr/>
        </p:nvSpPr>
        <p:spPr>
          <a:xfrm>
            <a:off x="4983480" y="1453896"/>
            <a:ext cx="3712464" cy="0"/>
          </a:xfrm>
          <a:prstGeom prst="line">
            <a:avLst/>
          </a:prstGeom>
          <a:noFill/>
          <a:ln w="6350">
            <a:solidFill>
              <a:srgbClr val="DCE1E8"/>
            </a:solidFill>
            <a:prstDash val="solid"/>
          </a:ln>
        </p:spPr>
        <p:txBody>
          <a:bodyPr/>
          <a:lstStyle/>
          <a:p>
            <a:endParaRPr lang="en-US"/>
          </a:p>
        </p:txBody>
      </p:sp>
      <p:sp>
        <p:nvSpPr>
          <p:cNvPr id="62" name="problem map grid"/>
          <p:cNvSpPr/>
          <p:nvPr/>
        </p:nvSpPr>
        <p:spPr>
          <a:xfrm>
            <a:off x="4983480" y="1321308"/>
            <a:ext cx="3712464" cy="0"/>
          </a:xfrm>
          <a:prstGeom prst="line">
            <a:avLst/>
          </a:prstGeom>
          <a:noFill/>
          <a:ln w="6350">
            <a:solidFill>
              <a:srgbClr val="DCE1E8"/>
            </a:solidFill>
            <a:prstDash val="solid"/>
          </a:ln>
        </p:spPr>
        <p:txBody>
          <a:bodyPr/>
          <a:lstStyle/>
          <a:p>
            <a:endParaRPr lang="en-US"/>
          </a:p>
        </p:txBody>
      </p:sp>
      <p:sp>
        <p:nvSpPr>
          <p:cNvPr id="63" name="problem map grid"/>
          <p:cNvSpPr/>
          <p:nvPr/>
        </p:nvSpPr>
        <p:spPr>
          <a:xfrm>
            <a:off x="4983480" y="1188720"/>
            <a:ext cx="3712464" cy="0"/>
          </a:xfrm>
          <a:prstGeom prst="line">
            <a:avLst/>
          </a:prstGeom>
          <a:noFill/>
          <a:ln w="6350">
            <a:solidFill>
              <a:srgbClr val="DCE1E8"/>
            </a:solidFill>
            <a:prstDash val="solid"/>
          </a:ln>
        </p:spPr>
        <p:txBody>
          <a:bodyPr/>
          <a:lstStyle/>
          <a:p>
            <a:endParaRPr lang="en-US"/>
          </a:p>
        </p:txBody>
      </p:sp>
      <p:sp>
        <p:nvSpPr>
          <p:cNvPr id="64" name="vehicle 0 route"/>
          <p:cNvSpPr/>
          <p:nvPr/>
        </p:nvSpPr>
        <p:spPr>
          <a:xfrm>
            <a:off x="7900416" y="1453896"/>
            <a:ext cx="0" cy="1988820"/>
          </a:xfrm>
          <a:prstGeom prst="line">
            <a:avLst/>
          </a:prstGeom>
          <a:noFill/>
          <a:ln w="28575">
            <a:solidFill>
              <a:schemeClr val="accent1"/>
            </a:solidFill>
            <a:prstDash val="solid"/>
          </a:ln>
        </p:spPr>
        <p:txBody>
          <a:bodyPr/>
          <a:lstStyle/>
          <a:p>
            <a:endParaRPr lang="en-US"/>
          </a:p>
        </p:txBody>
      </p:sp>
      <p:sp>
        <p:nvSpPr>
          <p:cNvPr id="65" name="vehicle 0 route"/>
          <p:cNvSpPr/>
          <p:nvPr/>
        </p:nvSpPr>
        <p:spPr>
          <a:xfrm>
            <a:off x="5248656" y="1453896"/>
            <a:ext cx="2651760" cy="0"/>
          </a:xfrm>
          <a:prstGeom prst="line">
            <a:avLst/>
          </a:prstGeom>
          <a:noFill/>
          <a:ln w="28575">
            <a:solidFill>
              <a:schemeClr val="accent1"/>
            </a:solidFill>
            <a:prstDash val="solid"/>
          </a:ln>
        </p:spPr>
        <p:txBody>
          <a:bodyPr/>
          <a:lstStyle/>
          <a:p>
            <a:endParaRPr lang="en-US"/>
          </a:p>
        </p:txBody>
      </p:sp>
      <p:sp>
        <p:nvSpPr>
          <p:cNvPr id="66" name="vehicle 1 route"/>
          <p:cNvSpPr/>
          <p:nvPr/>
        </p:nvSpPr>
        <p:spPr>
          <a:xfrm>
            <a:off x="7900416" y="3442716"/>
            <a:ext cx="0" cy="265176"/>
          </a:xfrm>
          <a:prstGeom prst="line">
            <a:avLst/>
          </a:prstGeom>
          <a:noFill/>
          <a:ln w="28575">
            <a:solidFill>
              <a:schemeClr val="accent3"/>
            </a:solidFill>
            <a:prstDash val="solid"/>
          </a:ln>
        </p:spPr>
        <p:txBody>
          <a:bodyPr/>
          <a:lstStyle/>
          <a:p>
            <a:endParaRPr lang="en-US"/>
          </a:p>
        </p:txBody>
      </p:sp>
      <p:sp>
        <p:nvSpPr>
          <p:cNvPr id="67" name="vehicle 1 route"/>
          <p:cNvSpPr/>
          <p:nvPr/>
        </p:nvSpPr>
        <p:spPr>
          <a:xfrm>
            <a:off x="7900416" y="3707892"/>
            <a:ext cx="397764" cy="0"/>
          </a:xfrm>
          <a:prstGeom prst="line">
            <a:avLst/>
          </a:prstGeom>
          <a:noFill/>
          <a:ln w="28575">
            <a:solidFill>
              <a:schemeClr val="accent3"/>
            </a:solidFill>
            <a:prstDash val="solid"/>
          </a:ln>
        </p:spPr>
        <p:txBody>
          <a:bodyPr/>
          <a:lstStyle/>
          <a:p>
            <a:endParaRPr lang="en-US"/>
          </a:p>
        </p:txBody>
      </p:sp>
      <p:sp>
        <p:nvSpPr>
          <p:cNvPr id="68" name="call 10:45"/>
          <p:cNvSpPr/>
          <p:nvPr/>
        </p:nvSpPr>
        <p:spPr>
          <a:xfrm>
            <a:off x="5148072" y="1353312"/>
            <a:ext cx="201168" cy="201168"/>
          </a:xfrm>
          <a:prstGeom prst="diamond">
            <a:avLst/>
          </a:prstGeom>
          <a:solidFill>
            <a:schemeClr val="accent1"/>
          </a:solidFill>
          <a:ln w="9525">
            <a:solidFill>
              <a:schemeClr val="bg1"/>
            </a:solidFill>
            <a:prstDash val="solid"/>
          </a:ln>
        </p:spPr>
        <p:txBody>
          <a:bodyPr/>
          <a:lstStyle/>
          <a:p>
            <a:endParaRPr lang="en-US"/>
          </a:p>
        </p:txBody>
      </p:sp>
      <p:sp>
        <p:nvSpPr>
          <p:cNvPr id="69" name="call 11:00"/>
          <p:cNvSpPr/>
          <p:nvPr/>
        </p:nvSpPr>
        <p:spPr>
          <a:xfrm>
            <a:off x="8197596" y="3607308"/>
            <a:ext cx="201168" cy="201168"/>
          </a:xfrm>
          <a:prstGeom prst="diamond">
            <a:avLst/>
          </a:prstGeom>
          <a:solidFill>
            <a:schemeClr val="accent3"/>
          </a:solidFill>
          <a:ln w="9525">
            <a:solidFill>
              <a:schemeClr val="bg1"/>
            </a:solidFill>
            <a:prstDash val="solid"/>
          </a:ln>
        </p:spPr>
        <p:txBody>
          <a:bodyPr/>
          <a:lstStyle/>
          <a:p>
            <a:endParaRPr lang="en-US"/>
          </a:p>
        </p:txBody>
      </p:sp>
      <p:sp>
        <p:nvSpPr>
          <p:cNvPr id="70" name="call 16:02"/>
          <p:cNvSpPr/>
          <p:nvPr/>
        </p:nvSpPr>
        <p:spPr>
          <a:xfrm>
            <a:off x="8330184" y="3342132"/>
            <a:ext cx="201168" cy="201168"/>
          </a:xfrm>
          <a:prstGeom prst="diamond">
            <a:avLst/>
          </a:prstGeom>
          <a:solidFill>
            <a:schemeClr val="accent4"/>
          </a:solidFill>
          <a:ln w="9525">
            <a:solidFill>
              <a:schemeClr val="bg1"/>
            </a:solidFill>
            <a:prstDash val="solid"/>
          </a:ln>
        </p:spPr>
        <p:txBody>
          <a:bodyPr/>
          <a:lstStyle/>
          <a:p>
            <a:endParaRPr lang="en-US"/>
          </a:p>
        </p:txBody>
      </p:sp>
      <p:sp>
        <p:nvSpPr>
          <p:cNvPr id="71" name="base"/>
          <p:cNvSpPr/>
          <p:nvPr/>
        </p:nvSpPr>
        <p:spPr>
          <a:xfrm>
            <a:off x="7808976" y="3351276"/>
            <a:ext cx="182880" cy="182880"/>
          </a:xfrm>
          <a:prstGeom prst="rect">
            <a:avLst/>
          </a:prstGeom>
          <a:solidFill>
            <a:schemeClr val="bg1">
              <a:alpha val="0"/>
            </a:schemeClr>
          </a:solidFill>
          <a:ln w="19050">
            <a:solidFill>
              <a:schemeClr val="tx2"/>
            </a:solidFill>
            <a:prstDash val="solid"/>
          </a:ln>
        </p:spPr>
        <p:txBody>
          <a:bodyPr/>
          <a:lstStyle/>
          <a:p>
            <a:endParaRPr lang="en-US"/>
          </a:p>
        </p:txBody>
      </p:sp>
      <p:sp>
        <p:nvSpPr>
          <p:cNvPr id="72" name="Text 69"/>
          <p:cNvSpPr txBox="1"/>
          <p:nvPr/>
        </p:nvSpPr>
        <p:spPr>
          <a:xfrm>
            <a:off x="5020056" y="1069848"/>
            <a:ext cx="548640" cy="201168"/>
          </a:xfrm>
          <a:prstGeom prst="rect">
            <a:avLst/>
          </a:prstGeom>
          <a:noFill/>
          <a:ln/>
        </p:spPr>
        <p:txBody>
          <a:bodyPr wrap="square" lIns="0" tIns="0" rIns="0" bIns="0" rtlCol="0" anchor="t"/>
          <a:lstStyle/>
          <a:p>
            <a:pPr marL="0" indent="0">
              <a:buNone/>
            </a:pPr>
            <a:r>
              <a:rPr lang="en-US" sz="1100" b="1" dirty="0">
                <a:solidFill>
                  <a:schemeClr val="accent1"/>
                </a:solidFill>
              </a:rPr>
              <a:t>10:45</a:t>
            </a:r>
            <a:endParaRPr lang="en-US" sz="1100" dirty="0"/>
          </a:p>
        </p:txBody>
      </p:sp>
      <p:sp>
        <p:nvSpPr>
          <p:cNvPr id="73" name="Text 70"/>
          <p:cNvSpPr txBox="1"/>
          <p:nvPr/>
        </p:nvSpPr>
        <p:spPr>
          <a:xfrm>
            <a:off x="8343900" y="3799332"/>
            <a:ext cx="548640" cy="201168"/>
          </a:xfrm>
          <a:prstGeom prst="rect">
            <a:avLst/>
          </a:prstGeom>
          <a:noFill/>
          <a:ln/>
        </p:spPr>
        <p:txBody>
          <a:bodyPr wrap="square" lIns="0" tIns="0" rIns="0" bIns="0" rtlCol="0" anchor="t"/>
          <a:lstStyle/>
          <a:p>
            <a:pPr marL="0" indent="0">
              <a:buNone/>
            </a:pPr>
            <a:r>
              <a:rPr lang="en-US" sz="1100" b="1" dirty="0">
                <a:solidFill>
                  <a:schemeClr val="accent3"/>
                </a:solidFill>
              </a:rPr>
              <a:t>11:00</a:t>
            </a:r>
            <a:endParaRPr lang="en-US" sz="1100" dirty="0"/>
          </a:p>
        </p:txBody>
      </p:sp>
      <p:sp>
        <p:nvSpPr>
          <p:cNvPr id="74" name="Text 71"/>
          <p:cNvSpPr txBox="1"/>
          <p:nvPr/>
        </p:nvSpPr>
        <p:spPr>
          <a:xfrm>
            <a:off x="8385048" y="3076956"/>
            <a:ext cx="548640" cy="201168"/>
          </a:xfrm>
          <a:prstGeom prst="rect">
            <a:avLst/>
          </a:prstGeom>
          <a:noFill/>
          <a:ln/>
        </p:spPr>
        <p:txBody>
          <a:bodyPr wrap="square" lIns="0" tIns="0" rIns="0" bIns="0" rtlCol="0" anchor="t"/>
          <a:lstStyle/>
          <a:p>
            <a:pPr marL="0" indent="0">
              <a:buNone/>
            </a:pPr>
            <a:r>
              <a:rPr lang="en-US" sz="1100" b="1" dirty="0">
                <a:solidFill>
                  <a:schemeClr val="accent4"/>
                </a:solidFill>
              </a:rPr>
              <a:t>16:02</a:t>
            </a:r>
            <a:endParaRPr lang="en-US" sz="1100" dirty="0"/>
          </a:p>
        </p:txBody>
      </p:sp>
      <p:sp>
        <p:nvSpPr>
          <p:cNvPr id="75" name="Text 72"/>
          <p:cNvSpPr txBox="1"/>
          <p:nvPr/>
        </p:nvSpPr>
        <p:spPr>
          <a:xfrm>
            <a:off x="7351776" y="3515868"/>
            <a:ext cx="502920" cy="201168"/>
          </a:xfrm>
          <a:prstGeom prst="rect">
            <a:avLst/>
          </a:prstGeom>
          <a:noFill/>
          <a:ln/>
        </p:spPr>
        <p:txBody>
          <a:bodyPr wrap="square" lIns="0" tIns="0" rIns="0" bIns="0" rtlCol="0" anchor="t"/>
          <a:lstStyle/>
          <a:p>
            <a:pPr marL="0" indent="0" algn="r">
              <a:buNone/>
            </a:pPr>
            <a:r>
              <a:rPr lang="en-US" sz="1100" dirty="0">
                <a:solidFill>
                  <a:schemeClr val="tx2"/>
                </a:solidFill>
              </a:rPr>
              <a:t>Base</a:t>
            </a:r>
            <a:endParaRPr lang="en-US" sz="1100" dirty="0"/>
          </a:p>
        </p:txBody>
      </p:sp>
      <p:sp>
        <p:nvSpPr>
          <p:cNvPr id="76" name="Text 73"/>
          <p:cNvSpPr txBox="1"/>
          <p:nvPr/>
        </p:nvSpPr>
        <p:spPr>
          <a:xfrm>
            <a:off x="4983480" y="4110228"/>
            <a:ext cx="3703320" cy="411480"/>
          </a:xfrm>
          <a:prstGeom prst="rect">
            <a:avLst/>
          </a:prstGeom>
          <a:noFill/>
          <a:ln/>
        </p:spPr>
        <p:txBody>
          <a:bodyPr wrap="square" lIns="0" tIns="0" rIns="0" bIns="0" rtlCol="0" anchor="t"/>
          <a:lstStyle/>
          <a:p>
            <a:pPr marL="0" indent="0">
              <a:buNone/>
            </a:pPr>
            <a:r>
              <a:rPr lang="en-US" sz="1200" dirty="0">
                <a:solidFill>
                  <a:schemeClr val="accent6"/>
                </a:solidFill>
              </a:rPr>
              <a:t>Vehicle 0: 15 minutes north, then 20 west. The north/south leg always comes first.</a:t>
            </a:r>
            <a:endParaRPr lang="en-US" sz="1200" dirty="0"/>
          </a:p>
        </p:txBody>
      </p:sp>
      <p:sp>
        <p:nvSpPr>
          <p:cNvPr id="77"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The rules</a:t>
            </a:r>
            <a:endParaRPr lang="en-US" sz="3600" dirty="0"/>
          </a:p>
        </p:txBody>
      </p:sp>
      <p:sp>
        <p:nvSpPr>
          <p:cNvPr id="3" name="rule 1"/>
          <p:cNvSpPr/>
          <p:nvPr/>
        </p:nvSpPr>
        <p:spPr>
          <a:xfrm>
            <a:off x="457200" y="1097280"/>
            <a:ext cx="40233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4" name="Calls as they come circle"/>
          <p:cNvSpPr/>
          <p:nvPr/>
        </p:nvSpPr>
        <p:spPr>
          <a:xfrm>
            <a:off x="640080" y="1289304"/>
            <a:ext cx="530352" cy="530352"/>
          </a:xfrm>
          <a:prstGeom prst="ellipse">
            <a:avLst/>
          </a:prstGeom>
          <a:solidFill>
            <a:schemeClr val="accent1"/>
          </a:solidFill>
          <a:ln w="12700">
            <a:solidFill>
              <a:schemeClr val="accent1"/>
            </a:solidFill>
            <a:prstDash val="solid"/>
          </a:ln>
        </p:spPr>
        <p:txBody>
          <a:bodyPr/>
          <a:lstStyle/>
          <a:p>
            <a:endParaRPr lang="en-US"/>
          </a:p>
        </p:txBody>
      </p:sp>
      <p:pic>
        <p:nvPicPr>
          <p:cNvPr id="5" name="Calls as they come icon" descr="Calls as they come"/>
          <p:cNvPicPr>
            <a:picLocks noChangeAspect="1"/>
          </p:cNvPicPr>
          <p:nvPr/>
        </p:nvPicPr>
        <p:blipFill>
          <a:blip r:embed="rId3"/>
          <a:stretch>
            <a:fillRect/>
          </a:stretch>
        </p:blipFill>
        <p:spPr>
          <a:xfrm>
            <a:off x="767364" y="1416588"/>
            <a:ext cx="275783" cy="275783"/>
          </a:xfrm>
          <a:prstGeom prst="rect">
            <a:avLst/>
          </a:prstGeom>
        </p:spPr>
      </p:pic>
      <p:sp>
        <p:nvSpPr>
          <p:cNvPr id="6" name="Text 3"/>
          <p:cNvSpPr txBox="1"/>
          <p:nvPr/>
        </p:nvSpPr>
        <p:spPr>
          <a:xfrm>
            <a:off x="1353312" y="1216152"/>
            <a:ext cx="3017520" cy="274320"/>
          </a:xfrm>
          <a:prstGeom prst="rect">
            <a:avLst/>
          </a:prstGeom>
          <a:noFill/>
          <a:ln/>
        </p:spPr>
        <p:txBody>
          <a:bodyPr wrap="square" lIns="0" tIns="0" rIns="0" bIns="0" rtlCol="0" anchor="t"/>
          <a:lstStyle/>
          <a:p>
            <a:pPr marL="0" indent="0">
              <a:buNone/>
            </a:pPr>
            <a:r>
              <a:rPr lang="en-US" sz="1600" b="1" dirty="0">
                <a:solidFill>
                  <a:schemeClr val="tx2"/>
                </a:solidFill>
              </a:rPr>
              <a:t>Calls as they come</a:t>
            </a:r>
            <a:endParaRPr lang="en-US" sz="1600" dirty="0"/>
          </a:p>
        </p:txBody>
      </p:sp>
      <p:sp>
        <p:nvSpPr>
          <p:cNvPr id="7" name="Text 4"/>
          <p:cNvSpPr txBox="1"/>
          <p:nvPr/>
        </p:nvSpPr>
        <p:spPr>
          <a:xfrm>
            <a:off x="1353312" y="1508760"/>
            <a:ext cx="3017520" cy="457200"/>
          </a:xfrm>
          <a:prstGeom prst="rect">
            <a:avLst/>
          </a:prstGeom>
          <a:noFill/>
          <a:ln/>
        </p:spPr>
        <p:txBody>
          <a:bodyPr wrap="square" lIns="0" tIns="0" rIns="0" bIns="0" rtlCol="0" anchor="t"/>
          <a:lstStyle/>
          <a:p>
            <a:pPr marL="0" indent="0">
              <a:buNone/>
            </a:pPr>
            <a:r>
              <a:rPr lang="en-US" sz="1400" dirty="0">
                <a:solidFill>
                  <a:schemeClr val="tx1"/>
                </a:solidFill>
              </a:rPr>
              <a:t>No decision may use a call before its time comes</a:t>
            </a:r>
            <a:endParaRPr lang="en-US" sz="1400" dirty="0"/>
          </a:p>
        </p:txBody>
      </p:sp>
      <p:sp>
        <p:nvSpPr>
          <p:cNvPr id="8" name="rule 2"/>
          <p:cNvSpPr/>
          <p:nvPr/>
        </p:nvSpPr>
        <p:spPr>
          <a:xfrm>
            <a:off x="4663440" y="1097280"/>
            <a:ext cx="40233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9" name="Grid travel circle"/>
          <p:cNvSpPr/>
          <p:nvPr/>
        </p:nvSpPr>
        <p:spPr>
          <a:xfrm>
            <a:off x="4846320" y="1289304"/>
            <a:ext cx="530352" cy="530352"/>
          </a:xfrm>
          <a:prstGeom prst="ellipse">
            <a:avLst/>
          </a:prstGeom>
          <a:solidFill>
            <a:schemeClr val="tx2"/>
          </a:solidFill>
          <a:ln w="12700">
            <a:solidFill>
              <a:schemeClr val="tx2"/>
            </a:solidFill>
            <a:prstDash val="solid"/>
          </a:ln>
        </p:spPr>
        <p:txBody>
          <a:bodyPr/>
          <a:lstStyle/>
          <a:p>
            <a:endParaRPr lang="en-US"/>
          </a:p>
        </p:txBody>
      </p:sp>
      <p:pic>
        <p:nvPicPr>
          <p:cNvPr id="10" name="Grid travel icon" descr="Grid travel"/>
          <p:cNvPicPr>
            <a:picLocks noChangeAspect="1"/>
          </p:cNvPicPr>
          <p:nvPr/>
        </p:nvPicPr>
        <p:blipFill>
          <a:blip r:embed="rId4"/>
          <a:stretch>
            <a:fillRect/>
          </a:stretch>
        </p:blipFill>
        <p:spPr>
          <a:xfrm>
            <a:off x="4973604" y="1416588"/>
            <a:ext cx="275783" cy="275783"/>
          </a:xfrm>
          <a:prstGeom prst="rect">
            <a:avLst/>
          </a:prstGeom>
        </p:spPr>
      </p:pic>
      <p:sp>
        <p:nvSpPr>
          <p:cNvPr id="11" name="Text 7"/>
          <p:cNvSpPr txBox="1"/>
          <p:nvPr/>
        </p:nvSpPr>
        <p:spPr>
          <a:xfrm>
            <a:off x="5559552" y="1216152"/>
            <a:ext cx="3017520" cy="274320"/>
          </a:xfrm>
          <a:prstGeom prst="rect">
            <a:avLst/>
          </a:prstGeom>
          <a:noFill/>
          <a:ln/>
        </p:spPr>
        <p:txBody>
          <a:bodyPr wrap="square" lIns="0" tIns="0" rIns="0" bIns="0" rtlCol="0" anchor="t"/>
          <a:lstStyle/>
          <a:p>
            <a:pPr marL="0" indent="0">
              <a:buNone/>
            </a:pPr>
            <a:r>
              <a:rPr lang="en-US" sz="1600" b="1" dirty="0">
                <a:solidFill>
                  <a:schemeClr val="tx2"/>
                </a:solidFill>
              </a:rPr>
              <a:t>Grid travel</a:t>
            </a:r>
            <a:endParaRPr lang="en-US" sz="1600" dirty="0"/>
          </a:p>
        </p:txBody>
      </p:sp>
      <p:sp>
        <p:nvSpPr>
          <p:cNvPr id="12" name="Text 8"/>
          <p:cNvSpPr txBox="1"/>
          <p:nvPr/>
        </p:nvSpPr>
        <p:spPr>
          <a:xfrm>
            <a:off x="5559552" y="1508760"/>
            <a:ext cx="3017520" cy="457200"/>
          </a:xfrm>
          <a:prstGeom prst="rect">
            <a:avLst/>
          </a:prstGeom>
          <a:noFill/>
          <a:ln/>
        </p:spPr>
        <p:txBody>
          <a:bodyPr wrap="square" lIns="0" tIns="0" rIns="0" bIns="0" rtlCol="0" anchor="t"/>
          <a:lstStyle/>
          <a:p>
            <a:pPr marL="0" indent="0">
              <a:buNone/>
            </a:pPr>
            <a:r>
              <a:rPr lang="en-US" sz="1400" dirty="0">
                <a:solidFill>
                  <a:schemeClr val="tx1"/>
                </a:solidFill>
              </a:rPr>
              <a:t>1 minute per block, north/south leg first</a:t>
            </a:r>
            <a:endParaRPr lang="en-US" sz="1400" dirty="0"/>
          </a:p>
        </p:txBody>
      </p:sp>
      <p:sp>
        <p:nvSpPr>
          <p:cNvPr id="13" name="rule 3"/>
          <p:cNvSpPr/>
          <p:nvPr/>
        </p:nvSpPr>
        <p:spPr>
          <a:xfrm>
            <a:off x="457200" y="2240280"/>
            <a:ext cx="40233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4" name="Committed once driving circle"/>
          <p:cNvSpPr/>
          <p:nvPr/>
        </p:nvSpPr>
        <p:spPr>
          <a:xfrm>
            <a:off x="640080" y="2432304"/>
            <a:ext cx="530352" cy="530352"/>
          </a:xfrm>
          <a:prstGeom prst="ellipse">
            <a:avLst/>
          </a:prstGeom>
          <a:solidFill>
            <a:schemeClr val="tx2"/>
          </a:solidFill>
          <a:ln w="12700">
            <a:solidFill>
              <a:schemeClr val="tx2"/>
            </a:solidFill>
            <a:prstDash val="solid"/>
          </a:ln>
        </p:spPr>
        <p:txBody>
          <a:bodyPr/>
          <a:lstStyle/>
          <a:p>
            <a:endParaRPr lang="en-US"/>
          </a:p>
        </p:txBody>
      </p:sp>
      <p:pic>
        <p:nvPicPr>
          <p:cNvPr id="15" name="Committed once driving icon" descr="Committed once driving"/>
          <p:cNvPicPr>
            <a:picLocks noChangeAspect="1"/>
          </p:cNvPicPr>
          <p:nvPr/>
        </p:nvPicPr>
        <p:blipFill>
          <a:blip r:embed="rId5"/>
          <a:stretch>
            <a:fillRect/>
          </a:stretch>
        </p:blipFill>
        <p:spPr>
          <a:xfrm>
            <a:off x="767364" y="2559588"/>
            <a:ext cx="275783" cy="275783"/>
          </a:xfrm>
          <a:prstGeom prst="rect">
            <a:avLst/>
          </a:prstGeom>
        </p:spPr>
      </p:pic>
      <p:sp>
        <p:nvSpPr>
          <p:cNvPr id="16" name="Text 11"/>
          <p:cNvSpPr txBox="1"/>
          <p:nvPr/>
        </p:nvSpPr>
        <p:spPr>
          <a:xfrm>
            <a:off x="1353312" y="2359152"/>
            <a:ext cx="3017520" cy="274320"/>
          </a:xfrm>
          <a:prstGeom prst="rect">
            <a:avLst/>
          </a:prstGeom>
          <a:noFill/>
          <a:ln/>
        </p:spPr>
        <p:txBody>
          <a:bodyPr wrap="square" lIns="0" tIns="0" rIns="0" bIns="0" rtlCol="0" anchor="t"/>
          <a:lstStyle/>
          <a:p>
            <a:pPr marL="0" indent="0">
              <a:buNone/>
            </a:pPr>
            <a:r>
              <a:rPr lang="en-US" sz="1600" b="1" dirty="0">
                <a:solidFill>
                  <a:schemeClr val="tx2"/>
                </a:solidFill>
              </a:rPr>
              <a:t>Committed once driving</a:t>
            </a:r>
            <a:endParaRPr lang="en-US" sz="1600" dirty="0"/>
          </a:p>
        </p:txBody>
      </p:sp>
      <p:sp>
        <p:nvSpPr>
          <p:cNvPr id="17" name="Text 12"/>
          <p:cNvSpPr txBox="1"/>
          <p:nvPr/>
        </p:nvSpPr>
        <p:spPr>
          <a:xfrm>
            <a:off x="1353312" y="2651760"/>
            <a:ext cx="3017520" cy="457200"/>
          </a:xfrm>
          <a:prstGeom prst="rect">
            <a:avLst/>
          </a:prstGeom>
          <a:noFill/>
          <a:ln/>
        </p:spPr>
        <p:txBody>
          <a:bodyPr wrap="square" lIns="0" tIns="0" rIns="0" bIns="0" rtlCol="0" anchor="t"/>
          <a:lstStyle/>
          <a:p>
            <a:pPr marL="0" indent="0">
              <a:buNone/>
            </a:pPr>
            <a:r>
              <a:rPr lang="en-US" sz="1400" dirty="0">
                <a:solidFill>
                  <a:schemeClr val="tx1"/>
                </a:solidFill>
              </a:rPr>
              <a:t>Calls still waiting in a queue can be reassigned</a:t>
            </a:r>
            <a:endParaRPr lang="en-US" sz="1400" dirty="0"/>
          </a:p>
        </p:txBody>
      </p:sp>
      <p:sp>
        <p:nvSpPr>
          <p:cNvPr id="18" name="rule 4"/>
          <p:cNvSpPr/>
          <p:nvPr/>
        </p:nvSpPr>
        <p:spPr>
          <a:xfrm>
            <a:off x="4663440" y="2240280"/>
            <a:ext cx="40233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9" name="Wait anywhere circle"/>
          <p:cNvSpPr/>
          <p:nvPr/>
        </p:nvSpPr>
        <p:spPr>
          <a:xfrm>
            <a:off x="4846320" y="2432304"/>
            <a:ext cx="530352" cy="530352"/>
          </a:xfrm>
          <a:prstGeom prst="ellipse">
            <a:avLst/>
          </a:prstGeom>
          <a:solidFill>
            <a:schemeClr val="tx2"/>
          </a:solidFill>
          <a:ln w="12700">
            <a:solidFill>
              <a:schemeClr val="tx2"/>
            </a:solidFill>
            <a:prstDash val="solid"/>
          </a:ln>
        </p:spPr>
        <p:txBody>
          <a:bodyPr/>
          <a:lstStyle/>
          <a:p>
            <a:endParaRPr lang="en-US"/>
          </a:p>
        </p:txBody>
      </p:sp>
      <p:pic>
        <p:nvPicPr>
          <p:cNvPr id="20" name="Wait anywhere icon" descr="Wait anywhere"/>
          <p:cNvPicPr>
            <a:picLocks noChangeAspect="1"/>
          </p:cNvPicPr>
          <p:nvPr/>
        </p:nvPicPr>
        <p:blipFill>
          <a:blip r:embed="rId6"/>
          <a:stretch>
            <a:fillRect/>
          </a:stretch>
        </p:blipFill>
        <p:spPr>
          <a:xfrm>
            <a:off x="4973604" y="2559588"/>
            <a:ext cx="275783" cy="275783"/>
          </a:xfrm>
          <a:prstGeom prst="rect">
            <a:avLst/>
          </a:prstGeom>
        </p:spPr>
      </p:pic>
      <p:sp>
        <p:nvSpPr>
          <p:cNvPr id="21" name="Text 15"/>
          <p:cNvSpPr txBox="1"/>
          <p:nvPr/>
        </p:nvSpPr>
        <p:spPr>
          <a:xfrm>
            <a:off x="5559552" y="2359152"/>
            <a:ext cx="3017520" cy="274320"/>
          </a:xfrm>
          <a:prstGeom prst="rect">
            <a:avLst/>
          </a:prstGeom>
          <a:noFill/>
          <a:ln/>
        </p:spPr>
        <p:txBody>
          <a:bodyPr wrap="square" lIns="0" tIns="0" rIns="0" bIns="0" rtlCol="0" anchor="t"/>
          <a:lstStyle/>
          <a:p>
            <a:pPr marL="0" indent="0">
              <a:buNone/>
            </a:pPr>
            <a:r>
              <a:rPr lang="en-US" sz="1600" b="1" dirty="0">
                <a:solidFill>
                  <a:schemeClr val="tx2"/>
                </a:solidFill>
              </a:rPr>
              <a:t>Wait anywhere</a:t>
            </a:r>
            <a:endParaRPr lang="en-US" sz="1600" dirty="0"/>
          </a:p>
        </p:txBody>
      </p:sp>
      <p:sp>
        <p:nvSpPr>
          <p:cNvPr id="22" name="Text 16"/>
          <p:cNvSpPr txBox="1"/>
          <p:nvPr/>
        </p:nvSpPr>
        <p:spPr>
          <a:xfrm>
            <a:off x="5559552" y="2651760"/>
            <a:ext cx="3017520" cy="457200"/>
          </a:xfrm>
          <a:prstGeom prst="rect">
            <a:avLst/>
          </a:prstGeom>
          <a:noFill/>
          <a:ln/>
        </p:spPr>
        <p:txBody>
          <a:bodyPr wrap="square" lIns="0" tIns="0" rIns="0" bIns="0" rtlCol="0" anchor="t"/>
          <a:lstStyle/>
          <a:p>
            <a:pPr marL="0" indent="0">
              <a:buNone/>
            </a:pPr>
            <a:r>
              <a:rPr lang="en-US" sz="1400" dirty="0">
                <a:solidFill>
                  <a:schemeClr val="tx1"/>
                </a:solidFill>
              </a:rPr>
              <a:t>Idle vehicles may park away from base</a:t>
            </a:r>
            <a:endParaRPr lang="en-US" sz="1400" dirty="0"/>
          </a:p>
        </p:txBody>
      </p:sp>
      <p:sp>
        <p:nvSpPr>
          <p:cNvPr id="23" name="rule 5"/>
          <p:cNvSpPr/>
          <p:nvPr/>
        </p:nvSpPr>
        <p:spPr>
          <a:xfrm>
            <a:off x="457200" y="3383280"/>
            <a:ext cx="4023360" cy="9144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24" name="Midnight ends the day circle"/>
          <p:cNvSpPr/>
          <p:nvPr/>
        </p:nvSpPr>
        <p:spPr>
          <a:xfrm>
            <a:off x="640080" y="3575304"/>
            <a:ext cx="530352" cy="530352"/>
          </a:xfrm>
          <a:prstGeom prst="ellipse">
            <a:avLst/>
          </a:prstGeom>
          <a:solidFill>
            <a:schemeClr val="accent1"/>
          </a:solidFill>
          <a:ln w="12700">
            <a:solidFill>
              <a:schemeClr val="accent1"/>
            </a:solidFill>
            <a:prstDash val="solid"/>
          </a:ln>
        </p:spPr>
        <p:txBody>
          <a:bodyPr/>
          <a:lstStyle/>
          <a:p>
            <a:endParaRPr lang="en-US"/>
          </a:p>
        </p:txBody>
      </p:sp>
      <p:pic>
        <p:nvPicPr>
          <p:cNvPr id="25" name="Midnight ends the day icon" descr="Midnight ends the day"/>
          <p:cNvPicPr>
            <a:picLocks noChangeAspect="1"/>
          </p:cNvPicPr>
          <p:nvPr/>
        </p:nvPicPr>
        <p:blipFill>
          <a:blip r:embed="rId7"/>
          <a:stretch>
            <a:fillRect/>
          </a:stretch>
        </p:blipFill>
        <p:spPr>
          <a:xfrm>
            <a:off x="767364" y="3702588"/>
            <a:ext cx="275783" cy="275783"/>
          </a:xfrm>
          <a:prstGeom prst="rect">
            <a:avLst/>
          </a:prstGeom>
        </p:spPr>
      </p:pic>
      <p:sp>
        <p:nvSpPr>
          <p:cNvPr id="26" name="Text 19"/>
          <p:cNvSpPr txBox="1"/>
          <p:nvPr/>
        </p:nvSpPr>
        <p:spPr>
          <a:xfrm>
            <a:off x="1353312" y="3502152"/>
            <a:ext cx="3017520" cy="274320"/>
          </a:xfrm>
          <a:prstGeom prst="rect">
            <a:avLst/>
          </a:prstGeom>
          <a:noFill/>
          <a:ln/>
        </p:spPr>
        <p:txBody>
          <a:bodyPr wrap="square" lIns="0" tIns="0" rIns="0" bIns="0" rtlCol="0" anchor="t"/>
          <a:lstStyle/>
          <a:p>
            <a:pPr marL="0" indent="0">
              <a:buNone/>
            </a:pPr>
            <a:r>
              <a:rPr lang="en-US" sz="1600" b="1" dirty="0">
                <a:solidFill>
                  <a:schemeClr val="tx2"/>
                </a:solidFill>
              </a:rPr>
              <a:t>Midnight ends the day</a:t>
            </a:r>
            <a:endParaRPr lang="en-US" sz="1600" dirty="0"/>
          </a:p>
        </p:txBody>
      </p:sp>
      <p:sp>
        <p:nvSpPr>
          <p:cNvPr id="27" name="Text 20"/>
          <p:cNvSpPr txBox="1"/>
          <p:nvPr/>
        </p:nvSpPr>
        <p:spPr>
          <a:xfrm>
            <a:off x="1353312" y="3794760"/>
            <a:ext cx="3017520" cy="457200"/>
          </a:xfrm>
          <a:prstGeom prst="rect">
            <a:avLst/>
          </a:prstGeom>
          <a:noFill/>
          <a:ln/>
        </p:spPr>
        <p:txBody>
          <a:bodyPr wrap="square" lIns="0" tIns="0" rIns="0" bIns="0" rtlCol="0" anchor="t"/>
          <a:lstStyle/>
          <a:p>
            <a:pPr marL="0" indent="0">
              <a:buNone/>
            </a:pPr>
            <a:r>
              <a:rPr lang="en-US" sz="1400" dirty="0">
                <a:solidFill>
                  <a:schemeClr val="tx1"/>
                </a:solidFill>
              </a:rPr>
              <a:t>No calls after 00:00: finish the queue, then go home</a:t>
            </a:r>
            <a:endParaRPr lang="en-US" sz="1400" dirty="0"/>
          </a:p>
        </p:txBody>
      </p:sp>
      <p:pic>
        <p:nvPicPr>
          <p:cNvPr id="30" name="Confirmed with organizers icon" descr="Confirmed with organizers"/>
          <p:cNvPicPr>
            <a:picLocks noChangeAspect="1"/>
          </p:cNvPicPr>
          <p:nvPr/>
        </p:nvPicPr>
        <p:blipFill>
          <a:blip r:embed="rId8"/>
          <a:stretch>
            <a:fillRect/>
          </a:stretch>
        </p:blipFill>
        <p:spPr>
          <a:xfrm>
            <a:off x="4973604" y="3702588"/>
            <a:ext cx="275783" cy="275783"/>
          </a:xfrm>
          <a:prstGeom prst="rect">
            <a:avLst/>
          </a:prstGeom>
        </p:spPr>
      </p:pic>
      <p:sp>
        <p:nvSpPr>
          <p:cNvPr id="33"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Three approaches</a:t>
            </a:r>
            <a:endParaRPr lang="en-US" sz="3600" dirty="0"/>
          </a:p>
        </p:txBody>
      </p:sp>
      <p:graphicFrame>
        <p:nvGraphicFramePr>
          <p:cNvPr id="5" name="approach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191256"/>
        </p:xfrm>
        <a:graphic>
          <a:graphicData uri="http://schemas.openxmlformats.org/drawingml/2006/table">
            <a:tbl>
              <a:tblPr/>
              <a:tblGrid>
                <a:gridCol w="13716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411480">
                <a:tc>
                  <a:txBody>
                    <a:bodyPr/>
                    <a:lstStyle/>
                    <a:p>
                      <a:pPr marL="0" indent="0">
                        <a:buNone/>
                      </a:pP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l">
                        <a:buNone/>
                      </a:pPr>
                      <a:r>
                        <a:rPr lang="en-US" sz="1600" b="1" dirty="0">
                          <a:solidFill>
                            <a:schemeClr val="bg1"/>
                          </a:solidFill>
                        </a:rPr>
                        <a:t>Greedy</a:t>
                      </a:r>
                      <a:endParaRPr lang="en-US" sz="16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c>
                  <a:txBody>
                    <a:bodyPr/>
                    <a:lstStyle/>
                    <a:p>
                      <a:pPr marL="0" indent="0" algn="l">
                        <a:buNone/>
                      </a:pPr>
                      <a:r>
                        <a:rPr lang="en-US" sz="1600" b="1" dirty="0">
                          <a:solidFill>
                            <a:schemeClr val="bg1"/>
                          </a:solidFill>
                        </a:rPr>
                        <a:t>Ours (online)</a:t>
                      </a:r>
                      <a:endParaRPr lang="en-US" sz="16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1"/>
                    </a:solidFill>
                  </a:tcPr>
                </a:tc>
                <a:tc>
                  <a:txBody>
                    <a:bodyPr/>
                    <a:lstStyle/>
                    <a:p>
                      <a:pPr marL="0" indent="0" algn="l">
                        <a:buNone/>
                      </a:pPr>
                      <a:r>
                        <a:rPr lang="en-US" sz="1600" b="1" dirty="0">
                          <a:solidFill>
                            <a:schemeClr val="bg1"/>
                          </a:solidFill>
                        </a:rPr>
                        <a:t>CP-SAT (hindsight)</a:t>
                      </a:r>
                      <a:endParaRPr lang="en-US" sz="16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2"/>
                          </a:solidFill>
                        </a:rPr>
                        <a:t>Sees</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Calls that have come in</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Calls that have come in</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The whole day, in advance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400" b="1" dirty="0">
                          <a:solidFill>
                            <a:schemeClr val="tx2"/>
                          </a:solidFill>
                        </a:rPr>
                        <a:t>Who goes</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Soonest arrival, in call order; never revisited</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Re-plans every waiting call at each event</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Optimal routes for the whole day</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400" b="1" dirty="0">
                          <a:solidFill>
                            <a:schemeClr val="tx2"/>
                          </a:solidFill>
                        </a:rPr>
                        <a:t>Queue order</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First come, first served</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Least total delay: exact up to 12 calls, local search beyond</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Optimal</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b="1" dirty="0">
                          <a:solidFill>
                            <a:schemeClr val="tx2"/>
                          </a:solidFill>
                        </a:rPr>
                        <a:t>Idle vehicles</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Return to base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Wait at spots near past calls</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Return to base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621792">
                <a:tc>
                  <a:txBody>
                    <a:bodyPr/>
                    <a:lstStyle/>
                    <a:p>
                      <a:pPr marL="0" indent="0">
                        <a:buNone/>
                      </a:pPr>
                      <a:r>
                        <a:rPr lang="en-US" sz="1400" b="1" dirty="0">
                          <a:solidFill>
                            <a:schemeClr val="tx2"/>
                          </a:solidFill>
                        </a:rPr>
                        <a:t>Role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Baseline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Our submission</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buNone/>
                      </a:pPr>
                      <a:r>
                        <a:rPr lang="en-US" sz="1400" dirty="0">
                          <a:solidFill>
                            <a:schemeClr val="tx1"/>
                          </a:solidFill>
                        </a:rPr>
                        <a:t>Yardstick: breaks the as-they-come rule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Greedy vs ours: one queue</a:t>
            </a:r>
            <a:endParaRPr lang="en-US" sz="3600" dirty="0"/>
          </a:p>
        </p:txBody>
      </p:sp>
      <p:sp>
        <p:nvSpPr>
          <p:cNvPr id="3" name="Text 1"/>
          <p:cNvSpPr txBox="1"/>
          <p:nvPr/>
        </p:nvSpPr>
        <p:spPr>
          <a:xfrm>
            <a:off x="457200" y="1051560"/>
            <a:ext cx="8229600" cy="274320"/>
          </a:xfrm>
          <a:prstGeom prst="rect">
            <a:avLst/>
          </a:prstGeom>
          <a:noFill/>
          <a:ln/>
        </p:spPr>
        <p:txBody>
          <a:bodyPr wrap="square" lIns="0" tIns="0" rIns="0" bIns="0" rtlCol="0" anchor="t"/>
          <a:lstStyle/>
          <a:p>
            <a:pPr marL="0" indent="0">
              <a:buNone/>
            </a:pPr>
            <a:r>
              <a:rPr lang="en-US" sz="1400" dirty="0">
                <a:solidFill>
                  <a:schemeClr val="tx1"/>
                </a:solidFill>
              </a:rPr>
              <a:t>One vehicle is busy at base until 09:30. Three calls come in meanwhile:</a:t>
            </a:r>
            <a:endParaRPr lang="en-US" sz="1400" dirty="0"/>
          </a:p>
        </p:txBody>
      </p:sp>
      <p:sp>
        <p:nvSpPr>
          <p:cNvPr id="4" name="call A chip"/>
          <p:cNvSpPr/>
          <p:nvPr/>
        </p:nvSpPr>
        <p:spPr>
          <a:xfrm>
            <a:off x="457200" y="1444752"/>
            <a:ext cx="310896" cy="310896"/>
          </a:xfrm>
          <a:prstGeom prst="roundRect">
            <a:avLst>
              <a:gd name="adj" fmla="val 14706"/>
            </a:avLst>
          </a:prstGeom>
          <a:solidFill>
            <a:schemeClr val="accent4"/>
          </a:solidFill>
          <a:ln w="12700">
            <a:solidFill>
              <a:schemeClr val="accent4"/>
            </a:solidFill>
            <a:prstDash val="solid"/>
          </a:ln>
        </p:spPr>
        <p:txBody>
          <a:bodyPr/>
          <a:lstStyle/>
          <a:p>
            <a:endParaRPr lang="en-US"/>
          </a:p>
        </p:txBody>
      </p:sp>
      <p:sp>
        <p:nvSpPr>
          <p:cNvPr id="5" name="Text 3"/>
          <p:cNvSpPr txBox="1"/>
          <p:nvPr/>
        </p:nvSpPr>
        <p:spPr>
          <a:xfrm>
            <a:off x="457200" y="1444752"/>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6" name="Text 4"/>
          <p:cNvSpPr txBox="1"/>
          <p:nvPr/>
        </p:nvSpPr>
        <p:spPr>
          <a:xfrm>
            <a:off x="868680" y="1444752"/>
            <a:ext cx="2286000" cy="310896"/>
          </a:xfrm>
          <a:prstGeom prst="rect">
            <a:avLst/>
          </a:prstGeom>
          <a:noFill/>
          <a:ln/>
        </p:spPr>
        <p:txBody>
          <a:bodyPr wrap="square" lIns="0" tIns="0" rIns="0" bIns="0" rtlCol="0" anchor="ctr"/>
          <a:lstStyle/>
          <a:p>
            <a:pPr marL="0" indent="0">
              <a:buNone/>
            </a:pPr>
            <a:r>
              <a:rPr lang="en-US" sz="1400" dirty="0">
                <a:solidFill>
                  <a:schemeClr val="tx1"/>
                </a:solidFill>
              </a:rPr>
              <a:t>09:05 · 10 N · 30-min job</a:t>
            </a:r>
            <a:endParaRPr lang="en-US" sz="1400" dirty="0"/>
          </a:p>
        </p:txBody>
      </p:sp>
      <p:sp>
        <p:nvSpPr>
          <p:cNvPr id="7" name="call B chip"/>
          <p:cNvSpPr/>
          <p:nvPr/>
        </p:nvSpPr>
        <p:spPr>
          <a:xfrm>
            <a:off x="3246120" y="1444752"/>
            <a:ext cx="310896" cy="310896"/>
          </a:xfrm>
          <a:prstGeom prst="roundRect">
            <a:avLst>
              <a:gd name="adj" fmla="val 14706"/>
            </a:avLst>
          </a:prstGeom>
          <a:solidFill>
            <a:schemeClr val="accent3"/>
          </a:solidFill>
          <a:ln w="12700">
            <a:solidFill>
              <a:schemeClr val="accent3"/>
            </a:solidFill>
            <a:prstDash val="solid"/>
          </a:ln>
        </p:spPr>
        <p:txBody>
          <a:bodyPr/>
          <a:lstStyle/>
          <a:p>
            <a:endParaRPr lang="en-US"/>
          </a:p>
        </p:txBody>
      </p:sp>
      <p:sp>
        <p:nvSpPr>
          <p:cNvPr id="8" name="Text 6"/>
          <p:cNvSpPr txBox="1"/>
          <p:nvPr/>
        </p:nvSpPr>
        <p:spPr>
          <a:xfrm>
            <a:off x="3246120" y="1444752"/>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B</a:t>
            </a:r>
            <a:endParaRPr lang="en-US" sz="1400" dirty="0"/>
          </a:p>
        </p:txBody>
      </p:sp>
      <p:sp>
        <p:nvSpPr>
          <p:cNvPr id="9" name="Text 7"/>
          <p:cNvSpPr txBox="1"/>
          <p:nvPr/>
        </p:nvSpPr>
        <p:spPr>
          <a:xfrm>
            <a:off x="3657600" y="1444752"/>
            <a:ext cx="2286000" cy="310896"/>
          </a:xfrm>
          <a:prstGeom prst="rect">
            <a:avLst/>
          </a:prstGeom>
          <a:noFill/>
          <a:ln/>
        </p:spPr>
        <p:txBody>
          <a:bodyPr wrap="square" lIns="0" tIns="0" rIns="0" bIns="0" rtlCol="0" anchor="ctr"/>
          <a:lstStyle/>
          <a:p>
            <a:pPr marL="0" indent="0">
              <a:buNone/>
            </a:pPr>
            <a:r>
              <a:rPr lang="en-US" sz="1400" dirty="0">
                <a:solidFill>
                  <a:schemeClr val="tx1"/>
                </a:solidFill>
              </a:rPr>
              <a:t>09:10 · 2 S · 5-min job</a:t>
            </a:r>
            <a:endParaRPr lang="en-US" sz="1400" dirty="0"/>
          </a:p>
        </p:txBody>
      </p:sp>
      <p:sp>
        <p:nvSpPr>
          <p:cNvPr id="10" name="call C chip"/>
          <p:cNvSpPr/>
          <p:nvPr/>
        </p:nvSpPr>
        <p:spPr>
          <a:xfrm>
            <a:off x="6035040" y="1444752"/>
            <a:ext cx="310896" cy="310896"/>
          </a:xfrm>
          <a:prstGeom prst="roundRect">
            <a:avLst>
              <a:gd name="adj" fmla="val 14706"/>
            </a:avLst>
          </a:prstGeom>
          <a:solidFill>
            <a:schemeClr val="accent5"/>
          </a:solidFill>
          <a:ln w="12700">
            <a:solidFill>
              <a:schemeClr val="accent5"/>
            </a:solidFill>
            <a:prstDash val="solid"/>
          </a:ln>
        </p:spPr>
        <p:txBody>
          <a:bodyPr/>
          <a:lstStyle/>
          <a:p>
            <a:endParaRPr lang="en-US"/>
          </a:p>
        </p:txBody>
      </p:sp>
      <p:sp>
        <p:nvSpPr>
          <p:cNvPr id="11" name="Text 9"/>
          <p:cNvSpPr txBox="1"/>
          <p:nvPr/>
        </p:nvSpPr>
        <p:spPr>
          <a:xfrm>
            <a:off x="6035040" y="1444752"/>
            <a:ext cx="310896" cy="310896"/>
          </a:xfrm>
          <a:prstGeom prst="rect">
            <a:avLst/>
          </a:prstGeom>
          <a:noFill/>
          <a:ln/>
        </p:spPr>
        <p:txBody>
          <a:bodyPr wrap="square" lIns="0" tIns="0" rIns="0" bIns="0" rtlCol="0" anchor="ctr"/>
          <a:lstStyle/>
          <a:p>
            <a:pPr marL="0" indent="0" algn="ctr">
              <a:buNone/>
            </a:pPr>
            <a:r>
              <a:rPr lang="en-US" sz="1400" b="1" dirty="0">
                <a:solidFill>
                  <a:schemeClr val="bg1"/>
                </a:solidFill>
              </a:rPr>
              <a:t>C</a:t>
            </a:r>
            <a:endParaRPr lang="en-US" sz="1400" dirty="0"/>
          </a:p>
        </p:txBody>
      </p:sp>
      <p:sp>
        <p:nvSpPr>
          <p:cNvPr id="12" name="Text 10"/>
          <p:cNvSpPr txBox="1"/>
          <p:nvPr/>
        </p:nvSpPr>
        <p:spPr>
          <a:xfrm>
            <a:off x="6446520" y="1444752"/>
            <a:ext cx="2286000" cy="310896"/>
          </a:xfrm>
          <a:prstGeom prst="rect">
            <a:avLst/>
          </a:prstGeom>
          <a:noFill/>
          <a:ln/>
        </p:spPr>
        <p:txBody>
          <a:bodyPr wrap="square" lIns="0" tIns="0" rIns="0" bIns="0" rtlCol="0" anchor="ctr"/>
          <a:lstStyle/>
          <a:p>
            <a:pPr marL="0" indent="0">
              <a:buNone/>
            </a:pPr>
            <a:r>
              <a:rPr lang="en-US" sz="1400" dirty="0">
                <a:solidFill>
                  <a:schemeClr val="tx1"/>
                </a:solidFill>
              </a:rPr>
              <a:t>09:12 · 2 S 1 E · 5-min job</a:t>
            </a:r>
            <a:endParaRPr lang="en-US" sz="1400" dirty="0"/>
          </a:p>
        </p:txBody>
      </p:sp>
      <p:sp>
        <p:nvSpPr>
          <p:cNvPr id="13" name="Text 11"/>
          <p:cNvSpPr txBox="1"/>
          <p:nvPr/>
        </p:nvSpPr>
        <p:spPr>
          <a:xfrm>
            <a:off x="457200" y="2103120"/>
            <a:ext cx="868680" cy="420624"/>
          </a:xfrm>
          <a:prstGeom prst="rect">
            <a:avLst/>
          </a:prstGeom>
          <a:noFill/>
          <a:ln/>
        </p:spPr>
        <p:txBody>
          <a:bodyPr wrap="square" lIns="0" tIns="0" rIns="0" bIns="0" rtlCol="0" anchor="ctr"/>
          <a:lstStyle/>
          <a:p>
            <a:pPr marL="0" indent="0">
              <a:buNone/>
            </a:pPr>
            <a:r>
              <a:rPr lang="en-US" sz="1600" b="1" dirty="0">
                <a:solidFill>
                  <a:schemeClr val="accent2"/>
                </a:solidFill>
              </a:rPr>
              <a:t>Greedy</a:t>
            </a:r>
            <a:endParaRPr lang="en-US" sz="1600" dirty="0"/>
          </a:p>
        </p:txBody>
      </p:sp>
      <p:sp>
        <p:nvSpPr>
          <p:cNvPr id="14" name="Greedy first job"/>
          <p:cNvSpPr/>
          <p:nvPr/>
        </p:nvSpPr>
        <p:spPr>
          <a:xfrm>
            <a:off x="1417320" y="2103120"/>
            <a:ext cx="1700784" cy="420624"/>
          </a:xfrm>
          <a:prstGeom prst="rect">
            <a:avLst/>
          </a:prstGeom>
          <a:solidFill>
            <a:schemeClr val="bg2"/>
          </a:solidFill>
          <a:ln w="12700">
            <a:solidFill>
              <a:schemeClr val="bg2"/>
            </a:solidFill>
            <a:prstDash val="solid"/>
          </a:ln>
        </p:spPr>
        <p:txBody>
          <a:bodyPr/>
          <a:lstStyle/>
          <a:p>
            <a:endParaRPr lang="en-US"/>
          </a:p>
        </p:txBody>
      </p:sp>
      <p:sp>
        <p:nvSpPr>
          <p:cNvPr id="15" name="Text 13"/>
          <p:cNvSpPr txBox="1"/>
          <p:nvPr/>
        </p:nvSpPr>
        <p:spPr>
          <a:xfrm>
            <a:off x="1417320" y="2103120"/>
            <a:ext cx="1700784" cy="420624"/>
          </a:xfrm>
          <a:prstGeom prst="rect">
            <a:avLst/>
          </a:prstGeom>
          <a:noFill/>
          <a:ln/>
        </p:spPr>
        <p:txBody>
          <a:bodyPr wrap="square" lIns="0" tIns="0" rIns="0" bIns="0" rtlCol="0" anchor="ctr"/>
          <a:lstStyle/>
          <a:p>
            <a:pPr marL="0" indent="0" algn="ctr">
              <a:buNone/>
            </a:pPr>
            <a:r>
              <a:rPr lang="en-US" sz="1200" dirty="0">
                <a:solidFill>
                  <a:schemeClr val="accent6"/>
                </a:solidFill>
              </a:rPr>
              <a:t>first job</a:t>
            </a:r>
            <a:endParaRPr lang="en-US" sz="1200" dirty="0"/>
          </a:p>
        </p:txBody>
      </p:sp>
      <p:sp>
        <p:nvSpPr>
          <p:cNvPr id="16" name="Greedy drive"/>
          <p:cNvSpPr/>
          <p:nvPr/>
        </p:nvSpPr>
        <p:spPr>
          <a:xfrm>
            <a:off x="3118104" y="2313432"/>
            <a:ext cx="566928" cy="0"/>
          </a:xfrm>
          <a:prstGeom prst="line">
            <a:avLst/>
          </a:prstGeom>
          <a:noFill/>
          <a:ln w="19050">
            <a:solidFill>
              <a:schemeClr val="accent6"/>
            </a:solidFill>
            <a:prstDash val="solid"/>
          </a:ln>
        </p:spPr>
        <p:txBody>
          <a:bodyPr/>
          <a:lstStyle/>
          <a:p>
            <a:endParaRPr lang="en-US"/>
          </a:p>
        </p:txBody>
      </p:sp>
      <p:sp>
        <p:nvSpPr>
          <p:cNvPr id="17" name="Greedy job A"/>
          <p:cNvSpPr/>
          <p:nvPr/>
        </p:nvSpPr>
        <p:spPr>
          <a:xfrm>
            <a:off x="3685032" y="2103120"/>
            <a:ext cx="1700784" cy="420624"/>
          </a:xfrm>
          <a:prstGeom prst="rect">
            <a:avLst/>
          </a:prstGeom>
          <a:solidFill>
            <a:schemeClr val="accent4"/>
          </a:solidFill>
          <a:ln w="9525">
            <a:solidFill>
              <a:schemeClr val="bg1"/>
            </a:solidFill>
            <a:prstDash val="solid"/>
          </a:ln>
        </p:spPr>
        <p:txBody>
          <a:bodyPr/>
          <a:lstStyle/>
          <a:p>
            <a:endParaRPr lang="en-US"/>
          </a:p>
        </p:txBody>
      </p:sp>
      <p:sp>
        <p:nvSpPr>
          <p:cNvPr id="18" name="Text 16"/>
          <p:cNvSpPr txBox="1"/>
          <p:nvPr/>
        </p:nvSpPr>
        <p:spPr>
          <a:xfrm>
            <a:off x="3685032" y="2103120"/>
            <a:ext cx="1700784" cy="420624"/>
          </a:xfrm>
          <a:prstGeom prst="rect">
            <a:avLst/>
          </a:prstGeom>
          <a:no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19" name="Greedy drive"/>
          <p:cNvSpPr/>
          <p:nvPr/>
        </p:nvSpPr>
        <p:spPr>
          <a:xfrm>
            <a:off x="5385816" y="2313432"/>
            <a:ext cx="680314" cy="0"/>
          </a:xfrm>
          <a:prstGeom prst="line">
            <a:avLst/>
          </a:prstGeom>
          <a:noFill/>
          <a:ln w="19050">
            <a:solidFill>
              <a:schemeClr val="accent6"/>
            </a:solidFill>
            <a:prstDash val="solid"/>
          </a:ln>
        </p:spPr>
        <p:txBody>
          <a:bodyPr/>
          <a:lstStyle/>
          <a:p>
            <a:endParaRPr lang="en-US"/>
          </a:p>
        </p:txBody>
      </p:sp>
      <p:sp>
        <p:nvSpPr>
          <p:cNvPr id="20" name="Greedy job B"/>
          <p:cNvSpPr/>
          <p:nvPr/>
        </p:nvSpPr>
        <p:spPr>
          <a:xfrm>
            <a:off x="6066130" y="2103120"/>
            <a:ext cx="283464" cy="420624"/>
          </a:xfrm>
          <a:prstGeom prst="rect">
            <a:avLst/>
          </a:prstGeom>
          <a:solidFill>
            <a:schemeClr val="accent3"/>
          </a:solidFill>
          <a:ln w="9525">
            <a:solidFill>
              <a:schemeClr val="bg1"/>
            </a:solidFill>
            <a:prstDash val="solid"/>
          </a:ln>
        </p:spPr>
        <p:txBody>
          <a:bodyPr/>
          <a:lstStyle/>
          <a:p>
            <a:endParaRPr lang="en-US"/>
          </a:p>
        </p:txBody>
      </p:sp>
      <p:sp>
        <p:nvSpPr>
          <p:cNvPr id="21" name="Text 19"/>
          <p:cNvSpPr txBox="1"/>
          <p:nvPr/>
        </p:nvSpPr>
        <p:spPr>
          <a:xfrm>
            <a:off x="6066130" y="2103120"/>
            <a:ext cx="283464" cy="420624"/>
          </a:xfrm>
          <a:prstGeom prst="rect">
            <a:avLst/>
          </a:prstGeom>
          <a:no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22" name="Greedy drive"/>
          <p:cNvSpPr/>
          <p:nvPr/>
        </p:nvSpPr>
        <p:spPr>
          <a:xfrm>
            <a:off x="6349594" y="2313432"/>
            <a:ext cx="56693" cy="0"/>
          </a:xfrm>
          <a:prstGeom prst="line">
            <a:avLst/>
          </a:prstGeom>
          <a:noFill/>
          <a:ln w="19050">
            <a:solidFill>
              <a:schemeClr val="accent6"/>
            </a:solidFill>
            <a:prstDash val="solid"/>
          </a:ln>
        </p:spPr>
        <p:txBody>
          <a:bodyPr/>
          <a:lstStyle/>
          <a:p>
            <a:endParaRPr lang="en-US"/>
          </a:p>
        </p:txBody>
      </p:sp>
      <p:sp>
        <p:nvSpPr>
          <p:cNvPr id="23" name="Greedy job C"/>
          <p:cNvSpPr/>
          <p:nvPr/>
        </p:nvSpPr>
        <p:spPr>
          <a:xfrm>
            <a:off x="6406286" y="2103120"/>
            <a:ext cx="283464" cy="420624"/>
          </a:xfrm>
          <a:prstGeom prst="rect">
            <a:avLst/>
          </a:prstGeom>
          <a:solidFill>
            <a:schemeClr val="accent5"/>
          </a:solidFill>
          <a:ln w="9525">
            <a:solidFill>
              <a:schemeClr val="bg1"/>
            </a:solidFill>
            <a:prstDash val="solid"/>
          </a:ln>
        </p:spPr>
        <p:txBody>
          <a:bodyPr/>
          <a:lstStyle/>
          <a:p>
            <a:endParaRPr lang="en-US"/>
          </a:p>
        </p:txBody>
      </p:sp>
      <p:sp>
        <p:nvSpPr>
          <p:cNvPr id="24" name="Text 22"/>
          <p:cNvSpPr txBox="1"/>
          <p:nvPr/>
        </p:nvSpPr>
        <p:spPr>
          <a:xfrm>
            <a:off x="6406286" y="2103120"/>
            <a:ext cx="283464" cy="420624"/>
          </a:xfrm>
          <a:prstGeom prst="rect">
            <a:avLst/>
          </a:prstGeom>
          <a:no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25" name="Text 23"/>
          <p:cNvSpPr txBox="1"/>
          <p:nvPr/>
        </p:nvSpPr>
        <p:spPr>
          <a:xfrm>
            <a:off x="6995160" y="2048256"/>
            <a:ext cx="1691640" cy="329184"/>
          </a:xfrm>
          <a:prstGeom prst="rect">
            <a:avLst/>
          </a:prstGeom>
          <a:noFill/>
          <a:ln/>
        </p:spPr>
        <p:txBody>
          <a:bodyPr wrap="square" lIns="0" tIns="0" rIns="0" bIns="0" rtlCol="0" anchor="t"/>
          <a:lstStyle/>
          <a:p>
            <a:pPr marL="0" indent="0">
              <a:buNone/>
            </a:pPr>
            <a:r>
              <a:rPr lang="en-US" sz="2200" b="1" dirty="0">
                <a:solidFill>
                  <a:schemeClr val="accent2"/>
                </a:solidFill>
              </a:rPr>
              <a:t>183 min</a:t>
            </a:r>
            <a:endParaRPr lang="en-US" sz="2200" dirty="0"/>
          </a:p>
        </p:txBody>
      </p:sp>
      <p:sp>
        <p:nvSpPr>
          <p:cNvPr id="26" name="Text 24"/>
          <p:cNvSpPr txBox="1"/>
          <p:nvPr/>
        </p:nvSpPr>
        <p:spPr>
          <a:xfrm>
            <a:off x="6995160" y="2377440"/>
            <a:ext cx="1691640" cy="228600"/>
          </a:xfrm>
          <a:prstGeom prst="rect">
            <a:avLst/>
          </a:prstGeom>
          <a:noFill/>
          <a:ln/>
        </p:spPr>
        <p:txBody>
          <a:bodyPr wrap="square" lIns="0" tIns="0" rIns="0" bIns="0" rtlCol="0" anchor="t"/>
          <a:lstStyle/>
          <a:p>
            <a:pPr marL="0" indent="0">
              <a:buNone/>
            </a:pPr>
            <a:r>
              <a:rPr lang="en-US" sz="1200" dirty="0">
                <a:solidFill>
                  <a:schemeClr val="accent6"/>
                </a:solidFill>
              </a:rPr>
              <a:t>A 35 · B 72 · C 76</a:t>
            </a:r>
            <a:endParaRPr lang="en-US" sz="1200" dirty="0"/>
          </a:p>
        </p:txBody>
      </p:sp>
      <p:sp>
        <p:nvSpPr>
          <p:cNvPr id="27" name="Text 25"/>
          <p:cNvSpPr txBox="1"/>
          <p:nvPr/>
        </p:nvSpPr>
        <p:spPr>
          <a:xfrm>
            <a:off x="457200" y="2926080"/>
            <a:ext cx="868680" cy="420624"/>
          </a:xfrm>
          <a:prstGeom prst="rect">
            <a:avLst/>
          </a:prstGeom>
          <a:noFill/>
          <a:ln/>
        </p:spPr>
        <p:txBody>
          <a:bodyPr wrap="square" lIns="0" tIns="0" rIns="0" bIns="0" rtlCol="0" anchor="ctr"/>
          <a:lstStyle/>
          <a:p>
            <a:pPr marL="0" indent="0">
              <a:buNone/>
            </a:pPr>
            <a:r>
              <a:rPr lang="en-US" sz="1600" b="1" dirty="0">
                <a:solidFill>
                  <a:schemeClr val="accent1"/>
                </a:solidFill>
              </a:rPr>
              <a:t>Ours</a:t>
            </a:r>
            <a:endParaRPr lang="en-US" sz="1600" dirty="0"/>
          </a:p>
        </p:txBody>
      </p:sp>
      <p:sp>
        <p:nvSpPr>
          <p:cNvPr id="28" name="Ours first job"/>
          <p:cNvSpPr/>
          <p:nvPr/>
        </p:nvSpPr>
        <p:spPr>
          <a:xfrm>
            <a:off x="1417320" y="2926080"/>
            <a:ext cx="1700784" cy="420624"/>
          </a:xfrm>
          <a:prstGeom prst="rect">
            <a:avLst/>
          </a:prstGeom>
          <a:solidFill>
            <a:schemeClr val="bg2"/>
          </a:solidFill>
          <a:ln w="12700">
            <a:solidFill>
              <a:schemeClr val="bg2"/>
            </a:solidFill>
            <a:prstDash val="solid"/>
          </a:ln>
        </p:spPr>
        <p:txBody>
          <a:bodyPr/>
          <a:lstStyle/>
          <a:p>
            <a:endParaRPr lang="en-US"/>
          </a:p>
        </p:txBody>
      </p:sp>
      <p:sp>
        <p:nvSpPr>
          <p:cNvPr id="29" name="Text 27"/>
          <p:cNvSpPr txBox="1"/>
          <p:nvPr/>
        </p:nvSpPr>
        <p:spPr>
          <a:xfrm>
            <a:off x="1417320" y="2926080"/>
            <a:ext cx="1700784" cy="420624"/>
          </a:xfrm>
          <a:prstGeom prst="rect">
            <a:avLst/>
          </a:prstGeom>
          <a:noFill/>
          <a:ln/>
        </p:spPr>
        <p:txBody>
          <a:bodyPr wrap="square" lIns="0" tIns="0" rIns="0" bIns="0" rtlCol="0" anchor="ctr"/>
          <a:lstStyle/>
          <a:p>
            <a:pPr marL="0" indent="0" algn="ctr">
              <a:buNone/>
            </a:pPr>
            <a:r>
              <a:rPr lang="en-US" sz="1200" dirty="0">
                <a:solidFill>
                  <a:schemeClr val="accent6"/>
                </a:solidFill>
              </a:rPr>
              <a:t>first job</a:t>
            </a:r>
            <a:endParaRPr lang="en-US" sz="1200" dirty="0"/>
          </a:p>
        </p:txBody>
      </p:sp>
      <p:sp>
        <p:nvSpPr>
          <p:cNvPr id="30" name="Ours drive"/>
          <p:cNvSpPr/>
          <p:nvPr/>
        </p:nvSpPr>
        <p:spPr>
          <a:xfrm>
            <a:off x="3118104" y="3136392"/>
            <a:ext cx="113386" cy="0"/>
          </a:xfrm>
          <a:prstGeom prst="line">
            <a:avLst/>
          </a:prstGeom>
          <a:noFill/>
          <a:ln w="19050">
            <a:solidFill>
              <a:schemeClr val="accent6"/>
            </a:solidFill>
            <a:prstDash val="solid"/>
          </a:ln>
        </p:spPr>
        <p:txBody>
          <a:bodyPr/>
          <a:lstStyle/>
          <a:p>
            <a:endParaRPr lang="en-US"/>
          </a:p>
        </p:txBody>
      </p:sp>
      <p:sp>
        <p:nvSpPr>
          <p:cNvPr id="31" name="Ours job B"/>
          <p:cNvSpPr/>
          <p:nvPr/>
        </p:nvSpPr>
        <p:spPr>
          <a:xfrm>
            <a:off x="3231490" y="2926080"/>
            <a:ext cx="283464" cy="420624"/>
          </a:xfrm>
          <a:prstGeom prst="rect">
            <a:avLst/>
          </a:prstGeom>
          <a:solidFill>
            <a:schemeClr val="accent3"/>
          </a:solidFill>
          <a:ln w="9525">
            <a:solidFill>
              <a:schemeClr val="bg1"/>
            </a:solidFill>
            <a:prstDash val="solid"/>
          </a:ln>
        </p:spPr>
        <p:txBody>
          <a:bodyPr/>
          <a:lstStyle/>
          <a:p>
            <a:endParaRPr lang="en-US"/>
          </a:p>
        </p:txBody>
      </p:sp>
      <p:sp>
        <p:nvSpPr>
          <p:cNvPr id="32" name="Text 30"/>
          <p:cNvSpPr txBox="1"/>
          <p:nvPr/>
        </p:nvSpPr>
        <p:spPr>
          <a:xfrm>
            <a:off x="3231490" y="2926080"/>
            <a:ext cx="283464" cy="420624"/>
          </a:xfrm>
          <a:prstGeom prst="rect">
            <a:avLst/>
          </a:prstGeom>
          <a:noFill/>
          <a:ln/>
        </p:spPr>
        <p:txBody>
          <a:bodyPr wrap="square" lIns="0" tIns="0" rIns="0" bIns="0" rtlCol="0" anchor="ctr"/>
          <a:lstStyle/>
          <a:p>
            <a:pPr marL="0" indent="0" algn="ctr">
              <a:buNone/>
            </a:pPr>
            <a:r>
              <a:rPr lang="en-US" sz="1200" b="1" dirty="0">
                <a:solidFill>
                  <a:schemeClr val="bg1"/>
                </a:solidFill>
              </a:rPr>
              <a:t>B</a:t>
            </a:r>
            <a:endParaRPr lang="en-US" sz="1200" dirty="0"/>
          </a:p>
        </p:txBody>
      </p:sp>
      <p:sp>
        <p:nvSpPr>
          <p:cNvPr id="33" name="Ours drive"/>
          <p:cNvSpPr/>
          <p:nvPr/>
        </p:nvSpPr>
        <p:spPr>
          <a:xfrm>
            <a:off x="3514954" y="3136392"/>
            <a:ext cx="56693" cy="0"/>
          </a:xfrm>
          <a:prstGeom prst="line">
            <a:avLst/>
          </a:prstGeom>
          <a:noFill/>
          <a:ln w="19050">
            <a:solidFill>
              <a:schemeClr val="accent6"/>
            </a:solidFill>
            <a:prstDash val="solid"/>
          </a:ln>
        </p:spPr>
        <p:txBody>
          <a:bodyPr/>
          <a:lstStyle/>
          <a:p>
            <a:endParaRPr lang="en-US"/>
          </a:p>
        </p:txBody>
      </p:sp>
      <p:sp>
        <p:nvSpPr>
          <p:cNvPr id="34" name="Ours job C"/>
          <p:cNvSpPr/>
          <p:nvPr/>
        </p:nvSpPr>
        <p:spPr>
          <a:xfrm>
            <a:off x="3571646" y="2926080"/>
            <a:ext cx="283464" cy="420624"/>
          </a:xfrm>
          <a:prstGeom prst="rect">
            <a:avLst/>
          </a:prstGeom>
          <a:solidFill>
            <a:schemeClr val="accent5"/>
          </a:solidFill>
          <a:ln w="9525">
            <a:solidFill>
              <a:schemeClr val="bg1"/>
            </a:solidFill>
            <a:prstDash val="solid"/>
          </a:ln>
        </p:spPr>
        <p:txBody>
          <a:bodyPr/>
          <a:lstStyle/>
          <a:p>
            <a:endParaRPr lang="en-US"/>
          </a:p>
        </p:txBody>
      </p:sp>
      <p:sp>
        <p:nvSpPr>
          <p:cNvPr id="35" name="Text 33"/>
          <p:cNvSpPr txBox="1"/>
          <p:nvPr/>
        </p:nvSpPr>
        <p:spPr>
          <a:xfrm>
            <a:off x="3571646" y="2926080"/>
            <a:ext cx="283464" cy="420624"/>
          </a:xfrm>
          <a:prstGeom prst="rect">
            <a:avLst/>
          </a:prstGeom>
          <a:noFill/>
          <a:ln/>
        </p:spPr>
        <p:txBody>
          <a:bodyPr wrap="square" lIns="0" tIns="0" rIns="0" bIns="0" rtlCol="0" anchor="ctr"/>
          <a:lstStyle/>
          <a:p>
            <a:pPr marL="0" indent="0" algn="ctr">
              <a:buNone/>
            </a:pPr>
            <a:r>
              <a:rPr lang="en-US" sz="1200" b="1" dirty="0">
                <a:solidFill>
                  <a:schemeClr val="bg1"/>
                </a:solidFill>
              </a:rPr>
              <a:t>C</a:t>
            </a:r>
            <a:endParaRPr lang="en-US" sz="1200" dirty="0"/>
          </a:p>
        </p:txBody>
      </p:sp>
      <p:sp>
        <p:nvSpPr>
          <p:cNvPr id="36" name="Ours drive"/>
          <p:cNvSpPr/>
          <p:nvPr/>
        </p:nvSpPr>
        <p:spPr>
          <a:xfrm>
            <a:off x="3855110" y="3136392"/>
            <a:ext cx="737006" cy="0"/>
          </a:xfrm>
          <a:prstGeom prst="line">
            <a:avLst/>
          </a:prstGeom>
          <a:noFill/>
          <a:ln w="19050">
            <a:solidFill>
              <a:schemeClr val="accent6"/>
            </a:solidFill>
            <a:prstDash val="solid"/>
          </a:ln>
        </p:spPr>
        <p:txBody>
          <a:bodyPr/>
          <a:lstStyle/>
          <a:p>
            <a:endParaRPr lang="en-US"/>
          </a:p>
        </p:txBody>
      </p:sp>
      <p:sp>
        <p:nvSpPr>
          <p:cNvPr id="37" name="Ours job A"/>
          <p:cNvSpPr/>
          <p:nvPr/>
        </p:nvSpPr>
        <p:spPr>
          <a:xfrm>
            <a:off x="4592117" y="2926080"/>
            <a:ext cx="1700784" cy="420624"/>
          </a:xfrm>
          <a:prstGeom prst="rect">
            <a:avLst/>
          </a:prstGeom>
          <a:solidFill>
            <a:schemeClr val="accent4"/>
          </a:solidFill>
          <a:ln w="9525">
            <a:solidFill>
              <a:schemeClr val="bg1"/>
            </a:solidFill>
            <a:prstDash val="solid"/>
          </a:ln>
        </p:spPr>
        <p:txBody>
          <a:bodyPr/>
          <a:lstStyle/>
          <a:p>
            <a:endParaRPr lang="en-US"/>
          </a:p>
        </p:txBody>
      </p:sp>
      <p:sp>
        <p:nvSpPr>
          <p:cNvPr id="38" name="Text 36"/>
          <p:cNvSpPr txBox="1"/>
          <p:nvPr/>
        </p:nvSpPr>
        <p:spPr>
          <a:xfrm>
            <a:off x="4592117" y="2926080"/>
            <a:ext cx="1700784" cy="420624"/>
          </a:xfrm>
          <a:prstGeom prst="rect">
            <a:avLst/>
          </a:prstGeom>
          <a:noFill/>
          <a:ln/>
        </p:spPr>
        <p:txBody>
          <a:bodyPr wrap="square" lIns="0" tIns="0" rIns="0" bIns="0" rtlCol="0" anchor="ctr"/>
          <a:lstStyle/>
          <a:p>
            <a:pPr marL="0" indent="0" algn="ctr">
              <a:buNone/>
            </a:pPr>
            <a:r>
              <a:rPr lang="en-US" sz="1200" b="1" dirty="0">
                <a:solidFill>
                  <a:schemeClr val="bg1"/>
                </a:solidFill>
              </a:rPr>
              <a:t>A</a:t>
            </a:r>
            <a:endParaRPr lang="en-US" sz="1200" dirty="0"/>
          </a:p>
        </p:txBody>
      </p:sp>
      <p:sp>
        <p:nvSpPr>
          <p:cNvPr id="39" name="Text 37"/>
          <p:cNvSpPr txBox="1"/>
          <p:nvPr/>
        </p:nvSpPr>
        <p:spPr>
          <a:xfrm>
            <a:off x="6995160" y="2871216"/>
            <a:ext cx="1691640" cy="329184"/>
          </a:xfrm>
          <a:prstGeom prst="rect">
            <a:avLst/>
          </a:prstGeom>
          <a:noFill/>
          <a:ln/>
        </p:spPr>
        <p:txBody>
          <a:bodyPr wrap="square" lIns="0" tIns="0" rIns="0" bIns="0" rtlCol="0" anchor="t"/>
          <a:lstStyle/>
          <a:p>
            <a:pPr marL="0" indent="0">
              <a:buNone/>
            </a:pPr>
            <a:r>
              <a:rPr lang="en-US" sz="2200" b="1" dirty="0">
                <a:solidFill>
                  <a:schemeClr val="accent1"/>
                </a:solidFill>
              </a:rPr>
              <a:t>99 min</a:t>
            </a:r>
            <a:endParaRPr lang="en-US" sz="2200" dirty="0"/>
          </a:p>
        </p:txBody>
      </p:sp>
      <p:sp>
        <p:nvSpPr>
          <p:cNvPr id="40" name="Text 38"/>
          <p:cNvSpPr txBox="1"/>
          <p:nvPr/>
        </p:nvSpPr>
        <p:spPr>
          <a:xfrm>
            <a:off x="6995160" y="3200400"/>
            <a:ext cx="1691640" cy="228600"/>
          </a:xfrm>
          <a:prstGeom prst="rect">
            <a:avLst/>
          </a:prstGeom>
          <a:noFill/>
          <a:ln/>
        </p:spPr>
        <p:txBody>
          <a:bodyPr wrap="square" lIns="0" tIns="0" rIns="0" bIns="0" rtlCol="0" anchor="t"/>
          <a:lstStyle/>
          <a:p>
            <a:pPr marL="0" indent="0">
              <a:buNone/>
            </a:pPr>
            <a:r>
              <a:rPr lang="en-US" sz="1200" dirty="0">
                <a:solidFill>
                  <a:schemeClr val="accent6"/>
                </a:solidFill>
              </a:rPr>
              <a:t>B 22 · C 26 · A 51</a:t>
            </a:r>
            <a:endParaRPr lang="en-US" sz="1200" dirty="0"/>
          </a:p>
        </p:txBody>
      </p:sp>
      <p:sp>
        <p:nvSpPr>
          <p:cNvPr id="41" name="time axis"/>
          <p:cNvSpPr/>
          <p:nvPr/>
        </p:nvSpPr>
        <p:spPr>
          <a:xfrm>
            <a:off x="1417320" y="3520440"/>
            <a:ext cx="5385816" cy="0"/>
          </a:xfrm>
          <a:prstGeom prst="line">
            <a:avLst/>
          </a:prstGeom>
          <a:noFill/>
          <a:ln w="9525">
            <a:solidFill>
              <a:srgbClr val="B8C0CC"/>
            </a:solidFill>
            <a:prstDash val="solid"/>
          </a:ln>
        </p:spPr>
        <p:txBody>
          <a:bodyPr/>
          <a:lstStyle/>
          <a:p>
            <a:endParaRPr lang="en-US"/>
          </a:p>
        </p:txBody>
      </p:sp>
      <p:sp>
        <p:nvSpPr>
          <p:cNvPr id="42" name="time tick"/>
          <p:cNvSpPr/>
          <p:nvPr/>
        </p:nvSpPr>
        <p:spPr>
          <a:xfrm>
            <a:off x="1417320" y="3474720"/>
            <a:ext cx="0" cy="91440"/>
          </a:xfrm>
          <a:prstGeom prst="line">
            <a:avLst/>
          </a:prstGeom>
          <a:noFill/>
          <a:ln w="9525">
            <a:solidFill>
              <a:srgbClr val="B8C0CC"/>
            </a:solidFill>
            <a:prstDash val="solid"/>
          </a:ln>
        </p:spPr>
        <p:txBody>
          <a:bodyPr/>
          <a:lstStyle/>
          <a:p>
            <a:endParaRPr lang="en-US"/>
          </a:p>
        </p:txBody>
      </p:sp>
      <p:sp>
        <p:nvSpPr>
          <p:cNvPr id="43" name="Text 41"/>
          <p:cNvSpPr txBox="1"/>
          <p:nvPr/>
        </p:nvSpPr>
        <p:spPr>
          <a:xfrm>
            <a:off x="1143000" y="3593592"/>
            <a:ext cx="548640" cy="201168"/>
          </a:xfrm>
          <a:prstGeom prst="rect">
            <a:avLst/>
          </a:prstGeom>
          <a:noFill/>
          <a:ln/>
        </p:spPr>
        <p:txBody>
          <a:bodyPr wrap="square" lIns="0" tIns="0" rIns="0" bIns="0" rtlCol="0" anchor="t"/>
          <a:lstStyle/>
          <a:p>
            <a:pPr marL="0" indent="0" algn="ctr">
              <a:buNone/>
            </a:pPr>
            <a:r>
              <a:rPr lang="en-US" sz="1100" dirty="0">
                <a:solidFill>
                  <a:schemeClr val="accent6"/>
                </a:solidFill>
              </a:rPr>
              <a:t>09:00</a:t>
            </a:r>
            <a:endParaRPr lang="en-US" sz="1100" dirty="0"/>
          </a:p>
        </p:txBody>
      </p:sp>
      <p:sp>
        <p:nvSpPr>
          <p:cNvPr id="44" name="time tick"/>
          <p:cNvSpPr/>
          <p:nvPr/>
        </p:nvSpPr>
        <p:spPr>
          <a:xfrm>
            <a:off x="3118104" y="3474720"/>
            <a:ext cx="0" cy="91440"/>
          </a:xfrm>
          <a:prstGeom prst="line">
            <a:avLst/>
          </a:prstGeom>
          <a:noFill/>
          <a:ln w="9525">
            <a:solidFill>
              <a:srgbClr val="B8C0CC"/>
            </a:solidFill>
            <a:prstDash val="solid"/>
          </a:ln>
        </p:spPr>
        <p:txBody>
          <a:bodyPr/>
          <a:lstStyle/>
          <a:p>
            <a:endParaRPr lang="en-US"/>
          </a:p>
        </p:txBody>
      </p:sp>
      <p:sp>
        <p:nvSpPr>
          <p:cNvPr id="45" name="Text 43"/>
          <p:cNvSpPr txBox="1"/>
          <p:nvPr/>
        </p:nvSpPr>
        <p:spPr>
          <a:xfrm>
            <a:off x="2843784" y="3593592"/>
            <a:ext cx="548640" cy="201168"/>
          </a:xfrm>
          <a:prstGeom prst="rect">
            <a:avLst/>
          </a:prstGeom>
          <a:noFill/>
          <a:ln/>
        </p:spPr>
        <p:txBody>
          <a:bodyPr wrap="square" lIns="0" tIns="0" rIns="0" bIns="0" rtlCol="0" anchor="t"/>
          <a:lstStyle/>
          <a:p>
            <a:pPr marL="0" indent="0" algn="ctr">
              <a:buNone/>
            </a:pPr>
            <a:r>
              <a:rPr lang="en-US" sz="1100" dirty="0">
                <a:solidFill>
                  <a:schemeClr val="accent6"/>
                </a:solidFill>
              </a:rPr>
              <a:t>09:30</a:t>
            </a:r>
            <a:endParaRPr lang="en-US" sz="1100" dirty="0"/>
          </a:p>
        </p:txBody>
      </p:sp>
      <p:sp>
        <p:nvSpPr>
          <p:cNvPr id="46" name="time tick"/>
          <p:cNvSpPr/>
          <p:nvPr/>
        </p:nvSpPr>
        <p:spPr>
          <a:xfrm>
            <a:off x="4818888" y="3474720"/>
            <a:ext cx="0" cy="91440"/>
          </a:xfrm>
          <a:prstGeom prst="line">
            <a:avLst/>
          </a:prstGeom>
          <a:noFill/>
          <a:ln w="9525">
            <a:solidFill>
              <a:srgbClr val="B8C0CC"/>
            </a:solidFill>
            <a:prstDash val="solid"/>
          </a:ln>
        </p:spPr>
        <p:txBody>
          <a:bodyPr/>
          <a:lstStyle/>
          <a:p>
            <a:endParaRPr lang="en-US"/>
          </a:p>
        </p:txBody>
      </p:sp>
      <p:sp>
        <p:nvSpPr>
          <p:cNvPr id="47" name="Text 45"/>
          <p:cNvSpPr txBox="1"/>
          <p:nvPr/>
        </p:nvSpPr>
        <p:spPr>
          <a:xfrm>
            <a:off x="4544568" y="3593592"/>
            <a:ext cx="548640" cy="201168"/>
          </a:xfrm>
          <a:prstGeom prst="rect">
            <a:avLst/>
          </a:prstGeom>
          <a:noFill/>
          <a:ln/>
        </p:spPr>
        <p:txBody>
          <a:bodyPr wrap="square" lIns="0" tIns="0" rIns="0" bIns="0" rtlCol="0" anchor="t"/>
          <a:lstStyle/>
          <a:p>
            <a:pPr marL="0" indent="0" algn="ctr">
              <a:buNone/>
            </a:pPr>
            <a:r>
              <a:rPr lang="en-US" sz="1100" dirty="0">
                <a:solidFill>
                  <a:schemeClr val="accent6"/>
                </a:solidFill>
              </a:rPr>
              <a:t>10:00</a:t>
            </a:r>
            <a:endParaRPr lang="en-US" sz="1100" dirty="0"/>
          </a:p>
        </p:txBody>
      </p:sp>
      <p:sp>
        <p:nvSpPr>
          <p:cNvPr id="48" name="time tick"/>
          <p:cNvSpPr/>
          <p:nvPr/>
        </p:nvSpPr>
        <p:spPr>
          <a:xfrm>
            <a:off x="6519672" y="3474720"/>
            <a:ext cx="0" cy="91440"/>
          </a:xfrm>
          <a:prstGeom prst="line">
            <a:avLst/>
          </a:prstGeom>
          <a:noFill/>
          <a:ln w="9525">
            <a:solidFill>
              <a:srgbClr val="B8C0CC"/>
            </a:solidFill>
            <a:prstDash val="solid"/>
          </a:ln>
        </p:spPr>
        <p:txBody>
          <a:bodyPr/>
          <a:lstStyle/>
          <a:p>
            <a:endParaRPr lang="en-US"/>
          </a:p>
        </p:txBody>
      </p:sp>
      <p:sp>
        <p:nvSpPr>
          <p:cNvPr id="49" name="Text 47"/>
          <p:cNvSpPr txBox="1"/>
          <p:nvPr/>
        </p:nvSpPr>
        <p:spPr>
          <a:xfrm>
            <a:off x="6245352" y="3593592"/>
            <a:ext cx="548640" cy="201168"/>
          </a:xfrm>
          <a:prstGeom prst="rect">
            <a:avLst/>
          </a:prstGeom>
          <a:noFill/>
          <a:ln/>
        </p:spPr>
        <p:txBody>
          <a:bodyPr wrap="square" lIns="0" tIns="0" rIns="0" bIns="0" rtlCol="0" anchor="t"/>
          <a:lstStyle/>
          <a:p>
            <a:pPr marL="0" indent="0" algn="ctr">
              <a:buNone/>
            </a:pPr>
            <a:r>
              <a:rPr lang="en-US" sz="1100" dirty="0">
                <a:solidFill>
                  <a:schemeClr val="accent6"/>
                </a:solidFill>
              </a:rPr>
              <a:t>10:30</a:t>
            </a:r>
            <a:endParaRPr lang="en-US" sz="1100" dirty="0"/>
          </a:p>
        </p:txBody>
      </p:sp>
      <p:sp>
        <p:nvSpPr>
          <p:cNvPr id="50" name="Text 48"/>
          <p:cNvSpPr txBox="1"/>
          <p:nvPr/>
        </p:nvSpPr>
        <p:spPr>
          <a:xfrm>
            <a:off x="6995160" y="3593592"/>
            <a:ext cx="1691640" cy="201168"/>
          </a:xfrm>
          <a:prstGeom prst="rect">
            <a:avLst/>
          </a:prstGeom>
          <a:noFill/>
          <a:ln/>
        </p:spPr>
        <p:txBody>
          <a:bodyPr wrap="square" lIns="0" tIns="0" rIns="0" bIns="0" rtlCol="0" anchor="t"/>
          <a:lstStyle/>
          <a:p>
            <a:pPr marL="0" indent="0">
              <a:buNone/>
            </a:pPr>
            <a:r>
              <a:rPr lang="en-US" sz="1100" dirty="0">
                <a:solidFill>
                  <a:schemeClr val="accent6"/>
                </a:solidFill>
              </a:rPr>
              <a:t>total delay</a:t>
            </a:r>
            <a:endParaRPr lang="en-US" sz="1100" dirty="0"/>
          </a:p>
        </p:txBody>
      </p:sp>
      <p:sp>
        <p:nvSpPr>
          <p:cNvPr id="51" name="Text 49"/>
          <p:cNvSpPr txBox="1"/>
          <p:nvPr/>
        </p:nvSpPr>
        <p:spPr>
          <a:xfrm>
            <a:off x="457200" y="3977640"/>
            <a:ext cx="8229600" cy="548640"/>
          </a:xfrm>
          <a:prstGeom prst="rect">
            <a:avLst/>
          </a:prstGeom>
          <a:noFill/>
          <a:ln/>
        </p:spPr>
        <p:txBody>
          <a:bodyPr wrap="square" lIns="0" tIns="0" rIns="0" bIns="0" rtlCol="0" anchor="t"/>
          <a:lstStyle/>
          <a:p>
            <a:pPr marL="0" indent="0">
              <a:buNone/>
            </a:pPr>
            <a:r>
              <a:rPr lang="en-US" sz="1400" b="1" dirty="0">
                <a:solidFill>
                  <a:schemeClr val="tx2"/>
                </a:solidFill>
              </a:rPr>
              <a:t>Greedy fixed the order as each call came in. </a:t>
            </a:r>
            <a:r>
              <a:rPr lang="en-US" sz="1400" dirty="0">
                <a:solidFill>
                  <a:schemeClr val="tx1"/>
                </a:solidFill>
              </a:rPr>
              <a:t>Ours re-plans the queue the moment the vehicle frees up and does the two short calls first: 46% less delay with the same information.</a:t>
            </a:r>
            <a:endParaRPr lang="en-US" sz="1400" dirty="0"/>
          </a:p>
        </p:txBody>
      </p:sp>
      <p:sp>
        <p:nvSpPr>
          <p:cNvPr id="52"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Inside our dispatcher</a:t>
            </a:r>
            <a:endParaRPr lang="en-US" sz="3600" dirty="0"/>
          </a:p>
        </p:txBody>
      </p:sp>
      <p:sp>
        <p:nvSpPr>
          <p:cNvPr id="3" name="step 1"/>
          <p:cNvSpPr/>
          <p:nvPr/>
        </p:nvSpPr>
        <p:spPr>
          <a:xfrm>
            <a:off x="457200" y="1051560"/>
            <a:ext cx="182880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4" name="Something happens circle"/>
          <p:cNvSpPr/>
          <p:nvPr/>
        </p:nvSpPr>
        <p:spPr>
          <a:xfrm>
            <a:off x="594360" y="1188720"/>
            <a:ext cx="457200" cy="457200"/>
          </a:xfrm>
          <a:prstGeom prst="ellipse">
            <a:avLst/>
          </a:prstGeom>
          <a:solidFill>
            <a:schemeClr val="tx2"/>
          </a:solidFill>
          <a:ln w="12700">
            <a:solidFill>
              <a:schemeClr val="tx2"/>
            </a:solidFill>
            <a:prstDash val="solid"/>
          </a:ln>
        </p:spPr>
        <p:txBody>
          <a:bodyPr/>
          <a:lstStyle/>
          <a:p>
            <a:endParaRPr lang="en-US"/>
          </a:p>
        </p:txBody>
      </p:sp>
      <p:pic>
        <p:nvPicPr>
          <p:cNvPr id="5" name="Something happens icon" descr="Something happens"/>
          <p:cNvPicPr>
            <a:picLocks noChangeAspect="1"/>
          </p:cNvPicPr>
          <p:nvPr/>
        </p:nvPicPr>
        <p:blipFill>
          <a:blip r:embed="rId3"/>
          <a:stretch>
            <a:fillRect/>
          </a:stretch>
        </p:blipFill>
        <p:spPr>
          <a:xfrm>
            <a:off x="704088" y="1298448"/>
            <a:ext cx="237744" cy="237744"/>
          </a:xfrm>
          <a:prstGeom prst="rect">
            <a:avLst/>
          </a:prstGeom>
        </p:spPr>
      </p:pic>
      <p:sp>
        <p:nvSpPr>
          <p:cNvPr id="6" name="Text 3"/>
          <p:cNvSpPr txBox="1"/>
          <p:nvPr/>
        </p:nvSpPr>
        <p:spPr>
          <a:xfrm>
            <a:off x="1828800" y="1188720"/>
            <a:ext cx="320040" cy="457200"/>
          </a:xfrm>
          <a:prstGeom prst="rect">
            <a:avLst/>
          </a:prstGeom>
          <a:noFill/>
          <a:ln/>
        </p:spPr>
        <p:txBody>
          <a:bodyPr wrap="square" lIns="0" tIns="0" rIns="0" bIns="0" rtlCol="0" anchor="ctr"/>
          <a:lstStyle/>
          <a:p>
            <a:pPr marL="0" indent="0" algn="r">
              <a:buNone/>
            </a:pPr>
            <a:r>
              <a:rPr lang="en-US" sz="2000" b="1" dirty="0">
                <a:solidFill>
                  <a:schemeClr val="accent6"/>
                </a:solidFill>
              </a:rPr>
              <a:t>1</a:t>
            </a:r>
            <a:endParaRPr lang="en-US" sz="2000" dirty="0"/>
          </a:p>
        </p:txBody>
      </p:sp>
      <p:sp>
        <p:nvSpPr>
          <p:cNvPr id="7" name="Text 4"/>
          <p:cNvSpPr txBox="1"/>
          <p:nvPr/>
        </p:nvSpPr>
        <p:spPr>
          <a:xfrm>
            <a:off x="594360" y="1737360"/>
            <a:ext cx="1600200" cy="274320"/>
          </a:xfrm>
          <a:prstGeom prst="rect">
            <a:avLst/>
          </a:prstGeom>
          <a:noFill/>
          <a:ln/>
        </p:spPr>
        <p:txBody>
          <a:bodyPr wrap="square" lIns="0" tIns="0" rIns="0" bIns="0" rtlCol="0" anchor="t"/>
          <a:lstStyle/>
          <a:p>
            <a:pPr marL="0" indent="0">
              <a:buNone/>
            </a:pPr>
            <a:r>
              <a:rPr lang="en-US" sz="1500" b="1" dirty="0">
                <a:solidFill>
                  <a:schemeClr val="tx2"/>
                </a:solidFill>
              </a:rPr>
              <a:t>Something happens</a:t>
            </a:r>
            <a:endParaRPr lang="en-US" sz="1500" dirty="0"/>
          </a:p>
        </p:txBody>
      </p:sp>
      <p:sp>
        <p:nvSpPr>
          <p:cNvPr id="8" name="Text 5"/>
          <p:cNvSpPr txBox="1"/>
          <p:nvPr/>
        </p:nvSpPr>
        <p:spPr>
          <a:xfrm>
            <a:off x="594360" y="2029968"/>
            <a:ext cx="1600200" cy="685800"/>
          </a:xfrm>
          <a:prstGeom prst="rect">
            <a:avLst/>
          </a:prstGeom>
          <a:noFill/>
          <a:ln/>
        </p:spPr>
        <p:txBody>
          <a:bodyPr wrap="square" lIns="0" tIns="0" rIns="0" bIns="0" rtlCol="0" anchor="t"/>
          <a:lstStyle/>
          <a:p>
            <a:pPr marL="0" indent="0">
              <a:buNone/>
            </a:pPr>
            <a:r>
              <a:rPr lang="en-US" sz="1400" dirty="0">
                <a:solidFill>
                  <a:schemeClr val="tx1"/>
                </a:solidFill>
              </a:rPr>
              <a:t>A call comes in or a vehicle frees up</a:t>
            </a:r>
            <a:endParaRPr lang="en-US" sz="1400" dirty="0"/>
          </a:p>
        </p:txBody>
      </p:sp>
      <p:sp>
        <p:nvSpPr>
          <p:cNvPr id="9" name="flow arrow"/>
          <p:cNvSpPr/>
          <p:nvPr/>
        </p:nvSpPr>
        <p:spPr>
          <a:xfrm rot="5400000">
            <a:off x="2350008" y="1810512"/>
            <a:ext cx="182880" cy="182880"/>
          </a:xfrm>
          <a:prstGeom prst="triangle">
            <a:avLst/>
          </a:prstGeom>
          <a:solidFill>
            <a:schemeClr val="accent6"/>
          </a:solidFill>
          <a:ln w="12700">
            <a:solidFill>
              <a:schemeClr val="accent6"/>
            </a:solidFill>
            <a:prstDash val="solid"/>
          </a:ln>
        </p:spPr>
        <p:txBody>
          <a:bodyPr/>
          <a:lstStyle/>
          <a:p>
            <a:endParaRPr lang="en-US"/>
          </a:p>
        </p:txBody>
      </p:sp>
      <p:sp>
        <p:nvSpPr>
          <p:cNvPr id="10" name="step 2"/>
          <p:cNvSpPr/>
          <p:nvPr/>
        </p:nvSpPr>
        <p:spPr>
          <a:xfrm>
            <a:off x="2590495" y="1051560"/>
            <a:ext cx="182880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11" name="Re-plan the queue circle"/>
          <p:cNvSpPr/>
          <p:nvPr/>
        </p:nvSpPr>
        <p:spPr>
          <a:xfrm>
            <a:off x="2727655" y="1188720"/>
            <a:ext cx="457200" cy="457200"/>
          </a:xfrm>
          <a:prstGeom prst="ellipse">
            <a:avLst/>
          </a:prstGeom>
          <a:solidFill>
            <a:schemeClr val="accent1"/>
          </a:solidFill>
          <a:ln w="12700">
            <a:solidFill>
              <a:schemeClr val="accent1"/>
            </a:solidFill>
            <a:prstDash val="solid"/>
          </a:ln>
        </p:spPr>
        <p:txBody>
          <a:bodyPr/>
          <a:lstStyle/>
          <a:p>
            <a:endParaRPr lang="en-US"/>
          </a:p>
        </p:txBody>
      </p:sp>
      <p:pic>
        <p:nvPicPr>
          <p:cNvPr id="12" name="Re-plan the queue icon" descr="Re-plan the queue"/>
          <p:cNvPicPr>
            <a:picLocks noChangeAspect="1"/>
          </p:cNvPicPr>
          <p:nvPr/>
        </p:nvPicPr>
        <p:blipFill>
          <a:blip r:embed="rId4"/>
          <a:stretch>
            <a:fillRect/>
          </a:stretch>
        </p:blipFill>
        <p:spPr>
          <a:xfrm>
            <a:off x="2837383" y="1298448"/>
            <a:ext cx="237744" cy="237744"/>
          </a:xfrm>
          <a:prstGeom prst="rect">
            <a:avLst/>
          </a:prstGeom>
        </p:spPr>
      </p:pic>
      <p:sp>
        <p:nvSpPr>
          <p:cNvPr id="13" name="Text 9"/>
          <p:cNvSpPr txBox="1"/>
          <p:nvPr/>
        </p:nvSpPr>
        <p:spPr>
          <a:xfrm>
            <a:off x="3962095" y="1188720"/>
            <a:ext cx="320040" cy="457200"/>
          </a:xfrm>
          <a:prstGeom prst="rect">
            <a:avLst/>
          </a:prstGeom>
          <a:noFill/>
          <a:ln/>
        </p:spPr>
        <p:txBody>
          <a:bodyPr wrap="square" lIns="0" tIns="0" rIns="0" bIns="0" rtlCol="0" anchor="ctr"/>
          <a:lstStyle/>
          <a:p>
            <a:pPr marL="0" indent="0" algn="r">
              <a:buNone/>
            </a:pPr>
            <a:r>
              <a:rPr lang="en-US" sz="2000" b="1" dirty="0">
                <a:solidFill>
                  <a:schemeClr val="accent6"/>
                </a:solidFill>
              </a:rPr>
              <a:t>2</a:t>
            </a:r>
            <a:endParaRPr lang="en-US" sz="2000" dirty="0"/>
          </a:p>
        </p:txBody>
      </p:sp>
      <p:sp>
        <p:nvSpPr>
          <p:cNvPr id="14" name="Text 10"/>
          <p:cNvSpPr txBox="1"/>
          <p:nvPr/>
        </p:nvSpPr>
        <p:spPr>
          <a:xfrm>
            <a:off x="2727655" y="1737360"/>
            <a:ext cx="1600200" cy="274320"/>
          </a:xfrm>
          <a:prstGeom prst="rect">
            <a:avLst/>
          </a:prstGeom>
          <a:noFill/>
          <a:ln/>
        </p:spPr>
        <p:txBody>
          <a:bodyPr wrap="square" lIns="0" tIns="0" rIns="0" bIns="0" rtlCol="0" anchor="t"/>
          <a:lstStyle/>
          <a:p>
            <a:pPr marL="0" indent="0">
              <a:buNone/>
            </a:pPr>
            <a:r>
              <a:rPr lang="en-US" sz="1500" b="1" dirty="0">
                <a:solidFill>
                  <a:schemeClr val="tx2"/>
                </a:solidFill>
              </a:rPr>
              <a:t>Re-plan the queue</a:t>
            </a:r>
            <a:endParaRPr lang="en-US" sz="1500" dirty="0"/>
          </a:p>
        </p:txBody>
      </p:sp>
      <p:sp>
        <p:nvSpPr>
          <p:cNvPr id="15" name="Text 11"/>
          <p:cNvSpPr txBox="1"/>
          <p:nvPr/>
        </p:nvSpPr>
        <p:spPr>
          <a:xfrm>
            <a:off x="2727655" y="2029968"/>
            <a:ext cx="1600200" cy="685800"/>
          </a:xfrm>
          <a:prstGeom prst="rect">
            <a:avLst/>
          </a:prstGeom>
          <a:noFill/>
          <a:ln/>
        </p:spPr>
        <p:txBody>
          <a:bodyPr wrap="square" lIns="0" tIns="0" rIns="0" bIns="0" rtlCol="0" anchor="t"/>
          <a:lstStyle/>
          <a:p>
            <a:pPr marL="0" indent="0">
              <a:buNone/>
            </a:pPr>
            <a:r>
              <a:rPr lang="en-US" sz="1400" dirty="0">
                <a:solidFill>
                  <a:schemeClr val="tx1"/>
                </a:solidFill>
              </a:rPr>
              <a:t>Every waiting call over every vehicle</a:t>
            </a:r>
            <a:endParaRPr lang="en-US" sz="1400" dirty="0"/>
          </a:p>
        </p:txBody>
      </p:sp>
      <p:sp>
        <p:nvSpPr>
          <p:cNvPr id="16" name="flow arrow"/>
          <p:cNvSpPr/>
          <p:nvPr/>
        </p:nvSpPr>
        <p:spPr>
          <a:xfrm rot="5400000">
            <a:off x="4483303" y="1810512"/>
            <a:ext cx="182880" cy="182880"/>
          </a:xfrm>
          <a:prstGeom prst="triangle">
            <a:avLst/>
          </a:prstGeom>
          <a:solidFill>
            <a:schemeClr val="accent6"/>
          </a:solidFill>
          <a:ln w="12700">
            <a:solidFill>
              <a:schemeClr val="accent6"/>
            </a:solidFill>
            <a:prstDash val="solid"/>
          </a:ln>
        </p:spPr>
        <p:txBody>
          <a:bodyPr/>
          <a:lstStyle/>
          <a:p>
            <a:endParaRPr lang="en-US"/>
          </a:p>
        </p:txBody>
      </p:sp>
      <p:sp>
        <p:nvSpPr>
          <p:cNvPr id="17" name="step 3"/>
          <p:cNvSpPr/>
          <p:nvPr/>
        </p:nvSpPr>
        <p:spPr>
          <a:xfrm>
            <a:off x="4723790" y="1051560"/>
            <a:ext cx="182880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18" name="Dispatch circle"/>
          <p:cNvSpPr/>
          <p:nvPr/>
        </p:nvSpPr>
        <p:spPr>
          <a:xfrm>
            <a:off x="4860950" y="1188720"/>
            <a:ext cx="457200" cy="457200"/>
          </a:xfrm>
          <a:prstGeom prst="ellipse">
            <a:avLst/>
          </a:prstGeom>
          <a:solidFill>
            <a:schemeClr val="tx2"/>
          </a:solidFill>
          <a:ln w="12700">
            <a:solidFill>
              <a:schemeClr val="tx2"/>
            </a:solidFill>
            <a:prstDash val="solid"/>
          </a:ln>
        </p:spPr>
        <p:txBody>
          <a:bodyPr/>
          <a:lstStyle/>
          <a:p>
            <a:endParaRPr lang="en-US"/>
          </a:p>
        </p:txBody>
      </p:sp>
      <p:pic>
        <p:nvPicPr>
          <p:cNvPr id="19" name="Dispatch icon" descr="Dispatch"/>
          <p:cNvPicPr>
            <a:picLocks noChangeAspect="1"/>
          </p:cNvPicPr>
          <p:nvPr/>
        </p:nvPicPr>
        <p:blipFill>
          <a:blip r:embed="rId5"/>
          <a:stretch>
            <a:fillRect/>
          </a:stretch>
        </p:blipFill>
        <p:spPr>
          <a:xfrm>
            <a:off x="4970678" y="1298448"/>
            <a:ext cx="237744" cy="237744"/>
          </a:xfrm>
          <a:prstGeom prst="rect">
            <a:avLst/>
          </a:prstGeom>
        </p:spPr>
      </p:pic>
      <p:sp>
        <p:nvSpPr>
          <p:cNvPr id="20" name="Text 15"/>
          <p:cNvSpPr txBox="1"/>
          <p:nvPr/>
        </p:nvSpPr>
        <p:spPr>
          <a:xfrm>
            <a:off x="6095390" y="1188720"/>
            <a:ext cx="320040" cy="457200"/>
          </a:xfrm>
          <a:prstGeom prst="rect">
            <a:avLst/>
          </a:prstGeom>
          <a:noFill/>
          <a:ln/>
        </p:spPr>
        <p:txBody>
          <a:bodyPr wrap="square" lIns="0" tIns="0" rIns="0" bIns="0" rtlCol="0" anchor="ctr"/>
          <a:lstStyle/>
          <a:p>
            <a:pPr marL="0" indent="0" algn="r">
              <a:buNone/>
            </a:pPr>
            <a:r>
              <a:rPr lang="en-US" sz="2000" b="1" dirty="0">
                <a:solidFill>
                  <a:schemeClr val="accent6"/>
                </a:solidFill>
              </a:rPr>
              <a:t>3</a:t>
            </a:r>
            <a:endParaRPr lang="en-US" sz="2000" dirty="0"/>
          </a:p>
        </p:txBody>
      </p:sp>
      <p:sp>
        <p:nvSpPr>
          <p:cNvPr id="21" name="Text 16"/>
          <p:cNvSpPr txBox="1"/>
          <p:nvPr/>
        </p:nvSpPr>
        <p:spPr>
          <a:xfrm>
            <a:off x="4860950" y="1737360"/>
            <a:ext cx="1600200" cy="274320"/>
          </a:xfrm>
          <a:prstGeom prst="rect">
            <a:avLst/>
          </a:prstGeom>
          <a:noFill/>
          <a:ln/>
        </p:spPr>
        <p:txBody>
          <a:bodyPr wrap="square" lIns="0" tIns="0" rIns="0" bIns="0" rtlCol="0" anchor="t"/>
          <a:lstStyle/>
          <a:p>
            <a:pPr marL="0" indent="0">
              <a:buNone/>
            </a:pPr>
            <a:r>
              <a:rPr lang="en-US" sz="1500" b="1" dirty="0">
                <a:solidFill>
                  <a:schemeClr val="tx2"/>
                </a:solidFill>
              </a:rPr>
              <a:t>Dispatch</a:t>
            </a:r>
            <a:endParaRPr lang="en-US" sz="1500" dirty="0"/>
          </a:p>
        </p:txBody>
      </p:sp>
      <p:sp>
        <p:nvSpPr>
          <p:cNvPr id="22" name="Text 17"/>
          <p:cNvSpPr txBox="1"/>
          <p:nvPr/>
        </p:nvSpPr>
        <p:spPr>
          <a:xfrm>
            <a:off x="4860950" y="2029968"/>
            <a:ext cx="1600200" cy="685800"/>
          </a:xfrm>
          <a:prstGeom prst="rect">
            <a:avLst/>
          </a:prstGeom>
          <a:noFill/>
          <a:ln/>
        </p:spPr>
        <p:txBody>
          <a:bodyPr wrap="square" lIns="0" tIns="0" rIns="0" bIns="0" rtlCol="0" anchor="t"/>
          <a:lstStyle/>
          <a:p>
            <a:pPr marL="0" indent="0">
              <a:buNone/>
            </a:pPr>
            <a:r>
              <a:rPr lang="en-US" sz="1400" dirty="0">
                <a:solidFill>
                  <a:schemeClr val="tx1"/>
                </a:solidFill>
              </a:rPr>
              <a:t>Leave for the first call in each queue; driving is committed</a:t>
            </a:r>
            <a:endParaRPr lang="en-US" sz="1400" dirty="0"/>
          </a:p>
        </p:txBody>
      </p:sp>
      <p:sp>
        <p:nvSpPr>
          <p:cNvPr id="23" name="flow arrow"/>
          <p:cNvSpPr/>
          <p:nvPr/>
        </p:nvSpPr>
        <p:spPr>
          <a:xfrm rot="5400000">
            <a:off x="6616598" y="1810512"/>
            <a:ext cx="182880" cy="182880"/>
          </a:xfrm>
          <a:prstGeom prst="triangle">
            <a:avLst/>
          </a:prstGeom>
          <a:solidFill>
            <a:schemeClr val="accent6"/>
          </a:solidFill>
          <a:ln w="12700">
            <a:solidFill>
              <a:schemeClr val="accent6"/>
            </a:solidFill>
            <a:prstDash val="solid"/>
          </a:ln>
        </p:spPr>
        <p:txBody>
          <a:bodyPr/>
          <a:lstStyle/>
          <a:p>
            <a:endParaRPr lang="en-US"/>
          </a:p>
        </p:txBody>
      </p:sp>
      <p:sp>
        <p:nvSpPr>
          <p:cNvPr id="24" name="step 4"/>
          <p:cNvSpPr/>
          <p:nvPr/>
        </p:nvSpPr>
        <p:spPr>
          <a:xfrm>
            <a:off x="6857086" y="1051560"/>
            <a:ext cx="1828800" cy="1691640"/>
          </a:xfrm>
          <a:prstGeom prst="roundRect">
            <a:avLst>
              <a:gd name="adj" fmla="val 4324"/>
            </a:avLst>
          </a:prstGeom>
          <a:solidFill>
            <a:schemeClr val="bg2"/>
          </a:solidFill>
          <a:ln w="12700">
            <a:solidFill>
              <a:schemeClr val="bg2"/>
            </a:solidFill>
            <a:prstDash val="solid"/>
          </a:ln>
        </p:spPr>
        <p:txBody>
          <a:bodyPr/>
          <a:lstStyle/>
          <a:p>
            <a:endParaRPr lang="en-US"/>
          </a:p>
        </p:txBody>
      </p:sp>
      <p:sp>
        <p:nvSpPr>
          <p:cNvPr id="25" name="Reposition circle"/>
          <p:cNvSpPr/>
          <p:nvPr/>
        </p:nvSpPr>
        <p:spPr>
          <a:xfrm>
            <a:off x="6994246" y="1188720"/>
            <a:ext cx="457200" cy="457200"/>
          </a:xfrm>
          <a:prstGeom prst="ellipse">
            <a:avLst/>
          </a:prstGeom>
          <a:solidFill>
            <a:schemeClr val="tx2"/>
          </a:solidFill>
          <a:ln w="12700">
            <a:solidFill>
              <a:schemeClr val="tx2"/>
            </a:solidFill>
            <a:prstDash val="solid"/>
          </a:ln>
        </p:spPr>
        <p:txBody>
          <a:bodyPr/>
          <a:lstStyle/>
          <a:p>
            <a:endParaRPr lang="en-US"/>
          </a:p>
        </p:txBody>
      </p:sp>
      <p:pic>
        <p:nvPicPr>
          <p:cNvPr id="26" name="Reposition icon" descr="Reposition"/>
          <p:cNvPicPr>
            <a:picLocks noChangeAspect="1"/>
          </p:cNvPicPr>
          <p:nvPr/>
        </p:nvPicPr>
        <p:blipFill>
          <a:blip r:embed="rId6"/>
          <a:stretch>
            <a:fillRect/>
          </a:stretch>
        </p:blipFill>
        <p:spPr>
          <a:xfrm>
            <a:off x="7103974" y="1298448"/>
            <a:ext cx="237744" cy="237744"/>
          </a:xfrm>
          <a:prstGeom prst="rect">
            <a:avLst/>
          </a:prstGeom>
        </p:spPr>
      </p:pic>
      <p:sp>
        <p:nvSpPr>
          <p:cNvPr id="27" name="Text 21"/>
          <p:cNvSpPr txBox="1"/>
          <p:nvPr/>
        </p:nvSpPr>
        <p:spPr>
          <a:xfrm>
            <a:off x="8228686" y="1188720"/>
            <a:ext cx="320040" cy="457200"/>
          </a:xfrm>
          <a:prstGeom prst="rect">
            <a:avLst/>
          </a:prstGeom>
          <a:noFill/>
          <a:ln/>
        </p:spPr>
        <p:txBody>
          <a:bodyPr wrap="square" lIns="0" tIns="0" rIns="0" bIns="0" rtlCol="0" anchor="ctr"/>
          <a:lstStyle/>
          <a:p>
            <a:pPr marL="0" indent="0" algn="r">
              <a:buNone/>
            </a:pPr>
            <a:r>
              <a:rPr lang="en-US" sz="2000" b="1" dirty="0">
                <a:solidFill>
                  <a:schemeClr val="accent6"/>
                </a:solidFill>
              </a:rPr>
              <a:t>4</a:t>
            </a:r>
            <a:endParaRPr lang="en-US" sz="2000" dirty="0"/>
          </a:p>
        </p:txBody>
      </p:sp>
      <p:sp>
        <p:nvSpPr>
          <p:cNvPr id="28" name="Text 22"/>
          <p:cNvSpPr txBox="1"/>
          <p:nvPr/>
        </p:nvSpPr>
        <p:spPr>
          <a:xfrm>
            <a:off x="6994246" y="1737360"/>
            <a:ext cx="1600200" cy="274320"/>
          </a:xfrm>
          <a:prstGeom prst="rect">
            <a:avLst/>
          </a:prstGeom>
          <a:noFill/>
          <a:ln/>
        </p:spPr>
        <p:txBody>
          <a:bodyPr wrap="square" lIns="0" tIns="0" rIns="0" bIns="0" rtlCol="0" anchor="t"/>
          <a:lstStyle/>
          <a:p>
            <a:pPr marL="0" indent="0">
              <a:buNone/>
            </a:pPr>
            <a:r>
              <a:rPr lang="en-US" sz="1500" b="1" dirty="0">
                <a:solidFill>
                  <a:schemeClr val="tx2"/>
                </a:solidFill>
              </a:rPr>
              <a:t>Reposition</a:t>
            </a:r>
            <a:endParaRPr lang="en-US" sz="1500" dirty="0"/>
          </a:p>
        </p:txBody>
      </p:sp>
      <p:sp>
        <p:nvSpPr>
          <p:cNvPr id="29" name="Text 23"/>
          <p:cNvSpPr txBox="1"/>
          <p:nvPr/>
        </p:nvSpPr>
        <p:spPr>
          <a:xfrm>
            <a:off x="6994246" y="2029968"/>
            <a:ext cx="1600200" cy="685800"/>
          </a:xfrm>
          <a:prstGeom prst="rect">
            <a:avLst/>
          </a:prstGeom>
          <a:noFill/>
          <a:ln/>
        </p:spPr>
        <p:txBody>
          <a:bodyPr wrap="square" lIns="0" tIns="0" rIns="0" bIns="0" rtlCol="0" anchor="t"/>
          <a:lstStyle/>
          <a:p>
            <a:pPr marL="0" indent="0">
              <a:buNone/>
            </a:pPr>
            <a:r>
              <a:rPr lang="en-US" sz="1400" dirty="0">
                <a:solidFill>
                  <a:schemeClr val="tx1"/>
                </a:solidFill>
              </a:rPr>
              <a:t>Idle vehicles go to standby spots; after midnight, home</a:t>
            </a:r>
            <a:endParaRPr lang="en-US" sz="1400" dirty="0"/>
          </a:p>
        </p:txBody>
      </p:sp>
      <p:sp>
        <p:nvSpPr>
          <p:cNvPr id="30" name="Text 24"/>
          <p:cNvSpPr txBox="1"/>
          <p:nvPr/>
        </p:nvSpPr>
        <p:spPr>
          <a:xfrm>
            <a:off x="457200" y="2971800"/>
            <a:ext cx="8229600" cy="274320"/>
          </a:xfrm>
          <a:prstGeom prst="rect">
            <a:avLst/>
          </a:prstGeom>
          <a:noFill/>
          <a:ln/>
        </p:spPr>
        <p:txBody>
          <a:bodyPr wrap="square" lIns="0" tIns="0" rIns="0" bIns="0" rtlCol="0" anchor="t"/>
          <a:lstStyle/>
          <a:p>
            <a:pPr marL="0" indent="0">
              <a:buNone/>
            </a:pPr>
            <a:r>
              <a:rPr lang="en-US" sz="1400" b="1" dirty="0">
                <a:solidFill>
                  <a:schemeClr val="accent6"/>
                </a:solidFill>
              </a:rPr>
              <a:t>Re-planning, by how many calls are waiting</a:t>
            </a:r>
            <a:endParaRPr lang="en-US" sz="1400" dirty="0"/>
          </a:p>
        </p:txBody>
      </p:sp>
      <p:sp>
        <p:nvSpPr>
          <p:cNvPr id="31" name="tier 1"/>
          <p:cNvSpPr/>
          <p:nvPr/>
        </p:nvSpPr>
        <p:spPr>
          <a:xfrm>
            <a:off x="457200" y="3291840"/>
            <a:ext cx="2560320"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32" name="Text 26"/>
          <p:cNvSpPr txBox="1"/>
          <p:nvPr/>
        </p:nvSpPr>
        <p:spPr>
          <a:xfrm>
            <a:off x="640080" y="3383280"/>
            <a:ext cx="2194560" cy="457200"/>
          </a:xfrm>
          <a:prstGeom prst="rect">
            <a:avLst/>
          </a:prstGeom>
          <a:noFill/>
          <a:ln/>
        </p:spPr>
        <p:txBody>
          <a:bodyPr wrap="square" lIns="0" tIns="0" rIns="0" bIns="0" rtlCol="0" anchor="ctr"/>
          <a:lstStyle/>
          <a:p>
            <a:pPr marL="0" indent="0">
              <a:buNone/>
            </a:pPr>
            <a:r>
              <a:rPr lang="en-US" sz="2400" b="1" dirty="0">
                <a:solidFill>
                  <a:schemeClr val="accent1"/>
                </a:solidFill>
              </a:rPr>
              <a:t>≤ 7</a:t>
            </a:r>
            <a:endParaRPr lang="en-US" sz="2400" dirty="0"/>
          </a:p>
        </p:txBody>
      </p:sp>
      <p:sp>
        <p:nvSpPr>
          <p:cNvPr id="33" name="Text 27"/>
          <p:cNvSpPr txBox="1"/>
          <p:nvPr/>
        </p:nvSpPr>
        <p:spPr>
          <a:xfrm>
            <a:off x="640080" y="3858768"/>
            <a:ext cx="2240280" cy="548640"/>
          </a:xfrm>
          <a:prstGeom prst="rect">
            <a:avLst/>
          </a:prstGeom>
          <a:noFill/>
          <a:ln/>
        </p:spPr>
        <p:txBody>
          <a:bodyPr wrap="square" lIns="0" tIns="0" rIns="0" bIns="0" rtlCol="0" anchor="t"/>
          <a:lstStyle/>
          <a:p>
            <a:pPr marL="0" indent="0">
              <a:buNone/>
            </a:pPr>
            <a:r>
              <a:rPr lang="en-US" sz="1400" dirty="0">
                <a:solidFill>
                  <a:schemeClr val="tx1"/>
                </a:solidFill>
              </a:rPr>
              <a:t>Try every split and every order</a:t>
            </a:r>
            <a:endParaRPr lang="en-US" sz="1400" dirty="0"/>
          </a:p>
        </p:txBody>
      </p:sp>
      <p:sp>
        <p:nvSpPr>
          <p:cNvPr id="34" name="tier 2"/>
          <p:cNvSpPr/>
          <p:nvPr/>
        </p:nvSpPr>
        <p:spPr>
          <a:xfrm>
            <a:off x="3291840" y="3291840"/>
            <a:ext cx="2560320"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35" name="Text 29"/>
          <p:cNvSpPr txBox="1"/>
          <p:nvPr/>
        </p:nvSpPr>
        <p:spPr>
          <a:xfrm>
            <a:off x="3474720" y="3383280"/>
            <a:ext cx="2194560" cy="457200"/>
          </a:xfrm>
          <a:prstGeom prst="rect">
            <a:avLst/>
          </a:prstGeom>
          <a:noFill/>
          <a:ln/>
        </p:spPr>
        <p:txBody>
          <a:bodyPr wrap="square" lIns="0" tIns="0" rIns="0" bIns="0" rtlCol="0" anchor="ctr"/>
          <a:lstStyle/>
          <a:p>
            <a:pPr marL="0" indent="0">
              <a:buNone/>
            </a:pPr>
            <a:r>
              <a:rPr lang="en-US" sz="2400" b="1" dirty="0">
                <a:solidFill>
                  <a:schemeClr val="accent1"/>
                </a:solidFill>
              </a:rPr>
              <a:t>8 to 12</a:t>
            </a:r>
            <a:endParaRPr lang="en-US" sz="2400" dirty="0"/>
          </a:p>
        </p:txBody>
      </p:sp>
      <p:sp>
        <p:nvSpPr>
          <p:cNvPr id="36" name="Text 30"/>
          <p:cNvSpPr txBox="1"/>
          <p:nvPr/>
        </p:nvSpPr>
        <p:spPr>
          <a:xfrm>
            <a:off x="3474720" y="3858768"/>
            <a:ext cx="2240280" cy="548640"/>
          </a:xfrm>
          <a:prstGeom prst="rect">
            <a:avLst/>
          </a:prstGeom>
          <a:noFill/>
          <a:ln/>
        </p:spPr>
        <p:txBody>
          <a:bodyPr wrap="square" lIns="0" tIns="0" rIns="0" bIns="0" rtlCol="0" anchor="t"/>
          <a:lstStyle/>
          <a:p>
            <a:pPr marL="0" indent="0">
              <a:buNone/>
            </a:pPr>
            <a:r>
              <a:rPr lang="en-US" sz="1400" dirty="0">
                <a:solidFill>
                  <a:schemeClr val="tx1"/>
                </a:solidFill>
              </a:rPr>
              <a:t>Exact dynamic program over subsets</a:t>
            </a:r>
            <a:endParaRPr lang="en-US" sz="1400" dirty="0"/>
          </a:p>
        </p:txBody>
      </p:sp>
      <p:sp>
        <p:nvSpPr>
          <p:cNvPr id="37" name="tier 3"/>
          <p:cNvSpPr/>
          <p:nvPr/>
        </p:nvSpPr>
        <p:spPr>
          <a:xfrm>
            <a:off x="6126480" y="3291840"/>
            <a:ext cx="2560320" cy="1097280"/>
          </a:xfrm>
          <a:prstGeom prst="roundRect">
            <a:avLst>
              <a:gd name="adj" fmla="val 6667"/>
            </a:avLst>
          </a:prstGeom>
          <a:solidFill>
            <a:schemeClr val="bg2"/>
          </a:solidFill>
          <a:ln w="12700">
            <a:solidFill>
              <a:schemeClr val="bg2"/>
            </a:solidFill>
            <a:prstDash val="solid"/>
          </a:ln>
        </p:spPr>
        <p:txBody>
          <a:bodyPr/>
          <a:lstStyle/>
          <a:p>
            <a:endParaRPr lang="en-US"/>
          </a:p>
        </p:txBody>
      </p:sp>
      <p:sp>
        <p:nvSpPr>
          <p:cNvPr id="38" name="Text 32"/>
          <p:cNvSpPr txBox="1"/>
          <p:nvPr/>
        </p:nvSpPr>
        <p:spPr>
          <a:xfrm>
            <a:off x="6309360" y="3383280"/>
            <a:ext cx="2194560" cy="457200"/>
          </a:xfrm>
          <a:prstGeom prst="rect">
            <a:avLst/>
          </a:prstGeom>
          <a:noFill/>
          <a:ln/>
        </p:spPr>
        <p:txBody>
          <a:bodyPr wrap="square" lIns="0" tIns="0" rIns="0" bIns="0" rtlCol="0" anchor="ctr"/>
          <a:lstStyle/>
          <a:p>
            <a:pPr marL="0" indent="0">
              <a:buNone/>
            </a:pPr>
            <a:r>
              <a:rPr lang="en-US" sz="2400" b="1" dirty="0">
                <a:solidFill>
                  <a:schemeClr val="accent1"/>
                </a:solidFill>
              </a:rPr>
              <a:t>13 or more</a:t>
            </a:r>
            <a:endParaRPr lang="en-US" sz="2400" dirty="0"/>
          </a:p>
        </p:txBody>
      </p:sp>
      <p:sp>
        <p:nvSpPr>
          <p:cNvPr id="39" name="Text 33"/>
          <p:cNvSpPr txBox="1"/>
          <p:nvPr/>
        </p:nvSpPr>
        <p:spPr>
          <a:xfrm>
            <a:off x="6309360" y="3858768"/>
            <a:ext cx="2240280" cy="548640"/>
          </a:xfrm>
          <a:prstGeom prst="rect">
            <a:avLst/>
          </a:prstGeom>
          <a:noFill/>
          <a:ln/>
        </p:spPr>
        <p:txBody>
          <a:bodyPr wrap="square" lIns="0" tIns="0" rIns="0" bIns="0" rtlCol="0" anchor="t"/>
          <a:lstStyle/>
          <a:p>
            <a:pPr marL="0" indent="0">
              <a:buNone/>
            </a:pPr>
            <a:r>
              <a:rPr lang="en-US" sz="1400" dirty="0">
                <a:solidFill>
                  <a:schemeClr val="tx1"/>
                </a:solidFill>
              </a:rPr>
              <a:t>Cheapest insertion, then moves and swaps</a:t>
            </a:r>
            <a:endParaRPr lang="en-US" sz="1400" dirty="0"/>
          </a:p>
        </p:txBody>
      </p:sp>
      <p:sp>
        <p:nvSpPr>
          <p:cNvPr id="40"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Where idle vehicles wait</a:t>
            </a:r>
            <a:endParaRPr lang="en-US" sz="3600" dirty="0"/>
          </a:p>
        </p:txBody>
      </p:sp>
      <p:sp>
        <p:nvSpPr>
          <p:cNvPr id="3" name="standby map grid"/>
          <p:cNvSpPr/>
          <p:nvPr/>
        </p:nvSpPr>
        <p:spPr>
          <a:xfrm>
            <a:off x="548640" y="1097280"/>
            <a:ext cx="0" cy="3136392"/>
          </a:xfrm>
          <a:prstGeom prst="line">
            <a:avLst/>
          </a:prstGeom>
          <a:noFill/>
          <a:ln w="6350">
            <a:solidFill>
              <a:srgbClr val="E6EAF0"/>
            </a:solidFill>
            <a:prstDash val="solid"/>
          </a:ln>
        </p:spPr>
        <p:txBody>
          <a:bodyPr/>
          <a:lstStyle/>
          <a:p>
            <a:endParaRPr lang="en-US"/>
          </a:p>
        </p:txBody>
      </p:sp>
      <p:sp>
        <p:nvSpPr>
          <p:cNvPr id="4" name="standby map grid"/>
          <p:cNvSpPr/>
          <p:nvPr/>
        </p:nvSpPr>
        <p:spPr>
          <a:xfrm>
            <a:off x="638251" y="1097280"/>
            <a:ext cx="0" cy="3136392"/>
          </a:xfrm>
          <a:prstGeom prst="line">
            <a:avLst/>
          </a:prstGeom>
          <a:noFill/>
          <a:ln w="6350">
            <a:solidFill>
              <a:srgbClr val="E6EAF0"/>
            </a:solidFill>
            <a:prstDash val="solid"/>
          </a:ln>
        </p:spPr>
        <p:txBody>
          <a:bodyPr/>
          <a:lstStyle/>
          <a:p>
            <a:endParaRPr lang="en-US"/>
          </a:p>
        </p:txBody>
      </p:sp>
      <p:sp>
        <p:nvSpPr>
          <p:cNvPr id="5" name="standby map grid"/>
          <p:cNvSpPr/>
          <p:nvPr/>
        </p:nvSpPr>
        <p:spPr>
          <a:xfrm>
            <a:off x="727862" y="1097280"/>
            <a:ext cx="0" cy="3136392"/>
          </a:xfrm>
          <a:prstGeom prst="line">
            <a:avLst/>
          </a:prstGeom>
          <a:noFill/>
          <a:ln w="6350">
            <a:solidFill>
              <a:srgbClr val="E6EAF0"/>
            </a:solidFill>
            <a:prstDash val="solid"/>
          </a:ln>
        </p:spPr>
        <p:txBody>
          <a:bodyPr/>
          <a:lstStyle/>
          <a:p>
            <a:endParaRPr lang="en-US"/>
          </a:p>
        </p:txBody>
      </p:sp>
      <p:sp>
        <p:nvSpPr>
          <p:cNvPr id="6" name="standby map grid"/>
          <p:cNvSpPr/>
          <p:nvPr/>
        </p:nvSpPr>
        <p:spPr>
          <a:xfrm>
            <a:off x="817474" y="1097280"/>
            <a:ext cx="0" cy="3136392"/>
          </a:xfrm>
          <a:prstGeom prst="line">
            <a:avLst/>
          </a:prstGeom>
          <a:noFill/>
          <a:ln w="6350">
            <a:solidFill>
              <a:srgbClr val="E6EAF0"/>
            </a:solidFill>
            <a:prstDash val="solid"/>
          </a:ln>
        </p:spPr>
        <p:txBody>
          <a:bodyPr/>
          <a:lstStyle/>
          <a:p>
            <a:endParaRPr lang="en-US"/>
          </a:p>
        </p:txBody>
      </p:sp>
      <p:sp>
        <p:nvSpPr>
          <p:cNvPr id="7" name="standby map grid"/>
          <p:cNvSpPr/>
          <p:nvPr/>
        </p:nvSpPr>
        <p:spPr>
          <a:xfrm>
            <a:off x="907085" y="1097280"/>
            <a:ext cx="0" cy="3136392"/>
          </a:xfrm>
          <a:prstGeom prst="line">
            <a:avLst/>
          </a:prstGeom>
          <a:noFill/>
          <a:ln w="6350">
            <a:solidFill>
              <a:srgbClr val="E6EAF0"/>
            </a:solidFill>
            <a:prstDash val="solid"/>
          </a:ln>
        </p:spPr>
        <p:txBody>
          <a:bodyPr/>
          <a:lstStyle/>
          <a:p>
            <a:endParaRPr lang="en-US"/>
          </a:p>
        </p:txBody>
      </p:sp>
      <p:sp>
        <p:nvSpPr>
          <p:cNvPr id="8" name="standby map grid"/>
          <p:cNvSpPr/>
          <p:nvPr/>
        </p:nvSpPr>
        <p:spPr>
          <a:xfrm>
            <a:off x="996696" y="1097280"/>
            <a:ext cx="0" cy="3136392"/>
          </a:xfrm>
          <a:prstGeom prst="line">
            <a:avLst/>
          </a:prstGeom>
          <a:noFill/>
          <a:ln w="6350">
            <a:solidFill>
              <a:srgbClr val="E6EAF0"/>
            </a:solidFill>
            <a:prstDash val="solid"/>
          </a:ln>
        </p:spPr>
        <p:txBody>
          <a:bodyPr/>
          <a:lstStyle/>
          <a:p>
            <a:endParaRPr lang="en-US"/>
          </a:p>
        </p:txBody>
      </p:sp>
      <p:sp>
        <p:nvSpPr>
          <p:cNvPr id="9" name="standby map grid"/>
          <p:cNvSpPr/>
          <p:nvPr/>
        </p:nvSpPr>
        <p:spPr>
          <a:xfrm>
            <a:off x="1086307" y="1097280"/>
            <a:ext cx="0" cy="3136392"/>
          </a:xfrm>
          <a:prstGeom prst="line">
            <a:avLst/>
          </a:prstGeom>
          <a:noFill/>
          <a:ln w="6350">
            <a:solidFill>
              <a:srgbClr val="E6EAF0"/>
            </a:solidFill>
            <a:prstDash val="solid"/>
          </a:ln>
        </p:spPr>
        <p:txBody>
          <a:bodyPr/>
          <a:lstStyle/>
          <a:p>
            <a:endParaRPr lang="en-US"/>
          </a:p>
        </p:txBody>
      </p:sp>
      <p:sp>
        <p:nvSpPr>
          <p:cNvPr id="10" name="standby map grid"/>
          <p:cNvSpPr/>
          <p:nvPr/>
        </p:nvSpPr>
        <p:spPr>
          <a:xfrm>
            <a:off x="1175918" y="1097280"/>
            <a:ext cx="0" cy="3136392"/>
          </a:xfrm>
          <a:prstGeom prst="line">
            <a:avLst/>
          </a:prstGeom>
          <a:noFill/>
          <a:ln w="6350">
            <a:solidFill>
              <a:srgbClr val="E6EAF0"/>
            </a:solidFill>
            <a:prstDash val="solid"/>
          </a:ln>
        </p:spPr>
        <p:txBody>
          <a:bodyPr/>
          <a:lstStyle/>
          <a:p>
            <a:endParaRPr lang="en-US"/>
          </a:p>
        </p:txBody>
      </p:sp>
      <p:sp>
        <p:nvSpPr>
          <p:cNvPr id="11" name="standby map grid"/>
          <p:cNvSpPr/>
          <p:nvPr/>
        </p:nvSpPr>
        <p:spPr>
          <a:xfrm>
            <a:off x="1265530" y="1097280"/>
            <a:ext cx="0" cy="3136392"/>
          </a:xfrm>
          <a:prstGeom prst="line">
            <a:avLst/>
          </a:prstGeom>
          <a:noFill/>
          <a:ln w="6350">
            <a:solidFill>
              <a:srgbClr val="E6EAF0"/>
            </a:solidFill>
            <a:prstDash val="solid"/>
          </a:ln>
        </p:spPr>
        <p:txBody>
          <a:bodyPr/>
          <a:lstStyle/>
          <a:p>
            <a:endParaRPr lang="en-US"/>
          </a:p>
        </p:txBody>
      </p:sp>
      <p:sp>
        <p:nvSpPr>
          <p:cNvPr id="12" name="standby map grid"/>
          <p:cNvSpPr/>
          <p:nvPr/>
        </p:nvSpPr>
        <p:spPr>
          <a:xfrm>
            <a:off x="1355141" y="1097280"/>
            <a:ext cx="0" cy="3136392"/>
          </a:xfrm>
          <a:prstGeom prst="line">
            <a:avLst/>
          </a:prstGeom>
          <a:noFill/>
          <a:ln w="6350">
            <a:solidFill>
              <a:srgbClr val="E6EAF0"/>
            </a:solidFill>
            <a:prstDash val="solid"/>
          </a:ln>
        </p:spPr>
        <p:txBody>
          <a:bodyPr/>
          <a:lstStyle/>
          <a:p>
            <a:endParaRPr lang="en-US"/>
          </a:p>
        </p:txBody>
      </p:sp>
      <p:sp>
        <p:nvSpPr>
          <p:cNvPr id="13" name="standby map grid"/>
          <p:cNvSpPr/>
          <p:nvPr/>
        </p:nvSpPr>
        <p:spPr>
          <a:xfrm>
            <a:off x="1444752" y="1097280"/>
            <a:ext cx="0" cy="3136392"/>
          </a:xfrm>
          <a:prstGeom prst="line">
            <a:avLst/>
          </a:prstGeom>
          <a:noFill/>
          <a:ln w="6350">
            <a:solidFill>
              <a:srgbClr val="E6EAF0"/>
            </a:solidFill>
            <a:prstDash val="solid"/>
          </a:ln>
        </p:spPr>
        <p:txBody>
          <a:bodyPr/>
          <a:lstStyle/>
          <a:p>
            <a:endParaRPr lang="en-US"/>
          </a:p>
        </p:txBody>
      </p:sp>
      <p:sp>
        <p:nvSpPr>
          <p:cNvPr id="14" name="standby map grid"/>
          <p:cNvSpPr/>
          <p:nvPr/>
        </p:nvSpPr>
        <p:spPr>
          <a:xfrm>
            <a:off x="1534363" y="1097280"/>
            <a:ext cx="0" cy="3136392"/>
          </a:xfrm>
          <a:prstGeom prst="line">
            <a:avLst/>
          </a:prstGeom>
          <a:noFill/>
          <a:ln w="6350">
            <a:solidFill>
              <a:srgbClr val="E6EAF0"/>
            </a:solidFill>
            <a:prstDash val="solid"/>
          </a:ln>
        </p:spPr>
        <p:txBody>
          <a:bodyPr/>
          <a:lstStyle/>
          <a:p>
            <a:endParaRPr lang="en-US"/>
          </a:p>
        </p:txBody>
      </p:sp>
      <p:sp>
        <p:nvSpPr>
          <p:cNvPr id="15" name="standby map grid"/>
          <p:cNvSpPr/>
          <p:nvPr/>
        </p:nvSpPr>
        <p:spPr>
          <a:xfrm>
            <a:off x="1623974" y="1097280"/>
            <a:ext cx="0" cy="3136392"/>
          </a:xfrm>
          <a:prstGeom prst="line">
            <a:avLst/>
          </a:prstGeom>
          <a:noFill/>
          <a:ln w="6350">
            <a:solidFill>
              <a:srgbClr val="E6EAF0"/>
            </a:solidFill>
            <a:prstDash val="solid"/>
          </a:ln>
        </p:spPr>
        <p:txBody>
          <a:bodyPr/>
          <a:lstStyle/>
          <a:p>
            <a:endParaRPr lang="en-US"/>
          </a:p>
        </p:txBody>
      </p:sp>
      <p:sp>
        <p:nvSpPr>
          <p:cNvPr id="16" name="standby map grid"/>
          <p:cNvSpPr/>
          <p:nvPr/>
        </p:nvSpPr>
        <p:spPr>
          <a:xfrm>
            <a:off x="1713586" y="1097280"/>
            <a:ext cx="0" cy="3136392"/>
          </a:xfrm>
          <a:prstGeom prst="line">
            <a:avLst/>
          </a:prstGeom>
          <a:noFill/>
          <a:ln w="6350">
            <a:solidFill>
              <a:srgbClr val="E6EAF0"/>
            </a:solidFill>
            <a:prstDash val="solid"/>
          </a:ln>
        </p:spPr>
        <p:txBody>
          <a:bodyPr/>
          <a:lstStyle/>
          <a:p>
            <a:endParaRPr lang="en-US"/>
          </a:p>
        </p:txBody>
      </p:sp>
      <p:sp>
        <p:nvSpPr>
          <p:cNvPr id="17" name="standby map grid"/>
          <p:cNvSpPr/>
          <p:nvPr/>
        </p:nvSpPr>
        <p:spPr>
          <a:xfrm>
            <a:off x="1803197" y="1097280"/>
            <a:ext cx="0" cy="3136392"/>
          </a:xfrm>
          <a:prstGeom prst="line">
            <a:avLst/>
          </a:prstGeom>
          <a:noFill/>
          <a:ln w="6350">
            <a:solidFill>
              <a:srgbClr val="E6EAF0"/>
            </a:solidFill>
            <a:prstDash val="solid"/>
          </a:ln>
        </p:spPr>
        <p:txBody>
          <a:bodyPr/>
          <a:lstStyle/>
          <a:p>
            <a:endParaRPr lang="en-US"/>
          </a:p>
        </p:txBody>
      </p:sp>
      <p:sp>
        <p:nvSpPr>
          <p:cNvPr id="18" name="standby map grid"/>
          <p:cNvSpPr/>
          <p:nvPr/>
        </p:nvSpPr>
        <p:spPr>
          <a:xfrm>
            <a:off x="1892808" y="1097280"/>
            <a:ext cx="0" cy="3136392"/>
          </a:xfrm>
          <a:prstGeom prst="line">
            <a:avLst/>
          </a:prstGeom>
          <a:noFill/>
          <a:ln w="6350">
            <a:solidFill>
              <a:srgbClr val="E6EAF0"/>
            </a:solidFill>
            <a:prstDash val="solid"/>
          </a:ln>
        </p:spPr>
        <p:txBody>
          <a:bodyPr/>
          <a:lstStyle/>
          <a:p>
            <a:endParaRPr lang="en-US"/>
          </a:p>
        </p:txBody>
      </p:sp>
      <p:sp>
        <p:nvSpPr>
          <p:cNvPr id="19" name="standby map grid"/>
          <p:cNvSpPr/>
          <p:nvPr/>
        </p:nvSpPr>
        <p:spPr>
          <a:xfrm>
            <a:off x="1982419" y="1097280"/>
            <a:ext cx="0" cy="3136392"/>
          </a:xfrm>
          <a:prstGeom prst="line">
            <a:avLst/>
          </a:prstGeom>
          <a:noFill/>
          <a:ln w="6350">
            <a:solidFill>
              <a:srgbClr val="E6EAF0"/>
            </a:solidFill>
            <a:prstDash val="solid"/>
          </a:ln>
        </p:spPr>
        <p:txBody>
          <a:bodyPr/>
          <a:lstStyle/>
          <a:p>
            <a:endParaRPr lang="en-US"/>
          </a:p>
        </p:txBody>
      </p:sp>
      <p:sp>
        <p:nvSpPr>
          <p:cNvPr id="20" name="standby map grid"/>
          <p:cNvSpPr/>
          <p:nvPr/>
        </p:nvSpPr>
        <p:spPr>
          <a:xfrm>
            <a:off x="2072030" y="1097280"/>
            <a:ext cx="0" cy="3136392"/>
          </a:xfrm>
          <a:prstGeom prst="line">
            <a:avLst/>
          </a:prstGeom>
          <a:noFill/>
          <a:ln w="6350">
            <a:solidFill>
              <a:srgbClr val="E6EAF0"/>
            </a:solidFill>
            <a:prstDash val="solid"/>
          </a:ln>
        </p:spPr>
        <p:txBody>
          <a:bodyPr/>
          <a:lstStyle/>
          <a:p>
            <a:endParaRPr lang="en-US"/>
          </a:p>
        </p:txBody>
      </p:sp>
      <p:sp>
        <p:nvSpPr>
          <p:cNvPr id="21" name="standby map grid"/>
          <p:cNvSpPr/>
          <p:nvPr/>
        </p:nvSpPr>
        <p:spPr>
          <a:xfrm>
            <a:off x="2161642" y="1097280"/>
            <a:ext cx="0" cy="3136392"/>
          </a:xfrm>
          <a:prstGeom prst="line">
            <a:avLst/>
          </a:prstGeom>
          <a:noFill/>
          <a:ln w="6350">
            <a:solidFill>
              <a:srgbClr val="E6EAF0"/>
            </a:solidFill>
            <a:prstDash val="solid"/>
          </a:ln>
        </p:spPr>
        <p:txBody>
          <a:bodyPr/>
          <a:lstStyle/>
          <a:p>
            <a:endParaRPr lang="en-US"/>
          </a:p>
        </p:txBody>
      </p:sp>
      <p:sp>
        <p:nvSpPr>
          <p:cNvPr id="22" name="standby map grid"/>
          <p:cNvSpPr/>
          <p:nvPr/>
        </p:nvSpPr>
        <p:spPr>
          <a:xfrm>
            <a:off x="2251253" y="1097280"/>
            <a:ext cx="0" cy="3136392"/>
          </a:xfrm>
          <a:prstGeom prst="line">
            <a:avLst/>
          </a:prstGeom>
          <a:noFill/>
          <a:ln w="6350">
            <a:solidFill>
              <a:srgbClr val="E6EAF0"/>
            </a:solidFill>
            <a:prstDash val="solid"/>
          </a:ln>
        </p:spPr>
        <p:txBody>
          <a:bodyPr/>
          <a:lstStyle/>
          <a:p>
            <a:endParaRPr lang="en-US"/>
          </a:p>
        </p:txBody>
      </p:sp>
      <p:sp>
        <p:nvSpPr>
          <p:cNvPr id="23" name="standby map grid"/>
          <p:cNvSpPr/>
          <p:nvPr/>
        </p:nvSpPr>
        <p:spPr>
          <a:xfrm>
            <a:off x="2340864" y="1097280"/>
            <a:ext cx="0" cy="3136392"/>
          </a:xfrm>
          <a:prstGeom prst="line">
            <a:avLst/>
          </a:prstGeom>
          <a:noFill/>
          <a:ln w="6350">
            <a:solidFill>
              <a:srgbClr val="E6EAF0"/>
            </a:solidFill>
            <a:prstDash val="solid"/>
          </a:ln>
        </p:spPr>
        <p:txBody>
          <a:bodyPr/>
          <a:lstStyle/>
          <a:p>
            <a:endParaRPr lang="en-US"/>
          </a:p>
        </p:txBody>
      </p:sp>
      <p:sp>
        <p:nvSpPr>
          <p:cNvPr id="24" name="standby map grid"/>
          <p:cNvSpPr/>
          <p:nvPr/>
        </p:nvSpPr>
        <p:spPr>
          <a:xfrm>
            <a:off x="2430475" y="1097280"/>
            <a:ext cx="0" cy="3136392"/>
          </a:xfrm>
          <a:prstGeom prst="line">
            <a:avLst/>
          </a:prstGeom>
          <a:noFill/>
          <a:ln w="12700">
            <a:solidFill>
              <a:srgbClr val="B8C0CC"/>
            </a:solidFill>
            <a:prstDash val="solid"/>
          </a:ln>
        </p:spPr>
        <p:txBody>
          <a:bodyPr/>
          <a:lstStyle/>
          <a:p>
            <a:endParaRPr lang="en-US"/>
          </a:p>
        </p:txBody>
      </p:sp>
      <p:sp>
        <p:nvSpPr>
          <p:cNvPr id="25" name="standby map grid"/>
          <p:cNvSpPr/>
          <p:nvPr/>
        </p:nvSpPr>
        <p:spPr>
          <a:xfrm>
            <a:off x="2520086" y="1097280"/>
            <a:ext cx="0" cy="3136392"/>
          </a:xfrm>
          <a:prstGeom prst="line">
            <a:avLst/>
          </a:prstGeom>
          <a:noFill/>
          <a:ln w="6350">
            <a:solidFill>
              <a:srgbClr val="E6EAF0"/>
            </a:solidFill>
            <a:prstDash val="solid"/>
          </a:ln>
        </p:spPr>
        <p:txBody>
          <a:bodyPr/>
          <a:lstStyle/>
          <a:p>
            <a:endParaRPr lang="en-US"/>
          </a:p>
        </p:txBody>
      </p:sp>
      <p:sp>
        <p:nvSpPr>
          <p:cNvPr id="26" name="standby map grid"/>
          <p:cNvSpPr/>
          <p:nvPr/>
        </p:nvSpPr>
        <p:spPr>
          <a:xfrm>
            <a:off x="2609698" y="1097280"/>
            <a:ext cx="0" cy="3136392"/>
          </a:xfrm>
          <a:prstGeom prst="line">
            <a:avLst/>
          </a:prstGeom>
          <a:noFill/>
          <a:ln w="6350">
            <a:solidFill>
              <a:srgbClr val="E6EAF0"/>
            </a:solidFill>
            <a:prstDash val="solid"/>
          </a:ln>
        </p:spPr>
        <p:txBody>
          <a:bodyPr/>
          <a:lstStyle/>
          <a:p>
            <a:endParaRPr lang="en-US"/>
          </a:p>
        </p:txBody>
      </p:sp>
      <p:sp>
        <p:nvSpPr>
          <p:cNvPr id="27" name="standby map grid"/>
          <p:cNvSpPr/>
          <p:nvPr/>
        </p:nvSpPr>
        <p:spPr>
          <a:xfrm>
            <a:off x="2699309" y="1097280"/>
            <a:ext cx="0" cy="3136392"/>
          </a:xfrm>
          <a:prstGeom prst="line">
            <a:avLst/>
          </a:prstGeom>
          <a:noFill/>
          <a:ln w="6350">
            <a:solidFill>
              <a:srgbClr val="E6EAF0"/>
            </a:solidFill>
            <a:prstDash val="solid"/>
          </a:ln>
        </p:spPr>
        <p:txBody>
          <a:bodyPr/>
          <a:lstStyle/>
          <a:p>
            <a:endParaRPr lang="en-US"/>
          </a:p>
        </p:txBody>
      </p:sp>
      <p:sp>
        <p:nvSpPr>
          <p:cNvPr id="28" name="standby map grid"/>
          <p:cNvSpPr/>
          <p:nvPr/>
        </p:nvSpPr>
        <p:spPr>
          <a:xfrm>
            <a:off x="2788920" y="1097280"/>
            <a:ext cx="0" cy="3136392"/>
          </a:xfrm>
          <a:prstGeom prst="line">
            <a:avLst/>
          </a:prstGeom>
          <a:noFill/>
          <a:ln w="6350">
            <a:solidFill>
              <a:srgbClr val="E6EAF0"/>
            </a:solidFill>
            <a:prstDash val="solid"/>
          </a:ln>
        </p:spPr>
        <p:txBody>
          <a:bodyPr/>
          <a:lstStyle/>
          <a:p>
            <a:endParaRPr lang="en-US"/>
          </a:p>
        </p:txBody>
      </p:sp>
      <p:sp>
        <p:nvSpPr>
          <p:cNvPr id="29" name="standby map grid"/>
          <p:cNvSpPr/>
          <p:nvPr/>
        </p:nvSpPr>
        <p:spPr>
          <a:xfrm>
            <a:off x="2878531" y="1097280"/>
            <a:ext cx="0" cy="3136392"/>
          </a:xfrm>
          <a:prstGeom prst="line">
            <a:avLst/>
          </a:prstGeom>
          <a:noFill/>
          <a:ln w="6350">
            <a:solidFill>
              <a:srgbClr val="E6EAF0"/>
            </a:solidFill>
            <a:prstDash val="solid"/>
          </a:ln>
        </p:spPr>
        <p:txBody>
          <a:bodyPr/>
          <a:lstStyle/>
          <a:p>
            <a:endParaRPr lang="en-US"/>
          </a:p>
        </p:txBody>
      </p:sp>
      <p:sp>
        <p:nvSpPr>
          <p:cNvPr id="30" name="standby map grid"/>
          <p:cNvSpPr/>
          <p:nvPr/>
        </p:nvSpPr>
        <p:spPr>
          <a:xfrm>
            <a:off x="2968142" y="1097280"/>
            <a:ext cx="0" cy="3136392"/>
          </a:xfrm>
          <a:prstGeom prst="line">
            <a:avLst/>
          </a:prstGeom>
          <a:noFill/>
          <a:ln w="6350">
            <a:solidFill>
              <a:srgbClr val="E6EAF0"/>
            </a:solidFill>
            <a:prstDash val="solid"/>
          </a:ln>
        </p:spPr>
        <p:txBody>
          <a:bodyPr/>
          <a:lstStyle/>
          <a:p>
            <a:endParaRPr lang="en-US"/>
          </a:p>
        </p:txBody>
      </p:sp>
      <p:sp>
        <p:nvSpPr>
          <p:cNvPr id="31" name="standby map grid"/>
          <p:cNvSpPr/>
          <p:nvPr/>
        </p:nvSpPr>
        <p:spPr>
          <a:xfrm>
            <a:off x="3057754" y="1097280"/>
            <a:ext cx="0" cy="3136392"/>
          </a:xfrm>
          <a:prstGeom prst="line">
            <a:avLst/>
          </a:prstGeom>
          <a:noFill/>
          <a:ln w="6350">
            <a:solidFill>
              <a:srgbClr val="E6EAF0"/>
            </a:solidFill>
            <a:prstDash val="solid"/>
          </a:ln>
        </p:spPr>
        <p:txBody>
          <a:bodyPr/>
          <a:lstStyle/>
          <a:p>
            <a:endParaRPr lang="en-US"/>
          </a:p>
        </p:txBody>
      </p:sp>
      <p:sp>
        <p:nvSpPr>
          <p:cNvPr id="32" name="standby map grid"/>
          <p:cNvSpPr/>
          <p:nvPr/>
        </p:nvSpPr>
        <p:spPr>
          <a:xfrm>
            <a:off x="3147365" y="1097280"/>
            <a:ext cx="0" cy="3136392"/>
          </a:xfrm>
          <a:prstGeom prst="line">
            <a:avLst/>
          </a:prstGeom>
          <a:noFill/>
          <a:ln w="6350">
            <a:solidFill>
              <a:srgbClr val="E6EAF0"/>
            </a:solidFill>
            <a:prstDash val="solid"/>
          </a:ln>
        </p:spPr>
        <p:txBody>
          <a:bodyPr/>
          <a:lstStyle/>
          <a:p>
            <a:endParaRPr lang="en-US"/>
          </a:p>
        </p:txBody>
      </p:sp>
      <p:sp>
        <p:nvSpPr>
          <p:cNvPr id="33" name="standby map grid"/>
          <p:cNvSpPr/>
          <p:nvPr/>
        </p:nvSpPr>
        <p:spPr>
          <a:xfrm>
            <a:off x="3236976" y="1097280"/>
            <a:ext cx="0" cy="3136392"/>
          </a:xfrm>
          <a:prstGeom prst="line">
            <a:avLst/>
          </a:prstGeom>
          <a:noFill/>
          <a:ln w="6350">
            <a:solidFill>
              <a:srgbClr val="E6EAF0"/>
            </a:solidFill>
            <a:prstDash val="solid"/>
          </a:ln>
        </p:spPr>
        <p:txBody>
          <a:bodyPr/>
          <a:lstStyle/>
          <a:p>
            <a:endParaRPr lang="en-US"/>
          </a:p>
        </p:txBody>
      </p:sp>
      <p:sp>
        <p:nvSpPr>
          <p:cNvPr id="34" name="standby map grid"/>
          <p:cNvSpPr/>
          <p:nvPr/>
        </p:nvSpPr>
        <p:spPr>
          <a:xfrm>
            <a:off x="3326587" y="1097280"/>
            <a:ext cx="0" cy="3136392"/>
          </a:xfrm>
          <a:prstGeom prst="line">
            <a:avLst/>
          </a:prstGeom>
          <a:noFill/>
          <a:ln w="6350">
            <a:solidFill>
              <a:srgbClr val="E6EAF0"/>
            </a:solidFill>
            <a:prstDash val="solid"/>
          </a:ln>
        </p:spPr>
        <p:txBody>
          <a:bodyPr/>
          <a:lstStyle/>
          <a:p>
            <a:endParaRPr lang="en-US"/>
          </a:p>
        </p:txBody>
      </p:sp>
      <p:sp>
        <p:nvSpPr>
          <p:cNvPr id="35" name="standby map grid"/>
          <p:cNvSpPr/>
          <p:nvPr/>
        </p:nvSpPr>
        <p:spPr>
          <a:xfrm>
            <a:off x="3416198" y="1097280"/>
            <a:ext cx="0" cy="3136392"/>
          </a:xfrm>
          <a:prstGeom prst="line">
            <a:avLst/>
          </a:prstGeom>
          <a:noFill/>
          <a:ln w="6350">
            <a:solidFill>
              <a:srgbClr val="E6EAF0"/>
            </a:solidFill>
            <a:prstDash val="solid"/>
          </a:ln>
        </p:spPr>
        <p:txBody>
          <a:bodyPr/>
          <a:lstStyle/>
          <a:p>
            <a:endParaRPr lang="en-US"/>
          </a:p>
        </p:txBody>
      </p:sp>
      <p:sp>
        <p:nvSpPr>
          <p:cNvPr id="36" name="standby map grid"/>
          <p:cNvSpPr/>
          <p:nvPr/>
        </p:nvSpPr>
        <p:spPr>
          <a:xfrm>
            <a:off x="3505810" y="1097280"/>
            <a:ext cx="0" cy="3136392"/>
          </a:xfrm>
          <a:prstGeom prst="line">
            <a:avLst/>
          </a:prstGeom>
          <a:noFill/>
          <a:ln w="6350">
            <a:solidFill>
              <a:srgbClr val="E6EAF0"/>
            </a:solidFill>
            <a:prstDash val="solid"/>
          </a:ln>
        </p:spPr>
        <p:txBody>
          <a:bodyPr/>
          <a:lstStyle/>
          <a:p>
            <a:endParaRPr lang="en-US"/>
          </a:p>
        </p:txBody>
      </p:sp>
      <p:sp>
        <p:nvSpPr>
          <p:cNvPr id="37" name="standby map grid"/>
          <p:cNvSpPr/>
          <p:nvPr/>
        </p:nvSpPr>
        <p:spPr>
          <a:xfrm>
            <a:off x="3595421" y="1097280"/>
            <a:ext cx="0" cy="3136392"/>
          </a:xfrm>
          <a:prstGeom prst="line">
            <a:avLst/>
          </a:prstGeom>
          <a:noFill/>
          <a:ln w="6350">
            <a:solidFill>
              <a:srgbClr val="E6EAF0"/>
            </a:solidFill>
            <a:prstDash val="solid"/>
          </a:ln>
        </p:spPr>
        <p:txBody>
          <a:bodyPr/>
          <a:lstStyle/>
          <a:p>
            <a:endParaRPr lang="en-US"/>
          </a:p>
        </p:txBody>
      </p:sp>
      <p:sp>
        <p:nvSpPr>
          <p:cNvPr id="38" name="standby map grid"/>
          <p:cNvSpPr/>
          <p:nvPr/>
        </p:nvSpPr>
        <p:spPr>
          <a:xfrm>
            <a:off x="3685032" y="1097280"/>
            <a:ext cx="0" cy="3136392"/>
          </a:xfrm>
          <a:prstGeom prst="line">
            <a:avLst/>
          </a:prstGeom>
          <a:noFill/>
          <a:ln w="6350">
            <a:solidFill>
              <a:srgbClr val="E6EAF0"/>
            </a:solidFill>
            <a:prstDash val="solid"/>
          </a:ln>
        </p:spPr>
        <p:txBody>
          <a:bodyPr/>
          <a:lstStyle/>
          <a:p>
            <a:endParaRPr lang="en-US"/>
          </a:p>
        </p:txBody>
      </p:sp>
      <p:sp>
        <p:nvSpPr>
          <p:cNvPr id="39" name="standby map grid"/>
          <p:cNvSpPr/>
          <p:nvPr/>
        </p:nvSpPr>
        <p:spPr>
          <a:xfrm>
            <a:off x="3774643" y="1097280"/>
            <a:ext cx="0" cy="3136392"/>
          </a:xfrm>
          <a:prstGeom prst="line">
            <a:avLst/>
          </a:prstGeom>
          <a:noFill/>
          <a:ln w="6350">
            <a:solidFill>
              <a:srgbClr val="E6EAF0"/>
            </a:solidFill>
            <a:prstDash val="solid"/>
          </a:ln>
        </p:spPr>
        <p:txBody>
          <a:bodyPr/>
          <a:lstStyle/>
          <a:p>
            <a:endParaRPr lang="en-US"/>
          </a:p>
        </p:txBody>
      </p:sp>
      <p:sp>
        <p:nvSpPr>
          <p:cNvPr id="40" name="standby map grid"/>
          <p:cNvSpPr/>
          <p:nvPr/>
        </p:nvSpPr>
        <p:spPr>
          <a:xfrm>
            <a:off x="3864254" y="1097280"/>
            <a:ext cx="0" cy="3136392"/>
          </a:xfrm>
          <a:prstGeom prst="line">
            <a:avLst/>
          </a:prstGeom>
          <a:noFill/>
          <a:ln w="6350">
            <a:solidFill>
              <a:srgbClr val="E6EAF0"/>
            </a:solidFill>
            <a:prstDash val="solid"/>
          </a:ln>
        </p:spPr>
        <p:txBody>
          <a:bodyPr/>
          <a:lstStyle/>
          <a:p>
            <a:endParaRPr lang="en-US"/>
          </a:p>
        </p:txBody>
      </p:sp>
      <p:sp>
        <p:nvSpPr>
          <p:cNvPr id="41" name="standby map grid"/>
          <p:cNvSpPr/>
          <p:nvPr/>
        </p:nvSpPr>
        <p:spPr>
          <a:xfrm>
            <a:off x="3953866" y="1097280"/>
            <a:ext cx="0" cy="3136392"/>
          </a:xfrm>
          <a:prstGeom prst="line">
            <a:avLst/>
          </a:prstGeom>
          <a:noFill/>
          <a:ln w="6350">
            <a:solidFill>
              <a:srgbClr val="E6EAF0"/>
            </a:solidFill>
            <a:prstDash val="solid"/>
          </a:ln>
        </p:spPr>
        <p:txBody>
          <a:bodyPr/>
          <a:lstStyle/>
          <a:p>
            <a:endParaRPr lang="en-US"/>
          </a:p>
        </p:txBody>
      </p:sp>
      <p:sp>
        <p:nvSpPr>
          <p:cNvPr id="42" name="standby map grid"/>
          <p:cNvSpPr/>
          <p:nvPr/>
        </p:nvSpPr>
        <p:spPr>
          <a:xfrm>
            <a:off x="4043477" y="1097280"/>
            <a:ext cx="0" cy="3136392"/>
          </a:xfrm>
          <a:prstGeom prst="line">
            <a:avLst/>
          </a:prstGeom>
          <a:noFill/>
          <a:ln w="6350">
            <a:solidFill>
              <a:srgbClr val="E6EAF0"/>
            </a:solidFill>
            <a:prstDash val="solid"/>
          </a:ln>
        </p:spPr>
        <p:txBody>
          <a:bodyPr/>
          <a:lstStyle/>
          <a:p>
            <a:endParaRPr lang="en-US"/>
          </a:p>
        </p:txBody>
      </p:sp>
      <p:sp>
        <p:nvSpPr>
          <p:cNvPr id="43" name="standby map grid"/>
          <p:cNvSpPr/>
          <p:nvPr/>
        </p:nvSpPr>
        <p:spPr>
          <a:xfrm>
            <a:off x="4133088" y="1097280"/>
            <a:ext cx="0" cy="3136392"/>
          </a:xfrm>
          <a:prstGeom prst="line">
            <a:avLst/>
          </a:prstGeom>
          <a:noFill/>
          <a:ln w="6350">
            <a:solidFill>
              <a:srgbClr val="E6EAF0"/>
            </a:solidFill>
            <a:prstDash val="solid"/>
          </a:ln>
        </p:spPr>
        <p:txBody>
          <a:bodyPr/>
          <a:lstStyle/>
          <a:p>
            <a:endParaRPr lang="en-US"/>
          </a:p>
        </p:txBody>
      </p:sp>
      <p:sp>
        <p:nvSpPr>
          <p:cNvPr id="44" name="standby map grid"/>
          <p:cNvSpPr/>
          <p:nvPr/>
        </p:nvSpPr>
        <p:spPr>
          <a:xfrm>
            <a:off x="4222699" y="1097280"/>
            <a:ext cx="0" cy="3136392"/>
          </a:xfrm>
          <a:prstGeom prst="line">
            <a:avLst/>
          </a:prstGeom>
          <a:noFill/>
          <a:ln w="6350">
            <a:solidFill>
              <a:srgbClr val="E6EAF0"/>
            </a:solidFill>
            <a:prstDash val="solid"/>
          </a:ln>
        </p:spPr>
        <p:txBody>
          <a:bodyPr/>
          <a:lstStyle/>
          <a:p>
            <a:endParaRPr lang="en-US"/>
          </a:p>
        </p:txBody>
      </p:sp>
      <p:sp>
        <p:nvSpPr>
          <p:cNvPr id="45" name="standby map grid"/>
          <p:cNvSpPr/>
          <p:nvPr/>
        </p:nvSpPr>
        <p:spPr>
          <a:xfrm>
            <a:off x="4312310" y="1097280"/>
            <a:ext cx="0" cy="3136392"/>
          </a:xfrm>
          <a:prstGeom prst="line">
            <a:avLst/>
          </a:prstGeom>
          <a:noFill/>
          <a:ln w="6350">
            <a:solidFill>
              <a:srgbClr val="E6EAF0"/>
            </a:solidFill>
            <a:prstDash val="solid"/>
          </a:ln>
        </p:spPr>
        <p:txBody>
          <a:bodyPr/>
          <a:lstStyle/>
          <a:p>
            <a:endParaRPr lang="en-US"/>
          </a:p>
        </p:txBody>
      </p:sp>
      <p:sp>
        <p:nvSpPr>
          <p:cNvPr id="46" name="standby map grid"/>
          <p:cNvSpPr/>
          <p:nvPr/>
        </p:nvSpPr>
        <p:spPr>
          <a:xfrm>
            <a:off x="4401922" y="1097280"/>
            <a:ext cx="0" cy="3136392"/>
          </a:xfrm>
          <a:prstGeom prst="line">
            <a:avLst/>
          </a:prstGeom>
          <a:noFill/>
          <a:ln w="6350">
            <a:solidFill>
              <a:srgbClr val="E6EAF0"/>
            </a:solidFill>
            <a:prstDash val="solid"/>
          </a:ln>
        </p:spPr>
        <p:txBody>
          <a:bodyPr/>
          <a:lstStyle/>
          <a:p>
            <a:endParaRPr lang="en-US"/>
          </a:p>
        </p:txBody>
      </p:sp>
      <p:sp>
        <p:nvSpPr>
          <p:cNvPr id="47" name="standby map grid"/>
          <p:cNvSpPr/>
          <p:nvPr/>
        </p:nvSpPr>
        <p:spPr>
          <a:xfrm>
            <a:off x="548640" y="4233672"/>
            <a:ext cx="3853282" cy="0"/>
          </a:xfrm>
          <a:prstGeom prst="line">
            <a:avLst/>
          </a:prstGeom>
          <a:noFill/>
          <a:ln w="6350">
            <a:solidFill>
              <a:srgbClr val="E6EAF0"/>
            </a:solidFill>
            <a:prstDash val="solid"/>
          </a:ln>
        </p:spPr>
        <p:txBody>
          <a:bodyPr/>
          <a:lstStyle/>
          <a:p>
            <a:endParaRPr lang="en-US"/>
          </a:p>
        </p:txBody>
      </p:sp>
      <p:sp>
        <p:nvSpPr>
          <p:cNvPr id="48" name="standby map grid"/>
          <p:cNvSpPr/>
          <p:nvPr/>
        </p:nvSpPr>
        <p:spPr>
          <a:xfrm>
            <a:off x="548640" y="4144061"/>
            <a:ext cx="3853282" cy="0"/>
          </a:xfrm>
          <a:prstGeom prst="line">
            <a:avLst/>
          </a:prstGeom>
          <a:noFill/>
          <a:ln w="6350">
            <a:solidFill>
              <a:srgbClr val="E6EAF0"/>
            </a:solidFill>
            <a:prstDash val="solid"/>
          </a:ln>
        </p:spPr>
        <p:txBody>
          <a:bodyPr/>
          <a:lstStyle/>
          <a:p>
            <a:endParaRPr lang="en-US"/>
          </a:p>
        </p:txBody>
      </p:sp>
      <p:sp>
        <p:nvSpPr>
          <p:cNvPr id="49" name="standby map grid"/>
          <p:cNvSpPr/>
          <p:nvPr/>
        </p:nvSpPr>
        <p:spPr>
          <a:xfrm>
            <a:off x="548640" y="4054450"/>
            <a:ext cx="3853282" cy="0"/>
          </a:xfrm>
          <a:prstGeom prst="line">
            <a:avLst/>
          </a:prstGeom>
          <a:noFill/>
          <a:ln w="6350">
            <a:solidFill>
              <a:srgbClr val="E6EAF0"/>
            </a:solidFill>
            <a:prstDash val="solid"/>
          </a:ln>
        </p:spPr>
        <p:txBody>
          <a:bodyPr/>
          <a:lstStyle/>
          <a:p>
            <a:endParaRPr lang="en-US"/>
          </a:p>
        </p:txBody>
      </p:sp>
      <p:sp>
        <p:nvSpPr>
          <p:cNvPr id="50" name="standby map grid"/>
          <p:cNvSpPr/>
          <p:nvPr/>
        </p:nvSpPr>
        <p:spPr>
          <a:xfrm>
            <a:off x="548640" y="3964838"/>
            <a:ext cx="3853282" cy="0"/>
          </a:xfrm>
          <a:prstGeom prst="line">
            <a:avLst/>
          </a:prstGeom>
          <a:noFill/>
          <a:ln w="6350">
            <a:solidFill>
              <a:srgbClr val="E6EAF0"/>
            </a:solidFill>
            <a:prstDash val="solid"/>
          </a:ln>
        </p:spPr>
        <p:txBody>
          <a:bodyPr/>
          <a:lstStyle/>
          <a:p>
            <a:endParaRPr lang="en-US"/>
          </a:p>
        </p:txBody>
      </p:sp>
      <p:sp>
        <p:nvSpPr>
          <p:cNvPr id="51" name="standby map grid"/>
          <p:cNvSpPr/>
          <p:nvPr/>
        </p:nvSpPr>
        <p:spPr>
          <a:xfrm>
            <a:off x="548640" y="3875227"/>
            <a:ext cx="3853282" cy="0"/>
          </a:xfrm>
          <a:prstGeom prst="line">
            <a:avLst/>
          </a:prstGeom>
          <a:noFill/>
          <a:ln w="6350">
            <a:solidFill>
              <a:srgbClr val="E6EAF0"/>
            </a:solidFill>
            <a:prstDash val="solid"/>
          </a:ln>
        </p:spPr>
        <p:txBody>
          <a:bodyPr/>
          <a:lstStyle/>
          <a:p>
            <a:endParaRPr lang="en-US"/>
          </a:p>
        </p:txBody>
      </p:sp>
      <p:sp>
        <p:nvSpPr>
          <p:cNvPr id="52" name="standby map grid"/>
          <p:cNvSpPr/>
          <p:nvPr/>
        </p:nvSpPr>
        <p:spPr>
          <a:xfrm>
            <a:off x="548640" y="3785616"/>
            <a:ext cx="3853282" cy="0"/>
          </a:xfrm>
          <a:prstGeom prst="line">
            <a:avLst/>
          </a:prstGeom>
          <a:noFill/>
          <a:ln w="6350">
            <a:solidFill>
              <a:srgbClr val="E6EAF0"/>
            </a:solidFill>
            <a:prstDash val="solid"/>
          </a:ln>
        </p:spPr>
        <p:txBody>
          <a:bodyPr/>
          <a:lstStyle/>
          <a:p>
            <a:endParaRPr lang="en-US"/>
          </a:p>
        </p:txBody>
      </p:sp>
      <p:sp>
        <p:nvSpPr>
          <p:cNvPr id="53" name="standby map grid"/>
          <p:cNvSpPr/>
          <p:nvPr/>
        </p:nvSpPr>
        <p:spPr>
          <a:xfrm>
            <a:off x="548640" y="3696005"/>
            <a:ext cx="3853282" cy="0"/>
          </a:xfrm>
          <a:prstGeom prst="line">
            <a:avLst/>
          </a:prstGeom>
          <a:noFill/>
          <a:ln w="6350">
            <a:solidFill>
              <a:srgbClr val="E6EAF0"/>
            </a:solidFill>
            <a:prstDash val="solid"/>
          </a:ln>
        </p:spPr>
        <p:txBody>
          <a:bodyPr/>
          <a:lstStyle/>
          <a:p>
            <a:endParaRPr lang="en-US"/>
          </a:p>
        </p:txBody>
      </p:sp>
      <p:sp>
        <p:nvSpPr>
          <p:cNvPr id="54" name="standby map grid"/>
          <p:cNvSpPr/>
          <p:nvPr/>
        </p:nvSpPr>
        <p:spPr>
          <a:xfrm>
            <a:off x="548640" y="3606394"/>
            <a:ext cx="3853282" cy="0"/>
          </a:xfrm>
          <a:prstGeom prst="line">
            <a:avLst/>
          </a:prstGeom>
          <a:noFill/>
          <a:ln w="6350">
            <a:solidFill>
              <a:srgbClr val="E6EAF0"/>
            </a:solidFill>
            <a:prstDash val="solid"/>
          </a:ln>
        </p:spPr>
        <p:txBody>
          <a:bodyPr/>
          <a:lstStyle/>
          <a:p>
            <a:endParaRPr lang="en-US"/>
          </a:p>
        </p:txBody>
      </p:sp>
      <p:sp>
        <p:nvSpPr>
          <p:cNvPr id="55" name="standby map grid"/>
          <p:cNvSpPr/>
          <p:nvPr/>
        </p:nvSpPr>
        <p:spPr>
          <a:xfrm>
            <a:off x="548640" y="3516782"/>
            <a:ext cx="3853282" cy="0"/>
          </a:xfrm>
          <a:prstGeom prst="line">
            <a:avLst/>
          </a:prstGeom>
          <a:noFill/>
          <a:ln w="6350">
            <a:solidFill>
              <a:srgbClr val="E6EAF0"/>
            </a:solidFill>
            <a:prstDash val="solid"/>
          </a:ln>
        </p:spPr>
        <p:txBody>
          <a:bodyPr/>
          <a:lstStyle/>
          <a:p>
            <a:endParaRPr lang="en-US"/>
          </a:p>
        </p:txBody>
      </p:sp>
      <p:sp>
        <p:nvSpPr>
          <p:cNvPr id="56" name="standby map grid"/>
          <p:cNvSpPr/>
          <p:nvPr/>
        </p:nvSpPr>
        <p:spPr>
          <a:xfrm>
            <a:off x="548640" y="3427171"/>
            <a:ext cx="3853282" cy="0"/>
          </a:xfrm>
          <a:prstGeom prst="line">
            <a:avLst/>
          </a:prstGeom>
          <a:noFill/>
          <a:ln w="6350">
            <a:solidFill>
              <a:srgbClr val="E6EAF0"/>
            </a:solidFill>
            <a:prstDash val="solid"/>
          </a:ln>
        </p:spPr>
        <p:txBody>
          <a:bodyPr/>
          <a:lstStyle/>
          <a:p>
            <a:endParaRPr lang="en-US"/>
          </a:p>
        </p:txBody>
      </p:sp>
      <p:sp>
        <p:nvSpPr>
          <p:cNvPr id="57" name="standby map grid"/>
          <p:cNvSpPr/>
          <p:nvPr/>
        </p:nvSpPr>
        <p:spPr>
          <a:xfrm>
            <a:off x="548640" y="3337560"/>
            <a:ext cx="3853282" cy="0"/>
          </a:xfrm>
          <a:prstGeom prst="line">
            <a:avLst/>
          </a:prstGeom>
          <a:noFill/>
          <a:ln w="6350">
            <a:solidFill>
              <a:srgbClr val="E6EAF0"/>
            </a:solidFill>
            <a:prstDash val="solid"/>
          </a:ln>
        </p:spPr>
        <p:txBody>
          <a:bodyPr/>
          <a:lstStyle/>
          <a:p>
            <a:endParaRPr lang="en-US"/>
          </a:p>
        </p:txBody>
      </p:sp>
      <p:sp>
        <p:nvSpPr>
          <p:cNvPr id="58" name="standby map grid"/>
          <p:cNvSpPr/>
          <p:nvPr/>
        </p:nvSpPr>
        <p:spPr>
          <a:xfrm>
            <a:off x="548640" y="3247949"/>
            <a:ext cx="3853282" cy="0"/>
          </a:xfrm>
          <a:prstGeom prst="line">
            <a:avLst/>
          </a:prstGeom>
          <a:noFill/>
          <a:ln w="6350">
            <a:solidFill>
              <a:srgbClr val="E6EAF0"/>
            </a:solidFill>
            <a:prstDash val="solid"/>
          </a:ln>
        </p:spPr>
        <p:txBody>
          <a:bodyPr/>
          <a:lstStyle/>
          <a:p>
            <a:endParaRPr lang="en-US"/>
          </a:p>
        </p:txBody>
      </p:sp>
      <p:sp>
        <p:nvSpPr>
          <p:cNvPr id="59" name="standby map grid"/>
          <p:cNvSpPr/>
          <p:nvPr/>
        </p:nvSpPr>
        <p:spPr>
          <a:xfrm>
            <a:off x="548640" y="3158338"/>
            <a:ext cx="3853282" cy="0"/>
          </a:xfrm>
          <a:prstGeom prst="line">
            <a:avLst/>
          </a:prstGeom>
          <a:noFill/>
          <a:ln w="6350">
            <a:solidFill>
              <a:srgbClr val="E6EAF0"/>
            </a:solidFill>
            <a:prstDash val="solid"/>
          </a:ln>
        </p:spPr>
        <p:txBody>
          <a:bodyPr/>
          <a:lstStyle/>
          <a:p>
            <a:endParaRPr lang="en-US"/>
          </a:p>
        </p:txBody>
      </p:sp>
      <p:sp>
        <p:nvSpPr>
          <p:cNvPr id="60" name="standby map grid"/>
          <p:cNvSpPr/>
          <p:nvPr/>
        </p:nvSpPr>
        <p:spPr>
          <a:xfrm>
            <a:off x="548640" y="3068726"/>
            <a:ext cx="3853282" cy="0"/>
          </a:xfrm>
          <a:prstGeom prst="line">
            <a:avLst/>
          </a:prstGeom>
          <a:noFill/>
          <a:ln w="6350">
            <a:solidFill>
              <a:srgbClr val="E6EAF0"/>
            </a:solidFill>
            <a:prstDash val="solid"/>
          </a:ln>
        </p:spPr>
        <p:txBody>
          <a:bodyPr/>
          <a:lstStyle/>
          <a:p>
            <a:endParaRPr lang="en-US"/>
          </a:p>
        </p:txBody>
      </p:sp>
      <p:sp>
        <p:nvSpPr>
          <p:cNvPr id="61" name="standby map grid"/>
          <p:cNvSpPr/>
          <p:nvPr/>
        </p:nvSpPr>
        <p:spPr>
          <a:xfrm>
            <a:off x="548640" y="2979115"/>
            <a:ext cx="3853282" cy="0"/>
          </a:xfrm>
          <a:prstGeom prst="line">
            <a:avLst/>
          </a:prstGeom>
          <a:noFill/>
          <a:ln w="6350">
            <a:solidFill>
              <a:srgbClr val="E6EAF0"/>
            </a:solidFill>
            <a:prstDash val="solid"/>
          </a:ln>
        </p:spPr>
        <p:txBody>
          <a:bodyPr/>
          <a:lstStyle/>
          <a:p>
            <a:endParaRPr lang="en-US"/>
          </a:p>
        </p:txBody>
      </p:sp>
      <p:sp>
        <p:nvSpPr>
          <p:cNvPr id="62" name="standby map grid"/>
          <p:cNvSpPr/>
          <p:nvPr/>
        </p:nvSpPr>
        <p:spPr>
          <a:xfrm>
            <a:off x="548640" y="2889504"/>
            <a:ext cx="3853282" cy="0"/>
          </a:xfrm>
          <a:prstGeom prst="line">
            <a:avLst/>
          </a:prstGeom>
          <a:noFill/>
          <a:ln w="6350">
            <a:solidFill>
              <a:srgbClr val="E6EAF0"/>
            </a:solidFill>
            <a:prstDash val="solid"/>
          </a:ln>
        </p:spPr>
        <p:txBody>
          <a:bodyPr/>
          <a:lstStyle/>
          <a:p>
            <a:endParaRPr lang="en-US"/>
          </a:p>
        </p:txBody>
      </p:sp>
      <p:sp>
        <p:nvSpPr>
          <p:cNvPr id="63" name="standby map grid"/>
          <p:cNvSpPr/>
          <p:nvPr/>
        </p:nvSpPr>
        <p:spPr>
          <a:xfrm>
            <a:off x="548640" y="2799893"/>
            <a:ext cx="3853282" cy="0"/>
          </a:xfrm>
          <a:prstGeom prst="line">
            <a:avLst/>
          </a:prstGeom>
          <a:noFill/>
          <a:ln w="12700">
            <a:solidFill>
              <a:srgbClr val="B8C0CC"/>
            </a:solidFill>
            <a:prstDash val="solid"/>
          </a:ln>
        </p:spPr>
        <p:txBody>
          <a:bodyPr/>
          <a:lstStyle/>
          <a:p>
            <a:endParaRPr lang="en-US"/>
          </a:p>
        </p:txBody>
      </p:sp>
      <p:sp>
        <p:nvSpPr>
          <p:cNvPr id="64" name="standby map grid"/>
          <p:cNvSpPr/>
          <p:nvPr/>
        </p:nvSpPr>
        <p:spPr>
          <a:xfrm>
            <a:off x="548640" y="2710282"/>
            <a:ext cx="3853282" cy="0"/>
          </a:xfrm>
          <a:prstGeom prst="line">
            <a:avLst/>
          </a:prstGeom>
          <a:noFill/>
          <a:ln w="6350">
            <a:solidFill>
              <a:srgbClr val="E6EAF0"/>
            </a:solidFill>
            <a:prstDash val="solid"/>
          </a:ln>
        </p:spPr>
        <p:txBody>
          <a:bodyPr/>
          <a:lstStyle/>
          <a:p>
            <a:endParaRPr lang="en-US"/>
          </a:p>
        </p:txBody>
      </p:sp>
      <p:sp>
        <p:nvSpPr>
          <p:cNvPr id="65" name="standby map grid"/>
          <p:cNvSpPr/>
          <p:nvPr/>
        </p:nvSpPr>
        <p:spPr>
          <a:xfrm>
            <a:off x="548640" y="2620670"/>
            <a:ext cx="3853282" cy="0"/>
          </a:xfrm>
          <a:prstGeom prst="line">
            <a:avLst/>
          </a:prstGeom>
          <a:noFill/>
          <a:ln w="6350">
            <a:solidFill>
              <a:srgbClr val="E6EAF0"/>
            </a:solidFill>
            <a:prstDash val="solid"/>
          </a:ln>
        </p:spPr>
        <p:txBody>
          <a:bodyPr/>
          <a:lstStyle/>
          <a:p>
            <a:endParaRPr lang="en-US"/>
          </a:p>
        </p:txBody>
      </p:sp>
      <p:sp>
        <p:nvSpPr>
          <p:cNvPr id="66" name="standby map grid"/>
          <p:cNvSpPr/>
          <p:nvPr/>
        </p:nvSpPr>
        <p:spPr>
          <a:xfrm>
            <a:off x="548640" y="2531059"/>
            <a:ext cx="3853282" cy="0"/>
          </a:xfrm>
          <a:prstGeom prst="line">
            <a:avLst/>
          </a:prstGeom>
          <a:noFill/>
          <a:ln w="6350">
            <a:solidFill>
              <a:srgbClr val="E6EAF0"/>
            </a:solidFill>
            <a:prstDash val="solid"/>
          </a:ln>
        </p:spPr>
        <p:txBody>
          <a:bodyPr/>
          <a:lstStyle/>
          <a:p>
            <a:endParaRPr lang="en-US"/>
          </a:p>
        </p:txBody>
      </p:sp>
      <p:sp>
        <p:nvSpPr>
          <p:cNvPr id="67" name="standby map grid"/>
          <p:cNvSpPr/>
          <p:nvPr/>
        </p:nvSpPr>
        <p:spPr>
          <a:xfrm>
            <a:off x="548640" y="2441448"/>
            <a:ext cx="3853282" cy="0"/>
          </a:xfrm>
          <a:prstGeom prst="line">
            <a:avLst/>
          </a:prstGeom>
          <a:noFill/>
          <a:ln w="6350">
            <a:solidFill>
              <a:srgbClr val="E6EAF0"/>
            </a:solidFill>
            <a:prstDash val="solid"/>
          </a:ln>
        </p:spPr>
        <p:txBody>
          <a:bodyPr/>
          <a:lstStyle/>
          <a:p>
            <a:endParaRPr lang="en-US"/>
          </a:p>
        </p:txBody>
      </p:sp>
      <p:sp>
        <p:nvSpPr>
          <p:cNvPr id="68" name="standby map grid"/>
          <p:cNvSpPr/>
          <p:nvPr/>
        </p:nvSpPr>
        <p:spPr>
          <a:xfrm>
            <a:off x="548640" y="2351837"/>
            <a:ext cx="3853282" cy="0"/>
          </a:xfrm>
          <a:prstGeom prst="line">
            <a:avLst/>
          </a:prstGeom>
          <a:noFill/>
          <a:ln w="6350">
            <a:solidFill>
              <a:srgbClr val="E6EAF0"/>
            </a:solidFill>
            <a:prstDash val="solid"/>
          </a:ln>
        </p:spPr>
        <p:txBody>
          <a:bodyPr/>
          <a:lstStyle/>
          <a:p>
            <a:endParaRPr lang="en-US"/>
          </a:p>
        </p:txBody>
      </p:sp>
      <p:sp>
        <p:nvSpPr>
          <p:cNvPr id="69" name="standby map grid"/>
          <p:cNvSpPr/>
          <p:nvPr/>
        </p:nvSpPr>
        <p:spPr>
          <a:xfrm>
            <a:off x="548640" y="2262226"/>
            <a:ext cx="3853282" cy="0"/>
          </a:xfrm>
          <a:prstGeom prst="line">
            <a:avLst/>
          </a:prstGeom>
          <a:noFill/>
          <a:ln w="6350">
            <a:solidFill>
              <a:srgbClr val="E6EAF0"/>
            </a:solidFill>
            <a:prstDash val="solid"/>
          </a:ln>
        </p:spPr>
        <p:txBody>
          <a:bodyPr/>
          <a:lstStyle/>
          <a:p>
            <a:endParaRPr lang="en-US"/>
          </a:p>
        </p:txBody>
      </p:sp>
      <p:sp>
        <p:nvSpPr>
          <p:cNvPr id="70" name="standby map grid"/>
          <p:cNvSpPr/>
          <p:nvPr/>
        </p:nvSpPr>
        <p:spPr>
          <a:xfrm>
            <a:off x="548640" y="2172614"/>
            <a:ext cx="3853282" cy="0"/>
          </a:xfrm>
          <a:prstGeom prst="line">
            <a:avLst/>
          </a:prstGeom>
          <a:noFill/>
          <a:ln w="6350">
            <a:solidFill>
              <a:srgbClr val="E6EAF0"/>
            </a:solidFill>
            <a:prstDash val="solid"/>
          </a:ln>
        </p:spPr>
        <p:txBody>
          <a:bodyPr/>
          <a:lstStyle/>
          <a:p>
            <a:endParaRPr lang="en-US"/>
          </a:p>
        </p:txBody>
      </p:sp>
      <p:sp>
        <p:nvSpPr>
          <p:cNvPr id="71" name="standby map grid"/>
          <p:cNvSpPr/>
          <p:nvPr/>
        </p:nvSpPr>
        <p:spPr>
          <a:xfrm>
            <a:off x="548640" y="2083003"/>
            <a:ext cx="3853282" cy="0"/>
          </a:xfrm>
          <a:prstGeom prst="line">
            <a:avLst/>
          </a:prstGeom>
          <a:noFill/>
          <a:ln w="6350">
            <a:solidFill>
              <a:srgbClr val="E6EAF0"/>
            </a:solidFill>
            <a:prstDash val="solid"/>
          </a:ln>
        </p:spPr>
        <p:txBody>
          <a:bodyPr/>
          <a:lstStyle/>
          <a:p>
            <a:endParaRPr lang="en-US"/>
          </a:p>
        </p:txBody>
      </p:sp>
      <p:sp>
        <p:nvSpPr>
          <p:cNvPr id="72" name="standby map grid"/>
          <p:cNvSpPr/>
          <p:nvPr/>
        </p:nvSpPr>
        <p:spPr>
          <a:xfrm>
            <a:off x="548640" y="1993392"/>
            <a:ext cx="3853282" cy="0"/>
          </a:xfrm>
          <a:prstGeom prst="line">
            <a:avLst/>
          </a:prstGeom>
          <a:noFill/>
          <a:ln w="6350">
            <a:solidFill>
              <a:srgbClr val="E6EAF0"/>
            </a:solidFill>
            <a:prstDash val="solid"/>
          </a:ln>
        </p:spPr>
        <p:txBody>
          <a:bodyPr/>
          <a:lstStyle/>
          <a:p>
            <a:endParaRPr lang="en-US"/>
          </a:p>
        </p:txBody>
      </p:sp>
      <p:sp>
        <p:nvSpPr>
          <p:cNvPr id="73" name="standby map grid"/>
          <p:cNvSpPr/>
          <p:nvPr/>
        </p:nvSpPr>
        <p:spPr>
          <a:xfrm>
            <a:off x="548640" y="1903781"/>
            <a:ext cx="3853282" cy="0"/>
          </a:xfrm>
          <a:prstGeom prst="line">
            <a:avLst/>
          </a:prstGeom>
          <a:noFill/>
          <a:ln w="6350">
            <a:solidFill>
              <a:srgbClr val="E6EAF0"/>
            </a:solidFill>
            <a:prstDash val="solid"/>
          </a:ln>
        </p:spPr>
        <p:txBody>
          <a:bodyPr/>
          <a:lstStyle/>
          <a:p>
            <a:endParaRPr lang="en-US"/>
          </a:p>
        </p:txBody>
      </p:sp>
      <p:sp>
        <p:nvSpPr>
          <p:cNvPr id="74" name="standby map grid"/>
          <p:cNvSpPr/>
          <p:nvPr/>
        </p:nvSpPr>
        <p:spPr>
          <a:xfrm>
            <a:off x="548640" y="1814170"/>
            <a:ext cx="3853282" cy="0"/>
          </a:xfrm>
          <a:prstGeom prst="line">
            <a:avLst/>
          </a:prstGeom>
          <a:noFill/>
          <a:ln w="6350">
            <a:solidFill>
              <a:srgbClr val="E6EAF0"/>
            </a:solidFill>
            <a:prstDash val="solid"/>
          </a:ln>
        </p:spPr>
        <p:txBody>
          <a:bodyPr/>
          <a:lstStyle/>
          <a:p>
            <a:endParaRPr lang="en-US"/>
          </a:p>
        </p:txBody>
      </p:sp>
      <p:sp>
        <p:nvSpPr>
          <p:cNvPr id="75" name="standby map grid"/>
          <p:cNvSpPr/>
          <p:nvPr/>
        </p:nvSpPr>
        <p:spPr>
          <a:xfrm>
            <a:off x="548640" y="1724558"/>
            <a:ext cx="3853282" cy="0"/>
          </a:xfrm>
          <a:prstGeom prst="line">
            <a:avLst/>
          </a:prstGeom>
          <a:noFill/>
          <a:ln w="6350">
            <a:solidFill>
              <a:srgbClr val="E6EAF0"/>
            </a:solidFill>
            <a:prstDash val="solid"/>
          </a:ln>
        </p:spPr>
        <p:txBody>
          <a:bodyPr/>
          <a:lstStyle/>
          <a:p>
            <a:endParaRPr lang="en-US"/>
          </a:p>
        </p:txBody>
      </p:sp>
      <p:sp>
        <p:nvSpPr>
          <p:cNvPr id="76" name="standby map grid"/>
          <p:cNvSpPr/>
          <p:nvPr/>
        </p:nvSpPr>
        <p:spPr>
          <a:xfrm>
            <a:off x="548640" y="1634947"/>
            <a:ext cx="3853282" cy="0"/>
          </a:xfrm>
          <a:prstGeom prst="line">
            <a:avLst/>
          </a:prstGeom>
          <a:noFill/>
          <a:ln w="6350">
            <a:solidFill>
              <a:srgbClr val="E6EAF0"/>
            </a:solidFill>
            <a:prstDash val="solid"/>
          </a:ln>
        </p:spPr>
        <p:txBody>
          <a:bodyPr/>
          <a:lstStyle/>
          <a:p>
            <a:endParaRPr lang="en-US"/>
          </a:p>
        </p:txBody>
      </p:sp>
      <p:sp>
        <p:nvSpPr>
          <p:cNvPr id="77" name="standby map grid"/>
          <p:cNvSpPr/>
          <p:nvPr/>
        </p:nvSpPr>
        <p:spPr>
          <a:xfrm>
            <a:off x="548640" y="1545336"/>
            <a:ext cx="3853282" cy="0"/>
          </a:xfrm>
          <a:prstGeom prst="line">
            <a:avLst/>
          </a:prstGeom>
          <a:noFill/>
          <a:ln w="6350">
            <a:solidFill>
              <a:srgbClr val="E6EAF0"/>
            </a:solidFill>
            <a:prstDash val="solid"/>
          </a:ln>
        </p:spPr>
        <p:txBody>
          <a:bodyPr/>
          <a:lstStyle/>
          <a:p>
            <a:endParaRPr lang="en-US"/>
          </a:p>
        </p:txBody>
      </p:sp>
      <p:sp>
        <p:nvSpPr>
          <p:cNvPr id="78" name="standby map grid"/>
          <p:cNvSpPr/>
          <p:nvPr/>
        </p:nvSpPr>
        <p:spPr>
          <a:xfrm>
            <a:off x="548640" y="1455725"/>
            <a:ext cx="3853282" cy="0"/>
          </a:xfrm>
          <a:prstGeom prst="line">
            <a:avLst/>
          </a:prstGeom>
          <a:noFill/>
          <a:ln w="6350">
            <a:solidFill>
              <a:srgbClr val="E6EAF0"/>
            </a:solidFill>
            <a:prstDash val="solid"/>
          </a:ln>
        </p:spPr>
        <p:txBody>
          <a:bodyPr/>
          <a:lstStyle/>
          <a:p>
            <a:endParaRPr lang="en-US"/>
          </a:p>
        </p:txBody>
      </p:sp>
      <p:sp>
        <p:nvSpPr>
          <p:cNvPr id="79" name="standby map grid"/>
          <p:cNvSpPr/>
          <p:nvPr/>
        </p:nvSpPr>
        <p:spPr>
          <a:xfrm>
            <a:off x="548640" y="1366114"/>
            <a:ext cx="3853282" cy="0"/>
          </a:xfrm>
          <a:prstGeom prst="line">
            <a:avLst/>
          </a:prstGeom>
          <a:noFill/>
          <a:ln w="6350">
            <a:solidFill>
              <a:srgbClr val="E6EAF0"/>
            </a:solidFill>
            <a:prstDash val="solid"/>
          </a:ln>
        </p:spPr>
        <p:txBody>
          <a:bodyPr/>
          <a:lstStyle/>
          <a:p>
            <a:endParaRPr lang="en-US"/>
          </a:p>
        </p:txBody>
      </p:sp>
      <p:sp>
        <p:nvSpPr>
          <p:cNvPr id="80" name="standby map grid"/>
          <p:cNvSpPr/>
          <p:nvPr/>
        </p:nvSpPr>
        <p:spPr>
          <a:xfrm>
            <a:off x="548640" y="1276502"/>
            <a:ext cx="3853282" cy="0"/>
          </a:xfrm>
          <a:prstGeom prst="line">
            <a:avLst/>
          </a:prstGeom>
          <a:noFill/>
          <a:ln w="6350">
            <a:solidFill>
              <a:srgbClr val="E6EAF0"/>
            </a:solidFill>
            <a:prstDash val="solid"/>
          </a:ln>
        </p:spPr>
        <p:txBody>
          <a:bodyPr/>
          <a:lstStyle/>
          <a:p>
            <a:endParaRPr lang="en-US"/>
          </a:p>
        </p:txBody>
      </p:sp>
      <p:sp>
        <p:nvSpPr>
          <p:cNvPr id="81" name="standby map grid"/>
          <p:cNvSpPr/>
          <p:nvPr/>
        </p:nvSpPr>
        <p:spPr>
          <a:xfrm>
            <a:off x="548640" y="1186891"/>
            <a:ext cx="3853282" cy="0"/>
          </a:xfrm>
          <a:prstGeom prst="line">
            <a:avLst/>
          </a:prstGeom>
          <a:noFill/>
          <a:ln w="6350">
            <a:solidFill>
              <a:srgbClr val="E6EAF0"/>
            </a:solidFill>
            <a:prstDash val="solid"/>
          </a:ln>
        </p:spPr>
        <p:txBody>
          <a:bodyPr/>
          <a:lstStyle/>
          <a:p>
            <a:endParaRPr lang="en-US"/>
          </a:p>
        </p:txBody>
      </p:sp>
      <p:sp>
        <p:nvSpPr>
          <p:cNvPr id="82" name="standby map grid"/>
          <p:cNvSpPr/>
          <p:nvPr/>
        </p:nvSpPr>
        <p:spPr>
          <a:xfrm>
            <a:off x="548640" y="1097280"/>
            <a:ext cx="3853282" cy="0"/>
          </a:xfrm>
          <a:prstGeom prst="line">
            <a:avLst/>
          </a:prstGeom>
          <a:noFill/>
          <a:ln w="6350">
            <a:solidFill>
              <a:srgbClr val="E6EAF0"/>
            </a:solidFill>
            <a:prstDash val="solid"/>
          </a:ln>
        </p:spPr>
        <p:txBody>
          <a:bodyPr/>
          <a:lstStyle/>
          <a:p>
            <a:endParaRPr lang="en-US"/>
          </a:p>
        </p:txBody>
      </p:sp>
      <p:sp>
        <p:nvSpPr>
          <p:cNvPr id="83" name="past call"/>
          <p:cNvSpPr/>
          <p:nvPr/>
        </p:nvSpPr>
        <p:spPr>
          <a:xfrm>
            <a:off x="2361895" y="3896258"/>
            <a:ext cx="137160" cy="137160"/>
          </a:xfrm>
          <a:prstGeom prst="diamond">
            <a:avLst/>
          </a:prstGeom>
          <a:solidFill>
            <a:srgbClr val="9AA3B2"/>
          </a:solidFill>
          <a:ln w="9525">
            <a:solidFill>
              <a:schemeClr val="bg1"/>
            </a:solidFill>
            <a:prstDash val="solid"/>
          </a:ln>
        </p:spPr>
        <p:txBody>
          <a:bodyPr/>
          <a:lstStyle/>
          <a:p>
            <a:endParaRPr lang="en-US"/>
          </a:p>
        </p:txBody>
      </p:sp>
      <p:sp>
        <p:nvSpPr>
          <p:cNvPr id="84" name="past call"/>
          <p:cNvSpPr/>
          <p:nvPr/>
        </p:nvSpPr>
        <p:spPr>
          <a:xfrm>
            <a:off x="3347618" y="2731313"/>
            <a:ext cx="137160" cy="137160"/>
          </a:xfrm>
          <a:prstGeom prst="diamond">
            <a:avLst/>
          </a:prstGeom>
          <a:solidFill>
            <a:srgbClr val="9AA3B2"/>
          </a:solidFill>
          <a:ln w="9525">
            <a:solidFill>
              <a:schemeClr val="bg1"/>
            </a:solidFill>
            <a:prstDash val="solid"/>
          </a:ln>
        </p:spPr>
        <p:txBody>
          <a:bodyPr/>
          <a:lstStyle/>
          <a:p>
            <a:endParaRPr lang="en-US"/>
          </a:p>
        </p:txBody>
      </p:sp>
      <p:sp>
        <p:nvSpPr>
          <p:cNvPr id="85" name="past call"/>
          <p:cNvSpPr/>
          <p:nvPr/>
        </p:nvSpPr>
        <p:spPr>
          <a:xfrm>
            <a:off x="2361895" y="3089758"/>
            <a:ext cx="137160" cy="137160"/>
          </a:xfrm>
          <a:prstGeom prst="diamond">
            <a:avLst/>
          </a:prstGeom>
          <a:solidFill>
            <a:srgbClr val="9AA3B2"/>
          </a:solidFill>
          <a:ln w="9525">
            <a:solidFill>
              <a:schemeClr val="bg1"/>
            </a:solidFill>
            <a:prstDash val="solid"/>
          </a:ln>
        </p:spPr>
        <p:txBody>
          <a:bodyPr/>
          <a:lstStyle/>
          <a:p>
            <a:endParaRPr lang="en-US"/>
          </a:p>
        </p:txBody>
      </p:sp>
      <p:sp>
        <p:nvSpPr>
          <p:cNvPr id="86" name="past call"/>
          <p:cNvSpPr/>
          <p:nvPr/>
        </p:nvSpPr>
        <p:spPr>
          <a:xfrm>
            <a:off x="2361895" y="1566367"/>
            <a:ext cx="137160" cy="137160"/>
          </a:xfrm>
          <a:prstGeom prst="diamond">
            <a:avLst/>
          </a:prstGeom>
          <a:solidFill>
            <a:srgbClr val="9AA3B2"/>
          </a:solidFill>
          <a:ln w="9525">
            <a:solidFill>
              <a:schemeClr val="bg1"/>
            </a:solidFill>
            <a:prstDash val="solid"/>
          </a:ln>
        </p:spPr>
        <p:txBody>
          <a:bodyPr/>
          <a:lstStyle/>
          <a:p>
            <a:endParaRPr lang="en-US"/>
          </a:p>
        </p:txBody>
      </p:sp>
      <p:sp>
        <p:nvSpPr>
          <p:cNvPr id="87" name="past call"/>
          <p:cNvSpPr/>
          <p:nvPr/>
        </p:nvSpPr>
        <p:spPr>
          <a:xfrm>
            <a:off x="1555394" y="1835201"/>
            <a:ext cx="137160" cy="137160"/>
          </a:xfrm>
          <a:prstGeom prst="diamond">
            <a:avLst/>
          </a:prstGeom>
          <a:solidFill>
            <a:srgbClr val="9AA3B2"/>
          </a:solidFill>
          <a:ln w="9525">
            <a:solidFill>
              <a:schemeClr val="bg1"/>
            </a:solidFill>
            <a:prstDash val="solid"/>
          </a:ln>
        </p:spPr>
        <p:txBody>
          <a:bodyPr/>
          <a:lstStyle/>
          <a:p>
            <a:endParaRPr lang="en-US"/>
          </a:p>
        </p:txBody>
      </p:sp>
      <p:sp>
        <p:nvSpPr>
          <p:cNvPr id="88" name="past call"/>
          <p:cNvSpPr/>
          <p:nvPr/>
        </p:nvSpPr>
        <p:spPr>
          <a:xfrm>
            <a:off x="1107338" y="1118311"/>
            <a:ext cx="137160" cy="137160"/>
          </a:xfrm>
          <a:prstGeom prst="diamond">
            <a:avLst/>
          </a:prstGeom>
          <a:solidFill>
            <a:srgbClr val="9AA3B2"/>
          </a:solidFill>
          <a:ln w="9525">
            <a:solidFill>
              <a:schemeClr val="bg1"/>
            </a:solidFill>
            <a:prstDash val="solid"/>
          </a:ln>
        </p:spPr>
        <p:txBody>
          <a:bodyPr/>
          <a:lstStyle/>
          <a:p>
            <a:endParaRPr lang="en-US"/>
          </a:p>
        </p:txBody>
      </p:sp>
      <p:sp>
        <p:nvSpPr>
          <p:cNvPr id="89" name="past call"/>
          <p:cNvSpPr/>
          <p:nvPr/>
        </p:nvSpPr>
        <p:spPr>
          <a:xfrm>
            <a:off x="2361895" y="1118311"/>
            <a:ext cx="137160" cy="137160"/>
          </a:xfrm>
          <a:prstGeom prst="diamond">
            <a:avLst/>
          </a:prstGeom>
          <a:solidFill>
            <a:srgbClr val="9AA3B2"/>
          </a:solidFill>
          <a:ln w="9525">
            <a:solidFill>
              <a:schemeClr val="bg1"/>
            </a:solidFill>
            <a:prstDash val="solid"/>
          </a:ln>
        </p:spPr>
        <p:txBody>
          <a:bodyPr/>
          <a:lstStyle/>
          <a:p>
            <a:endParaRPr lang="en-US"/>
          </a:p>
        </p:txBody>
      </p:sp>
      <p:sp>
        <p:nvSpPr>
          <p:cNvPr id="90" name="past call"/>
          <p:cNvSpPr/>
          <p:nvPr/>
        </p:nvSpPr>
        <p:spPr>
          <a:xfrm>
            <a:off x="2272284" y="3000146"/>
            <a:ext cx="137160" cy="137160"/>
          </a:xfrm>
          <a:prstGeom prst="diamond">
            <a:avLst/>
          </a:prstGeom>
          <a:solidFill>
            <a:srgbClr val="9AA3B2"/>
          </a:solidFill>
          <a:ln w="9525">
            <a:solidFill>
              <a:schemeClr val="bg1"/>
            </a:solidFill>
            <a:prstDash val="solid"/>
          </a:ln>
        </p:spPr>
        <p:txBody>
          <a:bodyPr/>
          <a:lstStyle/>
          <a:p>
            <a:endParaRPr lang="en-US"/>
          </a:p>
        </p:txBody>
      </p:sp>
      <p:sp>
        <p:nvSpPr>
          <p:cNvPr id="91" name="past call"/>
          <p:cNvSpPr/>
          <p:nvPr/>
        </p:nvSpPr>
        <p:spPr>
          <a:xfrm>
            <a:off x="659282" y="3268980"/>
            <a:ext cx="137160" cy="137160"/>
          </a:xfrm>
          <a:prstGeom prst="diamond">
            <a:avLst/>
          </a:prstGeom>
          <a:solidFill>
            <a:srgbClr val="9AA3B2"/>
          </a:solidFill>
          <a:ln w="9525">
            <a:solidFill>
              <a:schemeClr val="bg1"/>
            </a:solidFill>
            <a:prstDash val="solid"/>
          </a:ln>
        </p:spPr>
        <p:txBody>
          <a:bodyPr/>
          <a:lstStyle/>
          <a:p>
            <a:endParaRPr lang="en-US"/>
          </a:p>
        </p:txBody>
      </p:sp>
      <p:sp>
        <p:nvSpPr>
          <p:cNvPr id="92" name="past call"/>
          <p:cNvSpPr/>
          <p:nvPr/>
        </p:nvSpPr>
        <p:spPr>
          <a:xfrm>
            <a:off x="659282" y="1207922"/>
            <a:ext cx="137160" cy="137160"/>
          </a:xfrm>
          <a:prstGeom prst="diamond">
            <a:avLst/>
          </a:prstGeom>
          <a:solidFill>
            <a:srgbClr val="9AA3B2"/>
          </a:solidFill>
          <a:ln w="9525">
            <a:solidFill>
              <a:schemeClr val="bg1"/>
            </a:solidFill>
            <a:prstDash val="solid"/>
          </a:ln>
        </p:spPr>
        <p:txBody>
          <a:bodyPr/>
          <a:lstStyle/>
          <a:p>
            <a:endParaRPr lang="en-US"/>
          </a:p>
        </p:txBody>
      </p:sp>
      <p:sp>
        <p:nvSpPr>
          <p:cNvPr id="93" name="past call"/>
          <p:cNvSpPr/>
          <p:nvPr/>
        </p:nvSpPr>
        <p:spPr>
          <a:xfrm>
            <a:off x="4154119" y="3448202"/>
            <a:ext cx="137160" cy="137160"/>
          </a:xfrm>
          <a:prstGeom prst="diamond">
            <a:avLst/>
          </a:prstGeom>
          <a:solidFill>
            <a:srgbClr val="9AA3B2"/>
          </a:solidFill>
          <a:ln w="9525">
            <a:solidFill>
              <a:schemeClr val="bg1"/>
            </a:solidFill>
            <a:prstDash val="solid"/>
          </a:ln>
        </p:spPr>
        <p:txBody>
          <a:bodyPr/>
          <a:lstStyle/>
          <a:p>
            <a:endParaRPr lang="en-US"/>
          </a:p>
        </p:txBody>
      </p:sp>
      <p:sp>
        <p:nvSpPr>
          <p:cNvPr id="94" name="past call"/>
          <p:cNvSpPr/>
          <p:nvPr/>
        </p:nvSpPr>
        <p:spPr>
          <a:xfrm>
            <a:off x="3795674" y="2283257"/>
            <a:ext cx="137160" cy="137160"/>
          </a:xfrm>
          <a:prstGeom prst="diamond">
            <a:avLst/>
          </a:prstGeom>
          <a:solidFill>
            <a:srgbClr val="9AA3B2"/>
          </a:solidFill>
          <a:ln w="9525">
            <a:solidFill>
              <a:schemeClr val="bg1"/>
            </a:solidFill>
            <a:prstDash val="solid"/>
          </a:ln>
        </p:spPr>
        <p:txBody>
          <a:bodyPr/>
          <a:lstStyle/>
          <a:p>
            <a:endParaRPr lang="en-US"/>
          </a:p>
        </p:txBody>
      </p:sp>
      <p:sp>
        <p:nvSpPr>
          <p:cNvPr id="95" name="past call"/>
          <p:cNvSpPr/>
          <p:nvPr/>
        </p:nvSpPr>
        <p:spPr>
          <a:xfrm>
            <a:off x="838505" y="3358591"/>
            <a:ext cx="137160" cy="137160"/>
          </a:xfrm>
          <a:prstGeom prst="diamond">
            <a:avLst/>
          </a:prstGeom>
          <a:solidFill>
            <a:srgbClr val="9AA3B2"/>
          </a:solidFill>
          <a:ln w="9525">
            <a:solidFill>
              <a:schemeClr val="bg1"/>
            </a:solidFill>
            <a:prstDash val="solid"/>
          </a:ln>
        </p:spPr>
        <p:txBody>
          <a:bodyPr/>
          <a:lstStyle/>
          <a:p>
            <a:endParaRPr lang="en-US"/>
          </a:p>
        </p:txBody>
      </p:sp>
      <p:sp>
        <p:nvSpPr>
          <p:cNvPr id="96" name="past call"/>
          <p:cNvSpPr/>
          <p:nvPr/>
        </p:nvSpPr>
        <p:spPr>
          <a:xfrm>
            <a:off x="4154119" y="4075481"/>
            <a:ext cx="137160" cy="137160"/>
          </a:xfrm>
          <a:prstGeom prst="diamond">
            <a:avLst/>
          </a:prstGeom>
          <a:solidFill>
            <a:srgbClr val="9AA3B2"/>
          </a:solidFill>
          <a:ln w="9525">
            <a:solidFill>
              <a:schemeClr val="bg1"/>
            </a:solidFill>
            <a:prstDash val="solid"/>
          </a:ln>
        </p:spPr>
        <p:txBody>
          <a:bodyPr/>
          <a:lstStyle/>
          <a:p>
            <a:endParaRPr lang="en-US"/>
          </a:p>
        </p:txBody>
      </p:sp>
      <p:sp>
        <p:nvSpPr>
          <p:cNvPr id="97" name="past call"/>
          <p:cNvSpPr/>
          <p:nvPr/>
        </p:nvSpPr>
        <p:spPr>
          <a:xfrm>
            <a:off x="3885286" y="1924812"/>
            <a:ext cx="137160" cy="137160"/>
          </a:xfrm>
          <a:prstGeom prst="diamond">
            <a:avLst/>
          </a:prstGeom>
          <a:solidFill>
            <a:srgbClr val="9AA3B2"/>
          </a:solidFill>
          <a:ln w="9525">
            <a:solidFill>
              <a:schemeClr val="bg1"/>
            </a:solidFill>
            <a:prstDash val="solid"/>
          </a:ln>
        </p:spPr>
        <p:txBody>
          <a:bodyPr/>
          <a:lstStyle/>
          <a:p>
            <a:endParaRPr lang="en-US"/>
          </a:p>
        </p:txBody>
      </p:sp>
      <p:sp>
        <p:nvSpPr>
          <p:cNvPr id="98" name="past call"/>
          <p:cNvSpPr/>
          <p:nvPr/>
        </p:nvSpPr>
        <p:spPr>
          <a:xfrm>
            <a:off x="1017727" y="2193646"/>
            <a:ext cx="137160" cy="137160"/>
          </a:xfrm>
          <a:prstGeom prst="diamond">
            <a:avLst/>
          </a:prstGeom>
          <a:solidFill>
            <a:srgbClr val="9AA3B2"/>
          </a:solidFill>
          <a:ln w="9525">
            <a:solidFill>
              <a:schemeClr val="bg1"/>
            </a:solidFill>
            <a:prstDash val="solid"/>
          </a:ln>
        </p:spPr>
        <p:txBody>
          <a:bodyPr/>
          <a:lstStyle/>
          <a:p>
            <a:endParaRPr lang="en-US"/>
          </a:p>
        </p:txBody>
      </p:sp>
      <p:sp>
        <p:nvSpPr>
          <p:cNvPr id="99" name="past call"/>
          <p:cNvSpPr/>
          <p:nvPr/>
        </p:nvSpPr>
        <p:spPr>
          <a:xfrm>
            <a:off x="2361895" y="2283257"/>
            <a:ext cx="137160" cy="137160"/>
          </a:xfrm>
          <a:prstGeom prst="diamond">
            <a:avLst/>
          </a:prstGeom>
          <a:solidFill>
            <a:srgbClr val="9AA3B2"/>
          </a:solidFill>
          <a:ln w="9525">
            <a:solidFill>
              <a:schemeClr val="bg1"/>
            </a:solidFill>
            <a:prstDash val="solid"/>
          </a:ln>
        </p:spPr>
        <p:txBody>
          <a:bodyPr/>
          <a:lstStyle/>
          <a:p>
            <a:endParaRPr lang="en-US"/>
          </a:p>
        </p:txBody>
      </p:sp>
      <p:sp>
        <p:nvSpPr>
          <p:cNvPr id="100" name="past call"/>
          <p:cNvSpPr/>
          <p:nvPr/>
        </p:nvSpPr>
        <p:spPr>
          <a:xfrm>
            <a:off x="4064508" y="2014423"/>
            <a:ext cx="137160" cy="137160"/>
          </a:xfrm>
          <a:prstGeom prst="diamond">
            <a:avLst/>
          </a:prstGeom>
          <a:solidFill>
            <a:srgbClr val="9AA3B2"/>
          </a:solidFill>
          <a:ln w="9525">
            <a:solidFill>
              <a:schemeClr val="bg1"/>
            </a:solidFill>
            <a:prstDash val="solid"/>
          </a:ln>
        </p:spPr>
        <p:txBody>
          <a:bodyPr/>
          <a:lstStyle/>
          <a:p>
            <a:endParaRPr lang="en-US"/>
          </a:p>
        </p:txBody>
      </p:sp>
      <p:sp>
        <p:nvSpPr>
          <p:cNvPr id="101" name="past call"/>
          <p:cNvSpPr/>
          <p:nvPr/>
        </p:nvSpPr>
        <p:spPr>
          <a:xfrm>
            <a:off x="1734617" y="2283257"/>
            <a:ext cx="137160" cy="137160"/>
          </a:xfrm>
          <a:prstGeom prst="diamond">
            <a:avLst/>
          </a:prstGeom>
          <a:solidFill>
            <a:srgbClr val="9AA3B2"/>
          </a:solidFill>
          <a:ln w="9525">
            <a:solidFill>
              <a:schemeClr val="bg1"/>
            </a:solidFill>
            <a:prstDash val="solid"/>
          </a:ln>
        </p:spPr>
        <p:txBody>
          <a:bodyPr/>
          <a:lstStyle/>
          <a:p>
            <a:endParaRPr lang="en-US"/>
          </a:p>
        </p:txBody>
      </p:sp>
      <p:sp>
        <p:nvSpPr>
          <p:cNvPr id="102" name="past call"/>
          <p:cNvSpPr/>
          <p:nvPr/>
        </p:nvSpPr>
        <p:spPr>
          <a:xfrm>
            <a:off x="1286561" y="2014423"/>
            <a:ext cx="137160" cy="137160"/>
          </a:xfrm>
          <a:prstGeom prst="diamond">
            <a:avLst/>
          </a:prstGeom>
          <a:solidFill>
            <a:srgbClr val="9AA3B2"/>
          </a:solidFill>
          <a:ln w="9525">
            <a:solidFill>
              <a:schemeClr val="bg1"/>
            </a:solidFill>
            <a:prstDash val="solid"/>
          </a:ln>
        </p:spPr>
        <p:txBody>
          <a:bodyPr/>
          <a:lstStyle/>
          <a:p>
            <a:endParaRPr lang="en-US"/>
          </a:p>
        </p:txBody>
      </p:sp>
      <p:sp>
        <p:nvSpPr>
          <p:cNvPr id="103" name="base"/>
          <p:cNvSpPr/>
          <p:nvPr/>
        </p:nvSpPr>
        <p:spPr>
          <a:xfrm>
            <a:off x="2329891" y="2699309"/>
            <a:ext cx="201168" cy="201168"/>
          </a:xfrm>
          <a:prstGeom prst="rect">
            <a:avLst/>
          </a:prstGeom>
          <a:solidFill>
            <a:schemeClr val="bg1">
              <a:alpha val="0"/>
            </a:schemeClr>
          </a:solidFill>
          <a:ln w="19050">
            <a:solidFill>
              <a:schemeClr val="tx2"/>
            </a:solidFill>
            <a:prstDash val="solid"/>
          </a:ln>
        </p:spPr>
        <p:txBody>
          <a:bodyPr/>
          <a:lstStyle/>
          <a:p>
            <a:endParaRPr lang="en-US"/>
          </a:p>
        </p:txBody>
      </p:sp>
      <p:sp>
        <p:nvSpPr>
          <p:cNvPr id="104" name="standby spot"/>
          <p:cNvSpPr/>
          <p:nvPr/>
        </p:nvSpPr>
        <p:spPr>
          <a:xfrm>
            <a:off x="958291" y="1954987"/>
            <a:ext cx="256032" cy="256032"/>
          </a:xfrm>
          <a:prstGeom prst="ellipse">
            <a:avLst/>
          </a:prstGeom>
          <a:solidFill>
            <a:schemeClr val="accent1"/>
          </a:solidFill>
          <a:ln w="12700">
            <a:solidFill>
              <a:schemeClr val="bg1"/>
            </a:solidFill>
            <a:prstDash val="solid"/>
          </a:ln>
        </p:spPr>
        <p:txBody>
          <a:bodyPr/>
          <a:lstStyle/>
          <a:p>
            <a:endParaRPr lang="en-US"/>
          </a:p>
        </p:txBody>
      </p:sp>
      <p:sp>
        <p:nvSpPr>
          <p:cNvPr id="105" name="standby spot"/>
          <p:cNvSpPr/>
          <p:nvPr/>
        </p:nvSpPr>
        <p:spPr>
          <a:xfrm>
            <a:off x="2348179" y="2717597"/>
            <a:ext cx="164592" cy="164592"/>
          </a:xfrm>
          <a:prstGeom prst="ellipse">
            <a:avLst/>
          </a:prstGeom>
          <a:solidFill>
            <a:schemeClr val="accent1"/>
          </a:solidFill>
          <a:ln w="12700">
            <a:solidFill>
              <a:schemeClr val="accent1"/>
            </a:solidFill>
            <a:prstDash val="solid"/>
          </a:ln>
        </p:spPr>
        <p:txBody>
          <a:bodyPr/>
          <a:lstStyle/>
          <a:p>
            <a:endParaRPr lang="en-US"/>
          </a:p>
        </p:txBody>
      </p:sp>
      <p:sp>
        <p:nvSpPr>
          <p:cNvPr id="106" name="standby spot"/>
          <p:cNvSpPr/>
          <p:nvPr/>
        </p:nvSpPr>
        <p:spPr>
          <a:xfrm>
            <a:off x="4005072" y="2223821"/>
            <a:ext cx="256032" cy="256032"/>
          </a:xfrm>
          <a:prstGeom prst="ellipse">
            <a:avLst/>
          </a:prstGeom>
          <a:solidFill>
            <a:schemeClr val="accent1"/>
          </a:solidFill>
          <a:ln w="12700">
            <a:solidFill>
              <a:schemeClr val="bg1"/>
            </a:solidFill>
            <a:prstDash val="solid"/>
          </a:ln>
        </p:spPr>
        <p:txBody>
          <a:bodyPr/>
          <a:lstStyle/>
          <a:p>
            <a:endParaRPr lang="en-US"/>
          </a:p>
        </p:txBody>
      </p:sp>
      <p:sp>
        <p:nvSpPr>
          <p:cNvPr id="107" name="Text 105"/>
          <p:cNvSpPr txBox="1"/>
          <p:nvPr/>
        </p:nvSpPr>
        <p:spPr>
          <a:xfrm>
            <a:off x="548640" y="4370832"/>
            <a:ext cx="3931920" cy="228600"/>
          </a:xfrm>
          <a:prstGeom prst="rect">
            <a:avLst/>
          </a:prstGeom>
          <a:noFill/>
          <a:ln/>
        </p:spPr>
        <p:txBody>
          <a:bodyPr wrap="square" lIns="0" tIns="0" rIns="0" bIns="0" rtlCol="0" anchor="t"/>
          <a:lstStyle/>
          <a:p>
            <a:pPr marL="0" indent="0">
              <a:buNone/>
            </a:pPr>
            <a:r>
              <a:rPr lang="en-US" sz="1100" dirty="0">
                <a:solidFill>
                  <a:srgbClr val="9AA3B2"/>
                </a:solidFill>
              </a:rPr>
              <a:t>◆ </a:t>
            </a:r>
            <a:r>
              <a:rPr lang="en-US" sz="1100" dirty="0">
                <a:solidFill>
                  <a:schemeClr val="accent6"/>
                </a:solidFill>
              </a:rPr>
              <a:t>past calls   </a:t>
            </a:r>
            <a:r>
              <a:rPr lang="en-US" sz="1100" dirty="0">
                <a:solidFill>
                  <a:schemeClr val="accent1"/>
                </a:solidFill>
              </a:rPr>
              <a:t>● </a:t>
            </a:r>
            <a:r>
              <a:rPr lang="en-US" sz="1100" dirty="0">
                <a:solidFill>
                  <a:schemeClr val="accent6"/>
                </a:solidFill>
              </a:rPr>
              <a:t>standby spots   </a:t>
            </a:r>
            <a:r>
              <a:rPr lang="en-US" sz="1100" dirty="0">
                <a:solidFill>
                  <a:schemeClr val="tx2"/>
                </a:solidFill>
              </a:rPr>
              <a:t>□ </a:t>
            </a:r>
            <a:r>
              <a:rPr lang="en-US" sz="1100" dirty="0">
                <a:solidFill>
                  <a:schemeClr val="accent6"/>
                </a:solidFill>
              </a:rPr>
              <a:t>base   (typical_day, 3 vehicles)</a:t>
            </a:r>
            <a:endParaRPr lang="en-US" sz="1100" dirty="0"/>
          </a:p>
        </p:txBody>
      </p:sp>
      <p:sp>
        <p:nvSpPr>
          <p:cNvPr id="108" name="30 value"/>
          <p:cNvSpPr txBox="1"/>
          <p:nvPr/>
        </p:nvSpPr>
        <p:spPr>
          <a:xfrm>
            <a:off x="4846320" y="1051560"/>
            <a:ext cx="3840480" cy="502920"/>
          </a:xfrm>
          <a:prstGeom prst="rect">
            <a:avLst/>
          </a:prstGeom>
          <a:noFill/>
          <a:ln/>
        </p:spPr>
        <p:txBody>
          <a:bodyPr wrap="square" lIns="0" tIns="0" rIns="0" bIns="0" rtlCol="0" anchor="b"/>
          <a:lstStyle/>
          <a:p>
            <a:pPr marL="0" indent="0">
              <a:buNone/>
            </a:pPr>
            <a:r>
              <a:rPr lang="en-US" sz="3200" b="1" dirty="0">
                <a:solidFill>
                  <a:schemeClr val="accent1"/>
                </a:solidFill>
              </a:rPr>
              <a:t>19.7 → 9.9 min</a:t>
            </a:r>
            <a:endParaRPr lang="en-US" sz="3200" dirty="0"/>
          </a:p>
        </p:txBody>
      </p:sp>
      <p:sp>
        <p:nvSpPr>
          <p:cNvPr id="109" name="30 label"/>
          <p:cNvSpPr txBox="1"/>
          <p:nvPr/>
        </p:nvSpPr>
        <p:spPr>
          <a:xfrm>
            <a:off x="4846320" y="1618488"/>
            <a:ext cx="3840480" cy="566928"/>
          </a:xfrm>
          <a:prstGeom prst="rect">
            <a:avLst/>
          </a:prstGeom>
          <a:noFill/>
          <a:ln/>
        </p:spPr>
        <p:txBody>
          <a:bodyPr wrap="square" lIns="0" tIns="0" rIns="0" bIns="0" rtlCol="0" anchor="t"/>
          <a:lstStyle/>
          <a:p>
            <a:pPr marL="0" indent="0">
              <a:buNone/>
            </a:pPr>
            <a:r>
              <a:rPr lang="en-US" sz="1400" dirty="0">
                <a:solidFill>
                  <a:schemeClr val="tx1"/>
                </a:solidFill>
              </a:rPr>
              <a:t>average drive from the nearest vehicle to these 20 calls: all at base vs at the spots</a:t>
            </a:r>
            <a:endParaRPr lang="en-US" sz="1400" dirty="0"/>
          </a:p>
        </p:txBody>
      </p:sp>
      <p:sp>
        <p:nvSpPr>
          <p:cNvPr id="110" name="standby point 1 circle"/>
          <p:cNvSpPr/>
          <p:nvPr/>
        </p:nvSpPr>
        <p:spPr>
          <a:xfrm>
            <a:off x="4846320" y="2377440"/>
            <a:ext cx="420624" cy="420624"/>
          </a:xfrm>
          <a:prstGeom prst="ellipse">
            <a:avLst/>
          </a:prstGeom>
          <a:solidFill>
            <a:schemeClr val="tx2"/>
          </a:solidFill>
          <a:ln w="12700">
            <a:solidFill>
              <a:schemeClr val="tx2"/>
            </a:solidFill>
            <a:prstDash val="solid"/>
          </a:ln>
        </p:spPr>
        <p:txBody>
          <a:bodyPr/>
          <a:lstStyle/>
          <a:p>
            <a:endParaRPr lang="en-US"/>
          </a:p>
        </p:txBody>
      </p:sp>
      <p:pic>
        <p:nvPicPr>
          <p:cNvPr id="111" name="standby point 1 icon" descr="standby point 1"/>
          <p:cNvPicPr>
            <a:picLocks noChangeAspect="1"/>
          </p:cNvPicPr>
          <p:nvPr/>
        </p:nvPicPr>
        <p:blipFill>
          <a:blip r:embed="rId3"/>
          <a:stretch>
            <a:fillRect/>
          </a:stretch>
        </p:blipFill>
        <p:spPr>
          <a:xfrm>
            <a:off x="4947270" y="2478390"/>
            <a:ext cx="218724" cy="218724"/>
          </a:xfrm>
          <a:prstGeom prst="rect">
            <a:avLst/>
          </a:prstGeom>
        </p:spPr>
      </p:pic>
      <p:sp>
        <p:nvSpPr>
          <p:cNvPr id="112" name="Text 109"/>
          <p:cNvSpPr txBox="1"/>
          <p:nvPr/>
        </p:nvSpPr>
        <p:spPr>
          <a:xfrm>
            <a:off x="5440680" y="2340864"/>
            <a:ext cx="3246120" cy="548640"/>
          </a:xfrm>
          <a:prstGeom prst="rect">
            <a:avLst/>
          </a:prstGeom>
          <a:noFill/>
          <a:ln/>
        </p:spPr>
        <p:txBody>
          <a:bodyPr wrap="square" lIns="0" tIns="0" rIns="0" bIns="0" rtlCol="0" anchor="ctr"/>
          <a:lstStyle/>
          <a:p>
            <a:pPr marL="0" indent="0">
              <a:buNone/>
            </a:pPr>
            <a:r>
              <a:rPr lang="en-US" sz="1400" dirty="0">
                <a:solidFill>
                  <a:schemeClr val="tx1"/>
                </a:solidFill>
              </a:rPr>
              <a:t>Spots are the k-median of every call seen so far; base counts as 3 calls</a:t>
            </a:r>
            <a:endParaRPr lang="en-US" sz="1400" dirty="0"/>
          </a:p>
        </p:txBody>
      </p:sp>
      <p:sp>
        <p:nvSpPr>
          <p:cNvPr id="113" name="standby point 2 circle"/>
          <p:cNvSpPr/>
          <p:nvPr/>
        </p:nvSpPr>
        <p:spPr>
          <a:xfrm>
            <a:off x="4846320" y="3090672"/>
            <a:ext cx="420624" cy="420624"/>
          </a:xfrm>
          <a:prstGeom prst="ellipse">
            <a:avLst/>
          </a:prstGeom>
          <a:solidFill>
            <a:schemeClr val="tx2"/>
          </a:solidFill>
          <a:ln w="12700">
            <a:solidFill>
              <a:schemeClr val="tx2"/>
            </a:solidFill>
            <a:prstDash val="solid"/>
          </a:ln>
        </p:spPr>
        <p:txBody>
          <a:bodyPr/>
          <a:lstStyle/>
          <a:p>
            <a:endParaRPr lang="en-US"/>
          </a:p>
        </p:txBody>
      </p:sp>
      <p:pic>
        <p:nvPicPr>
          <p:cNvPr id="114" name="standby point 2 icon" descr="standby point 2"/>
          <p:cNvPicPr>
            <a:picLocks noChangeAspect="1"/>
          </p:cNvPicPr>
          <p:nvPr/>
        </p:nvPicPr>
        <p:blipFill>
          <a:blip r:embed="rId4"/>
          <a:stretch>
            <a:fillRect/>
          </a:stretch>
        </p:blipFill>
        <p:spPr>
          <a:xfrm>
            <a:off x="4947270" y="3191622"/>
            <a:ext cx="218724" cy="218724"/>
          </a:xfrm>
          <a:prstGeom prst="rect">
            <a:avLst/>
          </a:prstGeom>
        </p:spPr>
      </p:pic>
      <p:sp>
        <p:nvSpPr>
          <p:cNvPr id="115" name="Text 111"/>
          <p:cNvSpPr txBox="1"/>
          <p:nvPr/>
        </p:nvSpPr>
        <p:spPr>
          <a:xfrm>
            <a:off x="5440680" y="3054096"/>
            <a:ext cx="3246120" cy="548640"/>
          </a:xfrm>
          <a:prstGeom prst="rect">
            <a:avLst/>
          </a:prstGeom>
          <a:noFill/>
          <a:ln/>
        </p:spPr>
        <p:txBody>
          <a:bodyPr wrap="square" lIns="0" tIns="0" rIns="0" bIns="0" rtlCol="0" anchor="ctr"/>
          <a:lstStyle/>
          <a:p>
            <a:pPr marL="0" indent="0">
              <a:buNone/>
            </a:pPr>
            <a:r>
              <a:rPr lang="en-US" sz="1400" dirty="0">
                <a:solidFill>
                  <a:schemeClr val="tx1"/>
                </a:solidFill>
              </a:rPr>
              <a:t>A vehicle moves only if coverage improves by at least 1 minute</a:t>
            </a:r>
            <a:endParaRPr lang="en-US" sz="1400" dirty="0"/>
          </a:p>
        </p:txBody>
      </p:sp>
      <p:sp>
        <p:nvSpPr>
          <p:cNvPr id="116" name="standby point 3 circle"/>
          <p:cNvSpPr/>
          <p:nvPr/>
        </p:nvSpPr>
        <p:spPr>
          <a:xfrm>
            <a:off x="4846320" y="3803904"/>
            <a:ext cx="420624" cy="420624"/>
          </a:xfrm>
          <a:prstGeom prst="ellipse">
            <a:avLst/>
          </a:prstGeom>
          <a:solidFill>
            <a:schemeClr val="tx2"/>
          </a:solidFill>
          <a:ln w="12700">
            <a:solidFill>
              <a:schemeClr val="tx2"/>
            </a:solidFill>
            <a:prstDash val="solid"/>
          </a:ln>
        </p:spPr>
        <p:txBody>
          <a:bodyPr/>
          <a:lstStyle/>
          <a:p>
            <a:endParaRPr lang="en-US"/>
          </a:p>
        </p:txBody>
      </p:sp>
      <p:pic>
        <p:nvPicPr>
          <p:cNvPr id="117" name="standby point 3 icon" descr="standby point 3"/>
          <p:cNvPicPr>
            <a:picLocks noChangeAspect="1"/>
          </p:cNvPicPr>
          <p:nvPr/>
        </p:nvPicPr>
        <p:blipFill>
          <a:blip r:embed="rId5"/>
          <a:stretch>
            <a:fillRect/>
          </a:stretch>
        </p:blipFill>
        <p:spPr>
          <a:xfrm>
            <a:off x="4947270" y="3904854"/>
            <a:ext cx="218724" cy="218724"/>
          </a:xfrm>
          <a:prstGeom prst="rect">
            <a:avLst/>
          </a:prstGeom>
        </p:spPr>
      </p:pic>
      <p:sp>
        <p:nvSpPr>
          <p:cNvPr id="118" name="Text 113"/>
          <p:cNvSpPr txBox="1"/>
          <p:nvPr/>
        </p:nvSpPr>
        <p:spPr>
          <a:xfrm>
            <a:off x="5440680" y="3767328"/>
            <a:ext cx="3246120" cy="548640"/>
          </a:xfrm>
          <a:prstGeom prst="rect">
            <a:avLst/>
          </a:prstGeom>
          <a:noFill/>
          <a:ln/>
        </p:spPr>
        <p:txBody>
          <a:bodyPr wrap="square" lIns="0" tIns="0" rIns="0" bIns="0" rtlCol="0" anchor="ctr"/>
          <a:lstStyle/>
          <a:p>
            <a:pPr marL="0" indent="0">
              <a:buNone/>
            </a:pPr>
            <a:r>
              <a:rPr lang="en-US" sz="1400" dirty="0">
                <a:solidFill>
                  <a:schemeClr val="tx1"/>
                </a:solidFill>
              </a:rPr>
              <a:t>Beat return-to-base on 1,600 of 1,980 simulated days (worse on 215)</a:t>
            </a:r>
            <a:endParaRPr lang="en-US" sz="1400" dirty="0"/>
          </a:p>
        </p:txBody>
      </p:sp>
      <p:sp>
        <p:nvSpPr>
          <p:cNvPr id="119"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CP-SAT: perfect hindsight</a:t>
            </a:r>
            <a:endParaRPr lang="en-US" sz="3600" dirty="0"/>
          </a:p>
        </p:txBody>
      </p:sp>
      <p:sp>
        <p:nvSpPr>
          <p:cNvPr id="3" name="Reads the whole day first circle"/>
          <p:cNvSpPr/>
          <p:nvPr/>
        </p:nvSpPr>
        <p:spPr>
          <a:xfrm>
            <a:off x="457200" y="1143000"/>
            <a:ext cx="566928" cy="566928"/>
          </a:xfrm>
          <a:prstGeom prst="ellipse">
            <a:avLst/>
          </a:prstGeom>
          <a:solidFill>
            <a:schemeClr val="accent3"/>
          </a:solidFill>
          <a:ln w="12700">
            <a:solidFill>
              <a:schemeClr val="accent3"/>
            </a:solidFill>
            <a:prstDash val="solid"/>
          </a:ln>
        </p:spPr>
        <p:txBody>
          <a:bodyPr/>
          <a:lstStyle/>
          <a:p>
            <a:endParaRPr lang="en-US"/>
          </a:p>
        </p:txBody>
      </p:sp>
      <p:pic>
        <p:nvPicPr>
          <p:cNvPr id="4" name="Reads the whole day first icon" descr="Reads the whole day first"/>
          <p:cNvPicPr>
            <a:picLocks noChangeAspect="1"/>
          </p:cNvPicPr>
          <p:nvPr/>
        </p:nvPicPr>
        <p:blipFill>
          <a:blip r:embed="rId3"/>
          <a:stretch>
            <a:fillRect/>
          </a:stretch>
        </p:blipFill>
        <p:spPr>
          <a:xfrm>
            <a:off x="593263" y="1279063"/>
            <a:ext cx="294803" cy="294803"/>
          </a:xfrm>
          <a:prstGeom prst="rect">
            <a:avLst/>
          </a:prstGeom>
        </p:spPr>
      </p:pic>
      <p:sp>
        <p:nvSpPr>
          <p:cNvPr id="5" name="Text 2"/>
          <p:cNvSpPr txBox="1"/>
          <p:nvPr/>
        </p:nvSpPr>
        <p:spPr>
          <a:xfrm>
            <a:off x="1234440" y="1097280"/>
            <a:ext cx="3931920" cy="292608"/>
          </a:xfrm>
          <a:prstGeom prst="rect">
            <a:avLst/>
          </a:prstGeom>
          <a:noFill/>
          <a:ln/>
        </p:spPr>
        <p:txBody>
          <a:bodyPr wrap="square" lIns="0" tIns="0" rIns="0" bIns="0" rtlCol="0" anchor="t"/>
          <a:lstStyle/>
          <a:p>
            <a:pPr marL="0" indent="0">
              <a:buNone/>
            </a:pPr>
            <a:r>
              <a:rPr lang="en-US" sz="1600" b="1" dirty="0">
                <a:solidFill>
                  <a:schemeClr val="tx2"/>
                </a:solidFill>
              </a:rPr>
              <a:t>Reads the whole day first</a:t>
            </a:r>
            <a:endParaRPr lang="en-US" sz="1600" dirty="0"/>
          </a:p>
        </p:txBody>
      </p:sp>
      <p:sp>
        <p:nvSpPr>
          <p:cNvPr id="6" name="Text 3"/>
          <p:cNvSpPr txBox="1"/>
          <p:nvPr/>
        </p:nvSpPr>
        <p:spPr>
          <a:xfrm>
            <a:off x="1234440" y="1408176"/>
            <a:ext cx="3931920" cy="548640"/>
          </a:xfrm>
          <a:prstGeom prst="rect">
            <a:avLst/>
          </a:prstGeom>
          <a:noFill/>
          <a:ln/>
        </p:spPr>
        <p:txBody>
          <a:bodyPr wrap="square" lIns="0" tIns="0" rIns="0" bIns="0" rtlCol="0" anchor="t"/>
          <a:lstStyle/>
          <a:p>
            <a:pPr marL="0" indent="0">
              <a:buNone/>
            </a:pPr>
            <a:r>
              <a:rPr lang="en-US" sz="1400" dirty="0">
                <a:solidFill>
                  <a:schemeClr val="tx1"/>
                </a:solidFill>
              </a:rPr>
              <a:t>So it's a yardstick, not a valid online dispatcher</a:t>
            </a:r>
            <a:endParaRPr lang="en-US" sz="1400" dirty="0"/>
          </a:p>
        </p:txBody>
      </p:sp>
      <p:sp>
        <p:nvSpPr>
          <p:cNvPr id="7" name="One route per vehicle circle"/>
          <p:cNvSpPr/>
          <p:nvPr/>
        </p:nvSpPr>
        <p:spPr>
          <a:xfrm>
            <a:off x="457200" y="2286000"/>
            <a:ext cx="566928" cy="566928"/>
          </a:xfrm>
          <a:prstGeom prst="ellipse">
            <a:avLst/>
          </a:prstGeom>
          <a:solidFill>
            <a:schemeClr val="accent3"/>
          </a:solidFill>
          <a:ln w="12700">
            <a:solidFill>
              <a:schemeClr val="accent3"/>
            </a:solidFill>
            <a:prstDash val="solid"/>
          </a:ln>
        </p:spPr>
        <p:txBody>
          <a:bodyPr/>
          <a:lstStyle/>
          <a:p>
            <a:endParaRPr lang="en-US"/>
          </a:p>
        </p:txBody>
      </p:sp>
      <p:pic>
        <p:nvPicPr>
          <p:cNvPr id="8" name="One route per vehicle icon" descr="One route per vehicle"/>
          <p:cNvPicPr>
            <a:picLocks noChangeAspect="1"/>
          </p:cNvPicPr>
          <p:nvPr/>
        </p:nvPicPr>
        <p:blipFill>
          <a:blip r:embed="rId4"/>
          <a:stretch>
            <a:fillRect/>
          </a:stretch>
        </p:blipFill>
        <p:spPr>
          <a:xfrm>
            <a:off x="593263" y="2422063"/>
            <a:ext cx="294803" cy="294803"/>
          </a:xfrm>
          <a:prstGeom prst="rect">
            <a:avLst/>
          </a:prstGeom>
        </p:spPr>
      </p:pic>
      <p:sp>
        <p:nvSpPr>
          <p:cNvPr id="9" name="Text 5"/>
          <p:cNvSpPr txBox="1"/>
          <p:nvPr/>
        </p:nvSpPr>
        <p:spPr>
          <a:xfrm>
            <a:off x="1234440" y="2240280"/>
            <a:ext cx="3931920" cy="292608"/>
          </a:xfrm>
          <a:prstGeom prst="rect">
            <a:avLst/>
          </a:prstGeom>
          <a:noFill/>
          <a:ln/>
        </p:spPr>
        <p:txBody>
          <a:bodyPr wrap="square" lIns="0" tIns="0" rIns="0" bIns="0" rtlCol="0" anchor="t"/>
          <a:lstStyle/>
          <a:p>
            <a:pPr marL="0" indent="0">
              <a:buNone/>
            </a:pPr>
            <a:r>
              <a:rPr lang="en-US" sz="1600" b="1" dirty="0">
                <a:solidFill>
                  <a:schemeClr val="tx2"/>
                </a:solidFill>
              </a:rPr>
              <a:t>One route per vehicle</a:t>
            </a:r>
            <a:endParaRPr lang="en-US" sz="1600" dirty="0"/>
          </a:p>
        </p:txBody>
      </p:sp>
      <p:sp>
        <p:nvSpPr>
          <p:cNvPr id="10" name="Text 6"/>
          <p:cNvSpPr txBox="1"/>
          <p:nvPr/>
        </p:nvSpPr>
        <p:spPr>
          <a:xfrm>
            <a:off x="1234440" y="2551176"/>
            <a:ext cx="3931920" cy="548640"/>
          </a:xfrm>
          <a:prstGeom prst="rect">
            <a:avLst/>
          </a:prstGeom>
          <a:noFill/>
          <a:ln/>
        </p:spPr>
        <p:txBody>
          <a:bodyPr wrap="square" lIns="0" tIns="0" rIns="0" bIns="0" rtlCol="0" anchor="t"/>
          <a:lstStyle/>
          <a:p>
            <a:pPr marL="0" indent="0">
              <a:buNone/>
            </a:pPr>
            <a:r>
              <a:rPr lang="en-US" sz="1400" dirty="0">
                <a:solidFill>
                  <a:schemeClr val="tx1"/>
                </a:solidFill>
              </a:rPr>
              <a:t>Circuit constraints with exact timing, including waiting for a call and drifting home</a:t>
            </a:r>
            <a:endParaRPr lang="en-US" sz="1400" dirty="0"/>
          </a:p>
        </p:txBody>
      </p:sp>
      <p:sp>
        <p:nvSpPr>
          <p:cNvPr id="11" name="Proves its answer is optimal circle"/>
          <p:cNvSpPr/>
          <p:nvPr/>
        </p:nvSpPr>
        <p:spPr>
          <a:xfrm>
            <a:off x="457200" y="3429000"/>
            <a:ext cx="566928" cy="566928"/>
          </a:xfrm>
          <a:prstGeom prst="ellipse">
            <a:avLst/>
          </a:prstGeom>
          <a:solidFill>
            <a:schemeClr val="accent3"/>
          </a:solidFill>
          <a:ln w="12700">
            <a:solidFill>
              <a:schemeClr val="accent3"/>
            </a:solidFill>
            <a:prstDash val="solid"/>
          </a:ln>
        </p:spPr>
        <p:txBody>
          <a:bodyPr/>
          <a:lstStyle/>
          <a:p>
            <a:endParaRPr lang="en-US"/>
          </a:p>
        </p:txBody>
      </p:sp>
      <p:pic>
        <p:nvPicPr>
          <p:cNvPr id="12" name="Proves its answer is optimal icon" descr="Proves its answer is optimal"/>
          <p:cNvPicPr>
            <a:picLocks noChangeAspect="1"/>
          </p:cNvPicPr>
          <p:nvPr/>
        </p:nvPicPr>
        <p:blipFill>
          <a:blip r:embed="rId5"/>
          <a:stretch>
            <a:fillRect/>
          </a:stretch>
        </p:blipFill>
        <p:spPr>
          <a:xfrm>
            <a:off x="593263" y="3565063"/>
            <a:ext cx="294803" cy="294803"/>
          </a:xfrm>
          <a:prstGeom prst="rect">
            <a:avLst/>
          </a:prstGeom>
        </p:spPr>
      </p:pic>
      <p:sp>
        <p:nvSpPr>
          <p:cNvPr id="13" name="Text 8"/>
          <p:cNvSpPr txBox="1"/>
          <p:nvPr/>
        </p:nvSpPr>
        <p:spPr>
          <a:xfrm>
            <a:off x="1234440" y="3383280"/>
            <a:ext cx="3931920" cy="292608"/>
          </a:xfrm>
          <a:prstGeom prst="rect">
            <a:avLst/>
          </a:prstGeom>
          <a:noFill/>
          <a:ln/>
        </p:spPr>
        <p:txBody>
          <a:bodyPr wrap="square" lIns="0" tIns="0" rIns="0" bIns="0" rtlCol="0" anchor="t"/>
          <a:lstStyle/>
          <a:p>
            <a:pPr marL="0" indent="0">
              <a:buNone/>
            </a:pPr>
            <a:r>
              <a:rPr lang="en-US" sz="1600" b="1" dirty="0">
                <a:solidFill>
                  <a:schemeClr val="tx2"/>
                </a:solidFill>
              </a:rPr>
              <a:t>Proves its answer is optimal</a:t>
            </a:r>
            <a:endParaRPr lang="en-US" sz="1600" dirty="0"/>
          </a:p>
        </p:txBody>
      </p:sp>
      <p:sp>
        <p:nvSpPr>
          <p:cNvPr id="14" name="Text 9"/>
          <p:cNvSpPr txBox="1"/>
          <p:nvPr/>
        </p:nvSpPr>
        <p:spPr>
          <a:xfrm>
            <a:off x="1234440" y="3694176"/>
            <a:ext cx="3931920" cy="548640"/>
          </a:xfrm>
          <a:prstGeom prst="rect">
            <a:avLst/>
          </a:prstGeom>
          <a:noFill/>
          <a:ln/>
        </p:spPr>
        <p:txBody>
          <a:bodyPr wrap="square" lIns="0" tIns="0" rIns="0" bIns="0" rtlCol="0" anchor="t"/>
          <a:lstStyle/>
          <a:p>
            <a:pPr marL="0" indent="0">
              <a:buNone/>
            </a:pPr>
            <a:r>
              <a:rPr lang="en-US" sz="1400" dirty="0">
                <a:solidFill>
                  <a:schemeClr val="tx1"/>
                </a:solidFill>
              </a:rPr>
              <a:t>On small days; on big ones it reports its best schedule and a lower bound</a:t>
            </a:r>
            <a:endParaRPr lang="en-US" sz="1400" dirty="0"/>
          </a:p>
        </p:txBody>
      </p:sp>
      <p:sp>
        <p:nvSpPr>
          <p:cNvPr id="15" name="verify card 1"/>
          <p:cNvSpPr/>
          <p:nvPr/>
        </p:nvSpPr>
        <p:spPr>
          <a:xfrm>
            <a:off x="5577840" y="1097280"/>
            <a:ext cx="3108960" cy="1508760"/>
          </a:xfrm>
          <a:prstGeom prst="roundRect">
            <a:avLst>
              <a:gd name="adj" fmla="val 4848"/>
            </a:avLst>
          </a:prstGeom>
          <a:solidFill>
            <a:schemeClr val="bg2"/>
          </a:solidFill>
          <a:ln w="12700">
            <a:solidFill>
              <a:schemeClr val="bg2"/>
            </a:solidFill>
            <a:prstDash val="solid"/>
          </a:ln>
        </p:spPr>
        <p:txBody>
          <a:bodyPr/>
          <a:lstStyle/>
          <a:p>
            <a:endParaRPr lang="en-US"/>
          </a:p>
        </p:txBody>
      </p:sp>
      <p:sp>
        <p:nvSpPr>
          <p:cNvPr id="16" name="30 value"/>
          <p:cNvSpPr txBox="1"/>
          <p:nvPr/>
        </p:nvSpPr>
        <p:spPr>
          <a:xfrm>
            <a:off x="5760720" y="1188720"/>
            <a:ext cx="2743200" cy="502920"/>
          </a:xfrm>
          <a:prstGeom prst="rect">
            <a:avLst/>
          </a:prstGeom>
          <a:noFill/>
          <a:ln/>
        </p:spPr>
        <p:txBody>
          <a:bodyPr wrap="square" lIns="0" tIns="0" rIns="0" bIns="0" rtlCol="0" anchor="b"/>
          <a:lstStyle/>
          <a:p>
            <a:pPr marL="0" indent="0">
              <a:buNone/>
            </a:pPr>
            <a:r>
              <a:rPr lang="en-US" sz="3200" b="1" dirty="0">
                <a:solidFill>
                  <a:schemeClr val="accent3"/>
                </a:solidFill>
              </a:rPr>
              <a:t>40 / 40</a:t>
            </a:r>
            <a:endParaRPr lang="en-US" sz="3200" dirty="0"/>
          </a:p>
        </p:txBody>
      </p:sp>
      <p:sp>
        <p:nvSpPr>
          <p:cNvPr id="17" name="30 label"/>
          <p:cNvSpPr txBox="1"/>
          <p:nvPr/>
        </p:nvSpPr>
        <p:spPr>
          <a:xfrm>
            <a:off x="5760720" y="1755648"/>
            <a:ext cx="2743200" cy="566928"/>
          </a:xfrm>
          <a:prstGeom prst="rect">
            <a:avLst/>
          </a:prstGeom>
          <a:noFill/>
          <a:ln/>
        </p:spPr>
        <p:txBody>
          <a:bodyPr wrap="square" lIns="0" tIns="0" rIns="0" bIns="0" rtlCol="0" anchor="t"/>
          <a:lstStyle/>
          <a:p>
            <a:pPr marL="0" indent="0">
              <a:buNone/>
            </a:pPr>
            <a:r>
              <a:rPr lang="en-US" sz="1400" dirty="0">
                <a:solidFill>
                  <a:schemeClr val="tx1"/>
                </a:solidFill>
              </a:rPr>
              <a:t>small random days where CP-SAT matched trying every possible schedule</a:t>
            </a:r>
            <a:endParaRPr lang="en-US" sz="1400" dirty="0"/>
          </a:p>
        </p:txBody>
      </p:sp>
      <p:sp>
        <p:nvSpPr>
          <p:cNvPr id="18" name="verify card 2"/>
          <p:cNvSpPr/>
          <p:nvPr/>
        </p:nvSpPr>
        <p:spPr>
          <a:xfrm>
            <a:off x="5577840" y="2834640"/>
            <a:ext cx="3108960" cy="1508760"/>
          </a:xfrm>
          <a:prstGeom prst="roundRect">
            <a:avLst>
              <a:gd name="adj" fmla="val 4848"/>
            </a:avLst>
          </a:prstGeom>
          <a:solidFill>
            <a:schemeClr val="bg2"/>
          </a:solidFill>
          <a:ln w="12700">
            <a:solidFill>
              <a:schemeClr val="bg2"/>
            </a:solidFill>
            <a:prstDash val="solid"/>
          </a:ln>
        </p:spPr>
        <p:txBody>
          <a:bodyPr/>
          <a:lstStyle/>
          <a:p>
            <a:endParaRPr lang="en-US"/>
          </a:p>
        </p:txBody>
      </p:sp>
      <p:sp>
        <p:nvSpPr>
          <p:cNvPr id="19" name="30 value"/>
          <p:cNvSpPr txBox="1"/>
          <p:nvPr/>
        </p:nvSpPr>
        <p:spPr>
          <a:xfrm>
            <a:off x="5760720" y="2926080"/>
            <a:ext cx="2743200" cy="502920"/>
          </a:xfrm>
          <a:prstGeom prst="rect">
            <a:avLst/>
          </a:prstGeom>
          <a:noFill/>
          <a:ln/>
        </p:spPr>
        <p:txBody>
          <a:bodyPr wrap="square" lIns="0" tIns="0" rIns="0" bIns="0" rtlCol="0" anchor="b"/>
          <a:lstStyle/>
          <a:p>
            <a:pPr marL="0" indent="0">
              <a:buNone/>
            </a:pPr>
            <a:r>
              <a:rPr lang="en-US" sz="3200" b="1" dirty="0">
                <a:solidFill>
                  <a:schemeClr val="accent2"/>
                </a:solidFill>
              </a:rPr>
              <a:t>19 / 40</a:t>
            </a:r>
            <a:endParaRPr lang="en-US" sz="3200" dirty="0"/>
          </a:p>
        </p:txBody>
      </p:sp>
      <p:sp>
        <p:nvSpPr>
          <p:cNvPr id="20" name="30 label"/>
          <p:cNvSpPr txBox="1"/>
          <p:nvPr/>
        </p:nvSpPr>
        <p:spPr>
          <a:xfrm>
            <a:off x="5760720" y="3493008"/>
            <a:ext cx="2743200" cy="566928"/>
          </a:xfrm>
          <a:prstGeom prst="rect">
            <a:avLst/>
          </a:prstGeom>
          <a:noFill/>
          <a:ln/>
        </p:spPr>
        <p:txBody>
          <a:bodyPr wrap="square" lIns="0" tIns="0" rIns="0" bIns="0" rtlCol="0" anchor="t"/>
          <a:lstStyle/>
          <a:p>
            <a:pPr marL="0" indent="0">
              <a:buNone/>
            </a:pPr>
            <a:r>
              <a:rPr lang="en-US" sz="1400" dirty="0">
                <a:solidFill>
                  <a:schemeClr val="tx1"/>
                </a:solidFill>
              </a:rPr>
              <a:t>of those days where greedy was not optimal</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1,980 simulated days</a:t>
            </a:r>
            <a:endParaRPr lang="en-US" sz="3600" dirty="0"/>
          </a:p>
        </p:txBody>
      </p:sp>
      <p:graphicFrame>
        <p:nvGraphicFramePr>
          <p:cNvPr id="3" name="suites chart"/>
          <p:cNvGraphicFramePr/>
          <p:nvPr/>
        </p:nvGraphicFramePr>
        <p:xfrm>
          <a:off x="457200" y="1051560"/>
          <a:ext cx="566928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457200" y="4407408"/>
            <a:ext cx="5669280" cy="274320"/>
          </a:xfrm>
          <a:prstGeom prst="rect">
            <a:avLst/>
          </a:prstGeom>
          <a:noFill/>
          <a:ln/>
        </p:spPr>
        <p:txBody>
          <a:bodyPr wrap="square" lIns="0" tIns="0" rIns="0" bIns="0" rtlCol="0" anchor="t"/>
          <a:lstStyle/>
          <a:p>
            <a:pPr marL="0" indent="0">
              <a:buNone/>
            </a:pPr>
            <a:r>
              <a:rPr lang="en-US" sz="1100" dirty="0">
                <a:solidFill>
                  <a:schemeClr val="accent6"/>
                </a:solidFill>
              </a:rPr>
              <a:t>Days per suite: 1,200 · 400 · 200 · 120 · 60. Overloaded days average 132 calls for 8 vehicles.</a:t>
            </a:r>
            <a:endParaRPr lang="en-US" sz="1100" dirty="0"/>
          </a:p>
        </p:txBody>
      </p:sp>
      <p:sp>
        <p:nvSpPr>
          <p:cNvPr id="5" name="36 value"/>
          <p:cNvSpPr txBox="1"/>
          <p:nvPr/>
        </p:nvSpPr>
        <p:spPr>
          <a:xfrm>
            <a:off x="6400800" y="1188720"/>
            <a:ext cx="2286000" cy="502920"/>
          </a:xfrm>
          <a:prstGeom prst="rect">
            <a:avLst/>
          </a:prstGeom>
          <a:noFill/>
          <a:ln/>
        </p:spPr>
        <p:txBody>
          <a:bodyPr wrap="square" lIns="0" tIns="0" rIns="0" bIns="0" rtlCol="0" anchor="b"/>
          <a:lstStyle/>
          <a:p>
            <a:pPr marL="0" indent="0">
              <a:buNone/>
            </a:pPr>
            <a:r>
              <a:rPr lang="en-US" sz="3200" b="1" dirty="0">
                <a:solidFill>
                  <a:schemeClr val="accent1"/>
                </a:solidFill>
              </a:rPr>
              <a:t>−23.5%</a:t>
            </a:r>
            <a:endParaRPr lang="en-US" sz="3200" dirty="0"/>
          </a:p>
        </p:txBody>
      </p:sp>
      <p:sp>
        <p:nvSpPr>
          <p:cNvPr id="6" name="36 label"/>
          <p:cNvSpPr txBox="1"/>
          <p:nvPr/>
        </p:nvSpPr>
        <p:spPr>
          <a:xfrm>
            <a:off x="6400800" y="1755648"/>
            <a:ext cx="2286000" cy="566928"/>
          </a:xfrm>
          <a:prstGeom prst="rect">
            <a:avLst/>
          </a:prstGeom>
          <a:noFill/>
          <a:ln/>
        </p:spPr>
        <p:txBody>
          <a:bodyPr wrap="square" lIns="0" tIns="0" rIns="0" bIns="0" rtlCol="0" anchor="t"/>
          <a:lstStyle/>
          <a:p>
            <a:pPr marL="0" indent="0">
              <a:buNone/>
            </a:pPr>
            <a:r>
              <a:rPr lang="en-US" sz="1400" dirty="0">
                <a:solidFill>
                  <a:schemeClr val="tx1"/>
                </a:solidFill>
              </a:rPr>
              <a:t>average delay per call vs greedy: 22.6 → 17.3 min</a:t>
            </a:r>
            <a:endParaRPr lang="en-US" sz="1400" dirty="0"/>
          </a:p>
        </p:txBody>
      </p:sp>
      <p:sp>
        <p:nvSpPr>
          <p:cNvPr id="7" name="32 value"/>
          <p:cNvSpPr txBox="1"/>
          <p:nvPr/>
        </p:nvSpPr>
        <p:spPr>
          <a:xfrm>
            <a:off x="6400800" y="2423160"/>
            <a:ext cx="2286000" cy="502920"/>
          </a:xfrm>
          <a:prstGeom prst="rect">
            <a:avLst/>
          </a:prstGeom>
          <a:noFill/>
          <a:ln/>
        </p:spPr>
        <p:txBody>
          <a:bodyPr wrap="square" lIns="0" tIns="0" rIns="0" bIns="0" rtlCol="0" anchor="b"/>
          <a:lstStyle/>
          <a:p>
            <a:pPr marL="0" indent="0">
              <a:buNone/>
            </a:pPr>
            <a:r>
              <a:rPr lang="en-US" sz="3200" b="1" dirty="0">
                <a:solidFill>
                  <a:schemeClr val="tx2"/>
                </a:solidFill>
              </a:rPr>
              <a:t>1,709</a:t>
            </a:r>
            <a:endParaRPr lang="en-US" sz="3200" dirty="0"/>
          </a:p>
        </p:txBody>
      </p:sp>
      <p:sp>
        <p:nvSpPr>
          <p:cNvPr id="8" name="32 label"/>
          <p:cNvSpPr txBox="1"/>
          <p:nvPr/>
        </p:nvSpPr>
        <p:spPr>
          <a:xfrm>
            <a:off x="6400800" y="2990088"/>
            <a:ext cx="2286000" cy="566928"/>
          </a:xfrm>
          <a:prstGeom prst="rect">
            <a:avLst/>
          </a:prstGeom>
          <a:noFill/>
          <a:ln/>
        </p:spPr>
        <p:txBody>
          <a:bodyPr wrap="square" lIns="0" tIns="0" rIns="0" bIns="0" rtlCol="0" anchor="t"/>
          <a:lstStyle/>
          <a:p>
            <a:pPr marL="0" indent="0">
              <a:buNone/>
            </a:pPr>
            <a:r>
              <a:rPr lang="en-US" sz="1400" dirty="0">
                <a:solidFill>
                  <a:schemeClr val="tx1"/>
                </a:solidFill>
              </a:rPr>
              <a:t>days better than greedy; 142 worse, the rest tied</a:t>
            </a:r>
            <a:endParaRPr lang="en-US" sz="1400" dirty="0"/>
          </a:p>
        </p:txBody>
      </p:sp>
      <p:sp>
        <p:nvSpPr>
          <p:cNvPr id="9" name="24 value"/>
          <p:cNvSpPr txBox="1"/>
          <p:nvPr/>
        </p:nvSpPr>
        <p:spPr>
          <a:xfrm>
            <a:off x="6400800" y="3657600"/>
            <a:ext cx="2286000" cy="502920"/>
          </a:xfrm>
          <a:prstGeom prst="rect">
            <a:avLst/>
          </a:prstGeom>
          <a:noFill/>
          <a:ln/>
        </p:spPr>
        <p:txBody>
          <a:bodyPr wrap="square" lIns="0" tIns="0" rIns="0" bIns="0" rtlCol="0" anchor="b"/>
          <a:lstStyle/>
          <a:p>
            <a:pPr marL="0" indent="0">
              <a:buNone/>
            </a:pPr>
            <a:r>
              <a:rPr lang="en-US" sz="3200" b="1" dirty="0">
                <a:solidFill>
                  <a:schemeClr val="tx2"/>
                </a:solidFill>
              </a:rPr>
              <a:t>−8.2%</a:t>
            </a:r>
            <a:endParaRPr lang="en-US" sz="3200" dirty="0"/>
          </a:p>
        </p:txBody>
      </p:sp>
      <p:sp>
        <p:nvSpPr>
          <p:cNvPr id="10" name="24 label"/>
          <p:cNvSpPr txBox="1"/>
          <p:nvPr/>
        </p:nvSpPr>
        <p:spPr>
          <a:xfrm>
            <a:off x="6400800" y="4224528"/>
            <a:ext cx="2286000" cy="566928"/>
          </a:xfrm>
          <a:prstGeom prst="rect">
            <a:avLst/>
          </a:prstGeom>
          <a:noFill/>
          <a:ln/>
        </p:spPr>
        <p:txBody>
          <a:bodyPr wrap="square" lIns="0" tIns="0" rIns="0" bIns="0" rtlCol="0" anchor="t"/>
          <a:lstStyle/>
          <a:p>
            <a:pPr marL="0" indent="0">
              <a:buNone/>
            </a:pPr>
            <a:r>
              <a:rPr lang="en-US" sz="1400" dirty="0">
                <a:solidFill>
                  <a:schemeClr val="tx1"/>
                </a:solidFill>
              </a:rPr>
              <a:t>from re-planning alone, with the same return-to-base rule</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How close to hindsight?</a:t>
            </a:r>
            <a:endParaRPr lang="en-US" sz="3600" dirty="0"/>
          </a:p>
        </p:txBody>
      </p:sp>
      <p:graphicFrame>
        <p:nvGraphicFramePr>
          <p:cNvPr id="3" name="gap chart"/>
          <p:cNvGraphicFramePr/>
          <p:nvPr/>
        </p:nvGraphicFramePr>
        <p:xfrm>
          <a:off x="457200" y="1051560"/>
          <a:ext cx="512064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457200" y="4407408"/>
            <a:ext cx="5120640" cy="274320"/>
          </a:xfrm>
          <a:prstGeom prst="rect">
            <a:avLst/>
          </a:prstGeom>
          <a:noFill/>
          <a:ln/>
        </p:spPr>
        <p:txBody>
          <a:bodyPr wrap="square" lIns="0" tIns="0" rIns="0" bIns="0" rtlCol="0" anchor="t"/>
          <a:lstStyle/>
          <a:p>
            <a:pPr marL="0" indent="0">
              <a:buNone/>
            </a:pPr>
            <a:r>
              <a:rPr lang="en-US" sz="1100" dirty="0">
                <a:solidFill>
                  <a:schemeClr val="accent6"/>
                </a:solidFill>
              </a:rPr>
              <a:t>Return-to-base rules; optimum proven on 164 of 230 days.</a:t>
            </a:r>
            <a:endParaRPr lang="en-US" sz="1100" dirty="0"/>
          </a:p>
        </p:txBody>
      </p:sp>
      <p:sp>
        <p:nvSpPr>
          <p:cNvPr id="5" name="26 value"/>
          <p:cNvSpPr txBox="1"/>
          <p:nvPr/>
        </p:nvSpPr>
        <p:spPr>
          <a:xfrm>
            <a:off x="5897880" y="1188720"/>
            <a:ext cx="2788920" cy="502920"/>
          </a:xfrm>
          <a:prstGeom prst="rect">
            <a:avLst/>
          </a:prstGeom>
          <a:noFill/>
          <a:ln/>
        </p:spPr>
        <p:txBody>
          <a:bodyPr wrap="square" lIns="0" tIns="0" rIns="0" bIns="0" rtlCol="0" anchor="b"/>
          <a:lstStyle/>
          <a:p>
            <a:pPr marL="0" indent="0">
              <a:buNone/>
            </a:pPr>
            <a:r>
              <a:rPr lang="en-US" sz="3200" b="1" dirty="0">
                <a:solidFill>
                  <a:schemeClr val="accent1"/>
                </a:solidFill>
              </a:rPr>
              <a:t>+0.6 to 2.1%</a:t>
            </a:r>
            <a:endParaRPr lang="en-US" sz="3200" dirty="0"/>
          </a:p>
        </p:txBody>
      </p:sp>
      <p:sp>
        <p:nvSpPr>
          <p:cNvPr id="6" name="26 label"/>
          <p:cNvSpPr txBox="1"/>
          <p:nvPr/>
        </p:nvSpPr>
        <p:spPr>
          <a:xfrm>
            <a:off x="5897880" y="1755648"/>
            <a:ext cx="2788920" cy="566928"/>
          </a:xfrm>
          <a:prstGeom prst="rect">
            <a:avLst/>
          </a:prstGeom>
          <a:noFill/>
          <a:ln/>
        </p:spPr>
        <p:txBody>
          <a:bodyPr wrap="square" lIns="0" tIns="0" rIns="0" bIns="0" rtlCol="0" anchor="t"/>
          <a:lstStyle/>
          <a:p>
            <a:pPr marL="0" indent="0">
              <a:buNone/>
            </a:pPr>
            <a:r>
              <a:rPr lang="en-US" sz="1400" dirty="0">
                <a:solidFill>
                  <a:schemeClr val="tx1"/>
                </a:solidFill>
              </a:rPr>
              <a:t>above the optimum under its rules, without seeing the future</a:t>
            </a:r>
            <a:endParaRPr lang="en-US" sz="1400" dirty="0"/>
          </a:p>
        </p:txBody>
      </p:sp>
      <p:sp>
        <p:nvSpPr>
          <p:cNvPr id="7" name="24 value"/>
          <p:cNvSpPr txBox="1"/>
          <p:nvPr/>
        </p:nvSpPr>
        <p:spPr>
          <a:xfrm>
            <a:off x="5897880" y="2423160"/>
            <a:ext cx="2788920" cy="502920"/>
          </a:xfrm>
          <a:prstGeom prst="rect">
            <a:avLst/>
          </a:prstGeom>
          <a:noFill/>
          <a:ln/>
        </p:spPr>
        <p:txBody>
          <a:bodyPr wrap="square" lIns="0" tIns="0" rIns="0" bIns="0" rtlCol="0" anchor="b"/>
          <a:lstStyle/>
          <a:p>
            <a:pPr marL="0" indent="0">
              <a:buNone/>
            </a:pPr>
            <a:r>
              <a:rPr lang="en-US" sz="3200" b="1" dirty="0">
                <a:solidFill>
                  <a:schemeClr val="accent1"/>
                </a:solidFill>
              </a:rPr>
              <a:t>7 to 19% below</a:t>
            </a:r>
            <a:endParaRPr lang="en-US" sz="3200" dirty="0"/>
          </a:p>
        </p:txBody>
      </p:sp>
      <p:sp>
        <p:nvSpPr>
          <p:cNvPr id="8" name="24 label"/>
          <p:cNvSpPr txBox="1"/>
          <p:nvPr/>
        </p:nvSpPr>
        <p:spPr>
          <a:xfrm>
            <a:off x="5897880" y="2990088"/>
            <a:ext cx="2788920" cy="566928"/>
          </a:xfrm>
          <a:prstGeom prst="rect">
            <a:avLst/>
          </a:prstGeom>
          <a:noFill/>
          <a:ln/>
        </p:spPr>
        <p:txBody>
          <a:bodyPr wrap="square" lIns="0" tIns="0" rIns="0" bIns="0" rtlCol="0" anchor="t"/>
          <a:lstStyle/>
          <a:p>
            <a:pPr marL="0" indent="0">
              <a:buNone/>
            </a:pPr>
            <a:r>
              <a:rPr lang="en-US" sz="1400" dirty="0">
                <a:solidFill>
                  <a:schemeClr val="tx1"/>
                </a:solidFill>
              </a:rPr>
              <a:t>with standby: waiting near demand beats foresight plus going home</a:t>
            </a:r>
            <a:endParaRPr lang="en-US" sz="1400" dirty="0"/>
          </a:p>
        </p:txBody>
      </p:sp>
      <p:sp>
        <p:nvSpPr>
          <p:cNvPr id="9" name="24 value"/>
          <p:cNvSpPr txBox="1"/>
          <p:nvPr/>
        </p:nvSpPr>
        <p:spPr>
          <a:xfrm>
            <a:off x="5897880" y="3657600"/>
            <a:ext cx="2788920" cy="502920"/>
          </a:xfrm>
          <a:prstGeom prst="rect">
            <a:avLst/>
          </a:prstGeom>
          <a:noFill/>
          <a:ln/>
        </p:spPr>
        <p:txBody>
          <a:bodyPr wrap="square" lIns="0" tIns="0" rIns="0" bIns="0" rtlCol="0" anchor="b"/>
          <a:lstStyle/>
          <a:p>
            <a:pPr marL="0" indent="0">
              <a:buNone/>
            </a:pPr>
            <a:r>
              <a:rPr lang="en-US" sz="3200" b="1" dirty="0">
                <a:solidFill>
                  <a:schemeClr val="tx2"/>
                </a:solidFill>
              </a:rPr>
              <a:t>~6% more</a:t>
            </a:r>
            <a:endParaRPr lang="en-US" sz="3200" dirty="0"/>
          </a:p>
        </p:txBody>
      </p:sp>
      <p:sp>
        <p:nvSpPr>
          <p:cNvPr id="10" name="24 label"/>
          <p:cNvSpPr txBox="1"/>
          <p:nvPr/>
        </p:nvSpPr>
        <p:spPr>
          <a:xfrm>
            <a:off x="5897880" y="4224528"/>
            <a:ext cx="2788920" cy="566928"/>
          </a:xfrm>
          <a:prstGeom prst="rect">
            <a:avLst/>
          </a:prstGeom>
          <a:noFill/>
          <a:ln/>
        </p:spPr>
        <p:txBody>
          <a:bodyPr wrap="square" lIns="0" tIns="0" rIns="0" bIns="0" rtlCol="0" anchor="t"/>
          <a:lstStyle/>
          <a:p>
            <a:pPr marL="0" indent="0">
              <a:buNone/>
            </a:pPr>
            <a:r>
              <a:rPr lang="en-US" sz="1400" dirty="0">
                <a:solidFill>
                  <a:schemeClr val="tx1"/>
                </a:solidFill>
              </a:rPr>
              <a:t>is all we'd gain by knowing the city's true call pattern</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What didn't help</a:t>
            </a:r>
            <a:endParaRPr lang="en-US" sz="3600" dirty="0"/>
          </a:p>
        </p:txBody>
      </p:sp>
      <p:graphicFrame>
        <p:nvGraphicFramePr>
          <p:cNvPr id="3" name="rejected ideas chart"/>
          <p:cNvGraphicFramePr/>
          <p:nvPr/>
        </p:nvGraphicFramePr>
        <p:xfrm>
          <a:off x="457200" y="1051560"/>
          <a:ext cx="5394960"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457200" y="4407408"/>
            <a:ext cx="5394960" cy="274320"/>
          </a:xfrm>
          <a:prstGeom prst="rect">
            <a:avLst/>
          </a:prstGeom>
          <a:noFill/>
          <a:ln/>
        </p:spPr>
        <p:txBody>
          <a:bodyPr wrap="square" lIns="0" tIns="0" rIns="0" bIns="0" rtlCol="0" anchor="t"/>
          <a:lstStyle/>
          <a:p>
            <a:pPr marL="0" indent="0">
              <a:buNone/>
            </a:pPr>
            <a:r>
              <a:rPr lang="en-US" sz="1100" dirty="0">
                <a:solidFill>
                  <a:schemeClr val="accent6"/>
                </a:solidFill>
              </a:rPr>
              <a:t>1,920 simulated days (all suites but the overloaded one).</a:t>
            </a:r>
            <a:endParaRPr lang="en-US" sz="1100" dirty="0"/>
          </a:p>
        </p:txBody>
      </p:sp>
      <p:sp>
        <p:nvSpPr>
          <p:cNvPr id="5" name="kept card"/>
          <p:cNvSpPr/>
          <p:nvPr/>
        </p:nvSpPr>
        <p:spPr>
          <a:xfrm>
            <a:off x="6217920" y="1097280"/>
            <a:ext cx="2468880" cy="1600200"/>
          </a:xfrm>
          <a:prstGeom prst="roundRect">
            <a:avLst>
              <a:gd name="adj" fmla="val 4571"/>
            </a:avLst>
          </a:prstGeom>
          <a:solidFill>
            <a:schemeClr val="bg2"/>
          </a:solidFill>
          <a:ln w="12700">
            <a:solidFill>
              <a:schemeClr val="bg2"/>
            </a:solidFill>
            <a:prstDash val="solid"/>
          </a:ln>
        </p:spPr>
        <p:txBody>
          <a:bodyPr/>
          <a:lstStyle/>
          <a:p>
            <a:endParaRPr lang="en-US"/>
          </a:p>
        </p:txBody>
      </p:sp>
      <p:sp>
        <p:nvSpPr>
          <p:cNvPr id="6" name="kept circle"/>
          <p:cNvSpPr/>
          <p:nvPr/>
        </p:nvSpPr>
        <p:spPr>
          <a:xfrm>
            <a:off x="6400800" y="1261872"/>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7" name="kept icon" descr="kept"/>
          <p:cNvPicPr>
            <a:picLocks noChangeAspect="1"/>
          </p:cNvPicPr>
          <p:nvPr/>
        </p:nvPicPr>
        <p:blipFill>
          <a:blip r:embed="rId4"/>
          <a:stretch>
            <a:fillRect/>
          </a:stretch>
        </p:blipFill>
        <p:spPr>
          <a:xfrm>
            <a:off x="6492972" y="1354044"/>
            <a:ext cx="199705" cy="199705"/>
          </a:xfrm>
          <a:prstGeom prst="rect">
            <a:avLst/>
          </a:prstGeom>
        </p:spPr>
      </p:pic>
      <p:sp>
        <p:nvSpPr>
          <p:cNvPr id="8" name="Text 4"/>
          <p:cNvSpPr txBox="1"/>
          <p:nvPr/>
        </p:nvSpPr>
        <p:spPr>
          <a:xfrm>
            <a:off x="6903720" y="1261872"/>
            <a:ext cx="1645920" cy="384048"/>
          </a:xfrm>
          <a:prstGeom prst="rect">
            <a:avLst/>
          </a:prstGeom>
          <a:noFill/>
          <a:ln/>
        </p:spPr>
        <p:txBody>
          <a:bodyPr wrap="square" lIns="0" tIns="0" rIns="0" bIns="0" rtlCol="0" anchor="ctr"/>
          <a:lstStyle/>
          <a:p>
            <a:pPr marL="0" indent="0">
              <a:buNone/>
            </a:pPr>
            <a:r>
              <a:rPr lang="en-US" sz="1600" b="1" dirty="0">
                <a:solidFill>
                  <a:schemeClr val="tx2"/>
                </a:solidFill>
              </a:rPr>
              <a:t>Kept</a:t>
            </a:r>
            <a:endParaRPr lang="en-US" sz="1600" dirty="0"/>
          </a:p>
        </p:txBody>
      </p:sp>
      <p:sp>
        <p:nvSpPr>
          <p:cNvPr id="9" name="Text 5"/>
          <p:cNvSpPr txBox="1"/>
          <p:nvPr/>
        </p:nvSpPr>
        <p:spPr>
          <a:xfrm>
            <a:off x="6400800" y="1755648"/>
            <a:ext cx="2148840" cy="868680"/>
          </a:xfrm>
          <a:prstGeom prst="rect">
            <a:avLst/>
          </a:prstGeom>
          <a:noFill/>
          <a:ln/>
        </p:spPr>
        <p:txBody>
          <a:bodyPr wrap="square" lIns="0" tIns="0" rIns="0" bIns="0" rtlCol="0" anchor="t"/>
          <a:lstStyle/>
          <a:p>
            <a:pPr marL="0" indent="0">
              <a:buNone/>
            </a:pPr>
            <a:r>
              <a:rPr lang="en-US" sz="1400" dirty="0">
                <a:solidFill>
                  <a:schemeClr val="tx1"/>
                </a:solidFill>
              </a:rPr>
              <a:t>The backlog planner: −4.6% on rush days, −6.1% on overloaded days</a:t>
            </a:r>
            <a:endParaRPr lang="en-US" sz="1400" dirty="0"/>
          </a:p>
        </p:txBody>
      </p:sp>
      <p:sp>
        <p:nvSpPr>
          <p:cNvPr id="10" name="holding card"/>
          <p:cNvSpPr/>
          <p:nvPr/>
        </p:nvSpPr>
        <p:spPr>
          <a:xfrm>
            <a:off x="6217920" y="2926080"/>
            <a:ext cx="2468880" cy="1463040"/>
          </a:xfrm>
          <a:prstGeom prst="roundRect">
            <a:avLst>
              <a:gd name="adj" fmla="val 5000"/>
            </a:avLst>
          </a:prstGeom>
          <a:solidFill>
            <a:schemeClr val="bg2"/>
          </a:solidFill>
          <a:ln w="12700">
            <a:solidFill>
              <a:schemeClr val="bg2"/>
            </a:solidFill>
            <a:prstDash val="solid"/>
          </a:ln>
        </p:spPr>
        <p:txBody>
          <a:bodyPr/>
          <a:lstStyle/>
          <a:p>
            <a:endParaRPr lang="en-US"/>
          </a:p>
        </p:txBody>
      </p:sp>
      <p:sp>
        <p:nvSpPr>
          <p:cNvPr id="11" name="Text 7"/>
          <p:cNvSpPr txBox="1"/>
          <p:nvPr/>
        </p:nvSpPr>
        <p:spPr>
          <a:xfrm>
            <a:off x="6400800" y="3017520"/>
            <a:ext cx="2148840" cy="502920"/>
          </a:xfrm>
          <a:prstGeom prst="rect">
            <a:avLst/>
          </a:prstGeom>
          <a:noFill/>
          <a:ln/>
        </p:spPr>
        <p:txBody>
          <a:bodyPr wrap="square" lIns="0" tIns="0" rIns="0" bIns="0" rtlCol="0" anchor="t"/>
          <a:lstStyle/>
          <a:p>
            <a:pPr marL="0" indent="0">
              <a:buNone/>
            </a:pPr>
            <a:r>
              <a:rPr lang="en-US" sz="1400" b="1" dirty="0">
                <a:solidFill>
                  <a:schemeClr val="tx2"/>
                </a:solidFill>
              </a:rPr>
              <a:t>Holding calls hurts more the longer you wait</a:t>
            </a:r>
            <a:endParaRPr lang="en-US" sz="1400" dirty="0"/>
          </a:p>
        </p:txBody>
      </p:sp>
      <p:sp>
        <p:nvSpPr>
          <p:cNvPr id="12" name="Text 8"/>
          <p:cNvSpPr txBox="1"/>
          <p:nvPr/>
        </p:nvSpPr>
        <p:spPr>
          <a:xfrm>
            <a:off x="6400800" y="3566160"/>
            <a:ext cx="2148840" cy="731520"/>
          </a:xfrm>
          <a:prstGeom prst="rect">
            <a:avLst/>
          </a:prstGeom>
          <a:noFill/>
          <a:ln/>
        </p:spPr>
        <p:txBody>
          <a:bodyPr wrap="square" lIns="0" tIns="0" rIns="0" bIns="0" rtlCol="0" anchor="t"/>
          <a:lstStyle/>
          <a:p>
            <a:pPr marL="0" indent="0">
              <a:buNone/>
            </a:pPr>
            <a:r>
              <a:rPr lang="en-US" sz="1400" dirty="0">
                <a:solidFill>
                  <a:schemeClr val="tx1"/>
                </a:solidFill>
              </a:rPr>
              <a:t>2 min +0.6% · 5 min +3.8% · 10 min +13%</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How we know it's right</a:t>
            </a:r>
            <a:endParaRPr lang="en-US" sz="3600" dirty="0"/>
          </a:p>
        </p:txBody>
      </p:sp>
      <p:sp>
        <p:nvSpPr>
          <p:cNvPr id="3" name="Text 1"/>
          <p:cNvSpPr txBox="1"/>
          <p:nvPr/>
        </p:nvSpPr>
        <p:spPr>
          <a:xfrm>
            <a:off x="457200" y="1051560"/>
            <a:ext cx="4206240" cy="274320"/>
          </a:xfrm>
          <a:prstGeom prst="rect">
            <a:avLst/>
          </a:prstGeom>
          <a:noFill/>
          <a:ln/>
        </p:spPr>
        <p:txBody>
          <a:bodyPr wrap="square" lIns="0" tIns="0" rIns="0" bIns="0" rtlCol="0" anchor="t"/>
          <a:lstStyle/>
          <a:p>
            <a:pPr marL="0" indent="0">
              <a:buNone/>
            </a:pPr>
            <a:endParaRPr lang="en-US" sz="1400" dirty="0"/>
          </a:p>
        </p:txBody>
      </p:sp>
      <p:pic>
        <p:nvPicPr>
          <p:cNvPr id="4" name="check icon" descr="passed"/>
          <p:cNvPicPr>
            <a:picLocks noChangeAspect="1"/>
          </p:cNvPicPr>
          <p:nvPr/>
        </p:nvPicPr>
        <p:blipFill>
          <a:blip r:embed="rId3"/>
          <a:stretch>
            <a:fillRect/>
          </a:stretch>
        </p:blipFill>
        <p:spPr>
          <a:xfrm>
            <a:off x="457200" y="1499616"/>
            <a:ext cx="219456" cy="219456"/>
          </a:xfrm>
          <a:prstGeom prst="rect">
            <a:avLst/>
          </a:prstGeom>
        </p:spPr>
      </p:pic>
      <p:sp>
        <p:nvSpPr>
          <p:cNvPr id="5" name="Text 2"/>
          <p:cNvSpPr txBox="1"/>
          <p:nvPr/>
        </p:nvSpPr>
        <p:spPr>
          <a:xfrm>
            <a:off x="777240" y="1463040"/>
            <a:ext cx="3931920" cy="292608"/>
          </a:xfrm>
          <a:prstGeom prst="rect">
            <a:avLst/>
          </a:prstGeom>
          <a:noFill/>
          <a:ln/>
        </p:spPr>
        <p:txBody>
          <a:bodyPr wrap="square" lIns="0" tIns="0" rIns="0" bIns="0" rtlCol="0" anchor="ctr"/>
          <a:lstStyle/>
          <a:p>
            <a:pPr marL="0" indent="0">
              <a:buNone/>
            </a:pPr>
            <a:r>
              <a:rPr lang="en-US" sz="1400" dirty="0">
                <a:solidFill>
                  <a:schemeClr val="tx1"/>
                </a:solidFill>
              </a:rPr>
              <a:t>Independent validator replays every schedule</a:t>
            </a:r>
            <a:endParaRPr lang="en-US" sz="1400" dirty="0"/>
          </a:p>
        </p:txBody>
      </p:sp>
      <p:pic>
        <p:nvPicPr>
          <p:cNvPr id="6" name="check icon" descr="passed"/>
          <p:cNvPicPr>
            <a:picLocks noChangeAspect="1"/>
          </p:cNvPicPr>
          <p:nvPr/>
        </p:nvPicPr>
        <p:blipFill>
          <a:blip r:embed="rId3"/>
          <a:stretch>
            <a:fillRect/>
          </a:stretch>
        </p:blipFill>
        <p:spPr>
          <a:xfrm>
            <a:off x="457200" y="1874520"/>
            <a:ext cx="219456" cy="219456"/>
          </a:xfrm>
          <a:prstGeom prst="rect">
            <a:avLst/>
          </a:prstGeom>
        </p:spPr>
      </p:pic>
      <p:sp>
        <p:nvSpPr>
          <p:cNvPr id="7" name="Text 3"/>
          <p:cNvSpPr txBox="1"/>
          <p:nvPr/>
        </p:nvSpPr>
        <p:spPr>
          <a:xfrm>
            <a:off x="777240" y="1837944"/>
            <a:ext cx="3931920" cy="292608"/>
          </a:xfrm>
          <a:prstGeom prst="rect">
            <a:avLst/>
          </a:prstGeom>
          <a:noFill/>
          <a:ln/>
        </p:spPr>
        <p:txBody>
          <a:bodyPr wrap="square" lIns="0" tIns="0" rIns="0" bIns="0" rtlCol="0" anchor="ctr"/>
          <a:lstStyle/>
          <a:p>
            <a:pPr marL="0" indent="0">
              <a:buNone/>
            </a:pPr>
            <a:r>
              <a:rPr lang="en-US" sz="1400" dirty="0">
                <a:solidFill>
                  <a:schemeClr val="tx1"/>
                </a:solidFill>
              </a:rPr>
              <a:t>9 tricky cases with hand-checked totals</a:t>
            </a:r>
            <a:endParaRPr lang="en-US" sz="1400" dirty="0"/>
          </a:p>
        </p:txBody>
      </p:sp>
      <p:pic>
        <p:nvPicPr>
          <p:cNvPr id="8" name="check icon" descr="passed"/>
          <p:cNvPicPr>
            <a:picLocks noChangeAspect="1"/>
          </p:cNvPicPr>
          <p:nvPr/>
        </p:nvPicPr>
        <p:blipFill>
          <a:blip r:embed="rId3"/>
          <a:stretch>
            <a:fillRect/>
          </a:stretch>
        </p:blipFill>
        <p:spPr>
          <a:xfrm>
            <a:off x="457200" y="2249424"/>
            <a:ext cx="219456" cy="219456"/>
          </a:xfrm>
          <a:prstGeom prst="rect">
            <a:avLst/>
          </a:prstGeom>
        </p:spPr>
      </p:pic>
      <p:sp>
        <p:nvSpPr>
          <p:cNvPr id="9" name="Text 4"/>
          <p:cNvSpPr txBox="1"/>
          <p:nvPr/>
        </p:nvSpPr>
        <p:spPr>
          <a:xfrm>
            <a:off x="777240" y="2212848"/>
            <a:ext cx="3931920" cy="292608"/>
          </a:xfrm>
          <a:prstGeom prst="rect">
            <a:avLst/>
          </a:prstGeom>
          <a:noFill/>
          <a:ln/>
        </p:spPr>
        <p:txBody>
          <a:bodyPr wrap="square" lIns="0" tIns="0" rIns="0" bIns="0" rtlCol="0" anchor="ctr"/>
          <a:lstStyle/>
          <a:p>
            <a:pPr marL="0" indent="0">
              <a:buNone/>
            </a:pPr>
            <a:r>
              <a:rPr lang="en-US" sz="1400" dirty="0">
                <a:solidFill>
                  <a:schemeClr val="tx1"/>
                </a:solidFill>
              </a:rPr>
              <a:t>12 malformed inputs: a clear error naming the line</a:t>
            </a:r>
            <a:endParaRPr lang="en-US" sz="1400" dirty="0"/>
          </a:p>
        </p:txBody>
      </p:sp>
      <p:pic>
        <p:nvPicPr>
          <p:cNvPr id="10" name="check icon" descr="passed"/>
          <p:cNvPicPr>
            <a:picLocks noChangeAspect="1"/>
          </p:cNvPicPr>
          <p:nvPr/>
        </p:nvPicPr>
        <p:blipFill>
          <a:blip r:embed="rId3"/>
          <a:stretch>
            <a:fillRect/>
          </a:stretch>
        </p:blipFill>
        <p:spPr>
          <a:xfrm>
            <a:off x="457200" y="2624328"/>
            <a:ext cx="219456" cy="219456"/>
          </a:xfrm>
          <a:prstGeom prst="rect">
            <a:avLst/>
          </a:prstGeom>
        </p:spPr>
      </p:pic>
      <p:sp>
        <p:nvSpPr>
          <p:cNvPr id="11" name="Text 5"/>
          <p:cNvSpPr txBox="1"/>
          <p:nvPr/>
        </p:nvSpPr>
        <p:spPr>
          <a:xfrm>
            <a:off x="777240" y="2587752"/>
            <a:ext cx="3931920" cy="292608"/>
          </a:xfrm>
          <a:prstGeom prst="rect">
            <a:avLst/>
          </a:prstGeom>
          <a:noFill/>
          <a:ln/>
        </p:spPr>
        <p:txBody>
          <a:bodyPr wrap="square" lIns="0" tIns="0" rIns="0" bIns="0" rtlCol="0" anchor="ctr"/>
          <a:lstStyle/>
          <a:p>
            <a:pPr marL="0" indent="0">
              <a:buNone/>
            </a:pPr>
            <a:r>
              <a:rPr lang="en-US" sz="1400" dirty="0">
                <a:solidFill>
                  <a:schemeClr val="tx1"/>
                </a:solidFill>
              </a:rPr>
              <a:t>Backlog DP matches brute force on random backlogs</a:t>
            </a:r>
            <a:endParaRPr lang="en-US" sz="1400" dirty="0"/>
          </a:p>
        </p:txBody>
      </p:sp>
      <p:pic>
        <p:nvPicPr>
          <p:cNvPr id="12" name="check icon" descr="passed"/>
          <p:cNvPicPr>
            <a:picLocks noChangeAspect="1"/>
          </p:cNvPicPr>
          <p:nvPr/>
        </p:nvPicPr>
        <p:blipFill>
          <a:blip r:embed="rId3"/>
          <a:stretch>
            <a:fillRect/>
          </a:stretch>
        </p:blipFill>
        <p:spPr>
          <a:xfrm>
            <a:off x="457200" y="2999232"/>
            <a:ext cx="219456" cy="219456"/>
          </a:xfrm>
          <a:prstGeom prst="rect">
            <a:avLst/>
          </a:prstGeom>
        </p:spPr>
      </p:pic>
      <p:sp>
        <p:nvSpPr>
          <p:cNvPr id="13" name="Text 6"/>
          <p:cNvSpPr txBox="1"/>
          <p:nvPr/>
        </p:nvSpPr>
        <p:spPr>
          <a:xfrm>
            <a:off x="777240" y="2962656"/>
            <a:ext cx="3931920" cy="292608"/>
          </a:xfrm>
          <a:prstGeom prst="rect">
            <a:avLst/>
          </a:prstGeom>
          <a:noFill/>
          <a:ln/>
        </p:spPr>
        <p:txBody>
          <a:bodyPr wrap="square" lIns="0" tIns="0" rIns="0" bIns="0" rtlCol="0" anchor="ctr"/>
          <a:lstStyle/>
          <a:p>
            <a:pPr marL="0" indent="0">
              <a:buNone/>
            </a:pPr>
            <a:r>
              <a:rPr lang="en-US" sz="1400" dirty="0">
                <a:solidFill>
                  <a:schemeClr val="tx1"/>
                </a:solidFill>
              </a:rPr>
              <a:t>Big days: never worse than oldest-first</a:t>
            </a:r>
            <a:endParaRPr lang="en-US" sz="1400" dirty="0"/>
          </a:p>
        </p:txBody>
      </p:sp>
      <p:pic>
        <p:nvPicPr>
          <p:cNvPr id="14" name="check icon" descr="passed"/>
          <p:cNvPicPr>
            <a:picLocks noChangeAspect="1"/>
          </p:cNvPicPr>
          <p:nvPr/>
        </p:nvPicPr>
        <p:blipFill>
          <a:blip r:embed="rId3"/>
          <a:stretch>
            <a:fillRect/>
          </a:stretch>
        </p:blipFill>
        <p:spPr>
          <a:xfrm>
            <a:off x="457200" y="3374136"/>
            <a:ext cx="219456" cy="219456"/>
          </a:xfrm>
          <a:prstGeom prst="rect">
            <a:avLst/>
          </a:prstGeom>
        </p:spPr>
      </p:pic>
      <p:sp>
        <p:nvSpPr>
          <p:cNvPr id="15" name="Text 7"/>
          <p:cNvSpPr txBox="1"/>
          <p:nvPr/>
        </p:nvSpPr>
        <p:spPr>
          <a:xfrm>
            <a:off x="777240" y="3337560"/>
            <a:ext cx="3931920" cy="292608"/>
          </a:xfrm>
          <a:prstGeom prst="rect">
            <a:avLst/>
          </a:prstGeom>
          <a:noFill/>
          <a:ln/>
        </p:spPr>
        <p:txBody>
          <a:bodyPr wrap="square" lIns="0" tIns="0" rIns="0" bIns="0" rtlCol="0" anchor="ctr"/>
          <a:lstStyle/>
          <a:p>
            <a:pPr marL="0" indent="0">
              <a:buNone/>
            </a:pPr>
            <a:r>
              <a:rPr lang="en-US" sz="1400" dirty="0">
                <a:solidFill>
                  <a:schemeClr val="tx1"/>
                </a:solidFill>
              </a:rPr>
              <a:t>No peeking: future calls change nothing earlier</a:t>
            </a:r>
            <a:endParaRPr lang="en-US" sz="1400" dirty="0"/>
          </a:p>
        </p:txBody>
      </p:sp>
      <p:pic>
        <p:nvPicPr>
          <p:cNvPr id="16" name="check icon" descr="passed"/>
          <p:cNvPicPr>
            <a:picLocks noChangeAspect="1"/>
          </p:cNvPicPr>
          <p:nvPr/>
        </p:nvPicPr>
        <p:blipFill>
          <a:blip r:embed="rId3"/>
          <a:stretch>
            <a:fillRect/>
          </a:stretch>
        </p:blipFill>
        <p:spPr>
          <a:xfrm>
            <a:off x="457200" y="3749040"/>
            <a:ext cx="219456" cy="219456"/>
          </a:xfrm>
          <a:prstGeom prst="rect">
            <a:avLst/>
          </a:prstGeom>
        </p:spPr>
      </p:pic>
      <p:sp>
        <p:nvSpPr>
          <p:cNvPr id="17" name="Text 8"/>
          <p:cNvSpPr txBox="1"/>
          <p:nvPr/>
        </p:nvSpPr>
        <p:spPr>
          <a:xfrm>
            <a:off x="777240" y="3712464"/>
            <a:ext cx="3931920" cy="292608"/>
          </a:xfrm>
          <a:prstGeom prst="rect">
            <a:avLst/>
          </a:prstGeom>
          <a:noFill/>
          <a:ln/>
        </p:spPr>
        <p:txBody>
          <a:bodyPr wrap="square" lIns="0" tIns="0" rIns="0" bIns="0" rtlCol="0" anchor="ctr"/>
          <a:lstStyle/>
          <a:p>
            <a:pPr marL="0" indent="0">
              <a:buNone/>
            </a:pPr>
            <a:r>
              <a:rPr lang="en-US" sz="1400" dirty="0">
                <a:solidFill>
                  <a:schemeClr val="tx1"/>
                </a:solidFill>
              </a:rPr>
              <a:t>No-replan mode = hindsight greedy, exactly</a:t>
            </a:r>
            <a:endParaRPr lang="en-US" sz="1400" dirty="0"/>
          </a:p>
        </p:txBody>
      </p:sp>
      <p:pic>
        <p:nvPicPr>
          <p:cNvPr id="18" name="check icon" descr="passed"/>
          <p:cNvPicPr>
            <a:picLocks noChangeAspect="1"/>
          </p:cNvPicPr>
          <p:nvPr/>
        </p:nvPicPr>
        <p:blipFill>
          <a:blip r:embed="rId3"/>
          <a:stretch>
            <a:fillRect/>
          </a:stretch>
        </p:blipFill>
        <p:spPr>
          <a:xfrm>
            <a:off x="457200" y="4123944"/>
            <a:ext cx="219456" cy="219456"/>
          </a:xfrm>
          <a:prstGeom prst="rect">
            <a:avLst/>
          </a:prstGeom>
        </p:spPr>
      </p:pic>
      <p:sp>
        <p:nvSpPr>
          <p:cNvPr id="19" name="Text 9"/>
          <p:cNvSpPr txBox="1"/>
          <p:nvPr/>
        </p:nvSpPr>
        <p:spPr>
          <a:xfrm>
            <a:off x="777240" y="4087368"/>
            <a:ext cx="3931920" cy="292608"/>
          </a:xfrm>
          <a:prstGeom prst="rect">
            <a:avLst/>
          </a:prstGeom>
          <a:noFill/>
          <a:ln/>
        </p:spPr>
        <p:txBody>
          <a:bodyPr wrap="square" lIns="0" tIns="0" rIns="0" bIns="0" rtlCol="0" anchor="ctr"/>
          <a:lstStyle/>
          <a:p>
            <a:pPr marL="0" indent="0">
              <a:buNone/>
            </a:pPr>
            <a:r>
              <a:rPr lang="en-US" sz="1400" dirty="0">
                <a:solidFill>
                  <a:schemeClr val="tx1"/>
                </a:solidFill>
              </a:rPr>
              <a:t>Base mode never beats CP-SAT's proven optimum</a:t>
            </a:r>
            <a:endParaRPr lang="en-US" sz="1400" dirty="0"/>
          </a:p>
        </p:txBody>
      </p:sp>
      <p:pic>
        <p:nvPicPr>
          <p:cNvPr id="20" name="replay screenshot" descr="Web replay of typical_day at 12:15: standby and return-to-base maps side by side"/>
          <p:cNvPicPr>
            <a:picLocks noChangeAspect="1"/>
          </p:cNvPicPr>
          <p:nvPr/>
        </p:nvPicPr>
        <p:blipFill>
          <a:blip r:embed="rId4"/>
          <a:stretch>
            <a:fillRect/>
          </a:stretch>
        </p:blipFill>
        <p:spPr>
          <a:xfrm>
            <a:off x="4754880" y="1097280"/>
            <a:ext cx="3931920" cy="1928153"/>
          </a:xfrm>
          <a:prstGeom prst="rect">
            <a:avLst/>
          </a:prstGeom>
        </p:spPr>
      </p:pic>
      <p:sp>
        <p:nvSpPr>
          <p:cNvPr id="21" name="screenshot frame"/>
          <p:cNvSpPr/>
          <p:nvPr/>
        </p:nvSpPr>
        <p:spPr>
          <a:xfrm>
            <a:off x="4754880" y="1097280"/>
            <a:ext cx="3931920" cy="1928153"/>
          </a:xfrm>
          <a:prstGeom prst="rect">
            <a:avLst/>
          </a:prstGeom>
          <a:solidFill>
            <a:schemeClr val="bg1">
              <a:alpha val="0"/>
            </a:schemeClr>
          </a:solidFill>
          <a:ln w="9525">
            <a:solidFill>
              <a:srgbClr val="D5DAE1"/>
            </a:solidFill>
            <a:prstDash val="solid"/>
          </a:ln>
        </p:spPr>
        <p:txBody>
          <a:bodyPr/>
          <a:lstStyle/>
          <a:p>
            <a:endParaRPr lang="en-US"/>
          </a:p>
        </p:txBody>
      </p:sp>
      <p:sp>
        <p:nvSpPr>
          <p:cNvPr id="22" name="Text 11"/>
          <p:cNvSpPr txBox="1"/>
          <p:nvPr/>
        </p:nvSpPr>
        <p:spPr>
          <a:xfrm>
            <a:off x="4754880" y="3135161"/>
            <a:ext cx="3931920" cy="411480"/>
          </a:xfrm>
          <a:prstGeom prst="rect">
            <a:avLst/>
          </a:prstGeom>
          <a:noFill/>
          <a:ln/>
        </p:spPr>
        <p:txBody>
          <a:bodyPr wrap="square" lIns="0" tIns="0" rIns="0" bIns="0" rtlCol="0" anchor="t"/>
          <a:lstStyle/>
          <a:p>
            <a:pPr marL="0" indent="0">
              <a:buNone/>
            </a:pPr>
            <a:r>
              <a:rPr lang="en-US" sz="1200" dirty="0">
                <a:solidFill>
                  <a:schemeClr val="accent6"/>
                </a:solidFill>
              </a:rPr>
              <a:t>Web replay (apps/web), typical_day at 12:15: standby on the left, return to base on the right</a:t>
            </a:r>
            <a:endParaRPr lang="en-US" sz="1200" dirty="0"/>
          </a:p>
        </p:txBody>
      </p:sp>
      <p:sp>
        <p:nvSpPr>
          <p:cNvPr id="23" name="24 value"/>
          <p:cNvSpPr txBox="1"/>
          <p:nvPr/>
        </p:nvSpPr>
        <p:spPr>
          <a:xfrm>
            <a:off x="4754880" y="3657600"/>
            <a:ext cx="3931920" cy="502920"/>
          </a:xfrm>
          <a:prstGeom prst="rect">
            <a:avLst/>
          </a:prstGeom>
          <a:noFill/>
          <a:ln/>
        </p:spPr>
        <p:txBody>
          <a:bodyPr wrap="square" lIns="0" tIns="0" rIns="0" bIns="0" rtlCol="0" anchor="b"/>
          <a:lstStyle/>
          <a:p>
            <a:pPr marL="0" indent="0">
              <a:buNone/>
            </a:pPr>
            <a:r>
              <a:rPr lang="en-US" sz="3200" b="1" dirty="0">
                <a:solidFill>
                  <a:schemeClr val="accent1"/>
                </a:solidFill>
              </a:rPr>
              <a:t>344 vs 409 min</a:t>
            </a:r>
            <a:endParaRPr lang="en-US" sz="3200" dirty="0"/>
          </a:p>
        </p:txBody>
      </p:sp>
      <p:sp>
        <p:nvSpPr>
          <p:cNvPr id="24" name="24 label"/>
          <p:cNvSpPr txBox="1"/>
          <p:nvPr/>
        </p:nvSpPr>
        <p:spPr>
          <a:xfrm>
            <a:off x="4754880" y="4224528"/>
            <a:ext cx="3931920" cy="566928"/>
          </a:xfrm>
          <a:prstGeom prst="rect">
            <a:avLst/>
          </a:prstGeom>
          <a:noFill/>
          <a:ln/>
        </p:spPr>
        <p:txBody>
          <a:bodyPr wrap="square" lIns="0" tIns="0" rIns="0" bIns="0" rtlCol="0" anchor="t"/>
          <a:lstStyle/>
          <a:p>
            <a:pPr marL="0" indent="0">
              <a:buNone/>
            </a:pPr>
            <a:r>
              <a:rPr lang="en-US" sz="1400" dirty="0">
                <a:solidFill>
                  <a:schemeClr val="tx1"/>
                </a:solidFill>
              </a:rPr>
              <a:t>total delay that day: standby vs return to base</a:t>
            </a:r>
            <a:endParaRPr lang="en-US" sz="14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bg1"/>
                </a:solidFill>
              </a:rPr>
              <a:t>Takeaways</a:t>
            </a:r>
            <a:endParaRPr lang="en-US" sz="3600" dirty="0"/>
          </a:p>
        </p:txBody>
      </p:sp>
      <p:sp>
        <p:nvSpPr>
          <p:cNvPr id="3" name="takeaway 1"/>
          <p:cNvSpPr/>
          <p:nvPr/>
        </p:nvSpPr>
        <p:spPr>
          <a:xfrm>
            <a:off x="457200" y="1188720"/>
            <a:ext cx="2560320" cy="2514600"/>
          </a:xfrm>
          <a:prstGeom prst="roundRect">
            <a:avLst>
              <a:gd name="adj" fmla="val 2909"/>
            </a:avLst>
          </a:prstGeom>
          <a:solidFill>
            <a:srgbClr val="22335A"/>
          </a:solidFill>
          <a:ln w="12700">
            <a:solidFill>
              <a:srgbClr val="22335A"/>
            </a:solidFill>
            <a:prstDash val="solid"/>
          </a:ln>
        </p:spPr>
        <p:txBody>
          <a:bodyPr/>
          <a:lstStyle/>
          <a:p>
            <a:endParaRPr lang="en-US"/>
          </a:p>
        </p:txBody>
      </p:sp>
      <p:sp>
        <p:nvSpPr>
          <p:cNvPr id="4" name="takeaway 1 number circle"/>
          <p:cNvSpPr/>
          <p:nvPr/>
        </p:nvSpPr>
        <p:spPr>
          <a:xfrm>
            <a:off x="685800" y="141732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5" name="Text 3"/>
          <p:cNvSpPr txBox="1"/>
          <p:nvPr/>
        </p:nvSpPr>
        <p:spPr>
          <a:xfrm>
            <a:off x="685800" y="14173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Text 4"/>
          <p:cNvSpPr txBox="1"/>
          <p:nvPr/>
        </p:nvSpPr>
        <p:spPr>
          <a:xfrm>
            <a:off x="685800" y="2194560"/>
            <a:ext cx="2148840" cy="365760"/>
          </a:xfrm>
          <a:prstGeom prst="rect">
            <a:avLst/>
          </a:prstGeom>
          <a:noFill/>
          <a:ln/>
        </p:spPr>
        <p:txBody>
          <a:bodyPr wrap="square" lIns="0" tIns="0" rIns="0" bIns="0" rtlCol="0" anchor="t"/>
          <a:lstStyle/>
          <a:p>
            <a:pPr marL="0" indent="0">
              <a:buNone/>
            </a:pPr>
            <a:r>
              <a:rPr lang="en-US" sz="1800" b="1" dirty="0">
                <a:solidFill>
                  <a:schemeClr val="bg1"/>
                </a:solidFill>
              </a:rPr>
              <a:t>Re-plan the queue</a:t>
            </a:r>
            <a:endParaRPr lang="en-US" sz="1800" dirty="0"/>
          </a:p>
        </p:txBody>
      </p:sp>
      <p:sp>
        <p:nvSpPr>
          <p:cNvPr id="7" name="Text 5"/>
          <p:cNvSpPr txBox="1"/>
          <p:nvPr/>
        </p:nvSpPr>
        <p:spPr>
          <a:xfrm>
            <a:off x="685800" y="2633472"/>
            <a:ext cx="2148840" cy="868680"/>
          </a:xfrm>
          <a:prstGeom prst="rect">
            <a:avLst/>
          </a:prstGeom>
          <a:noFill/>
          <a:ln/>
        </p:spPr>
        <p:txBody>
          <a:bodyPr wrap="square" lIns="0" tIns="0" rIns="0" bIns="0" rtlCol="0" anchor="t"/>
          <a:lstStyle/>
          <a:p>
            <a:pPr marL="0" indent="0">
              <a:buNone/>
            </a:pPr>
            <a:r>
              <a:rPr lang="en-US" sz="1400" dirty="0">
                <a:solidFill>
                  <a:schemeClr val="bg2"/>
                </a:solidFill>
              </a:rPr>
              <a:t>At every event, not once per call: −8% delay vs greedy under the same rules</a:t>
            </a:r>
            <a:endParaRPr lang="en-US" sz="1400" dirty="0"/>
          </a:p>
        </p:txBody>
      </p:sp>
      <p:sp>
        <p:nvSpPr>
          <p:cNvPr id="8" name="takeaway 2"/>
          <p:cNvSpPr/>
          <p:nvPr/>
        </p:nvSpPr>
        <p:spPr>
          <a:xfrm>
            <a:off x="3291840" y="1188720"/>
            <a:ext cx="2560320" cy="2514600"/>
          </a:xfrm>
          <a:prstGeom prst="roundRect">
            <a:avLst>
              <a:gd name="adj" fmla="val 2909"/>
            </a:avLst>
          </a:prstGeom>
          <a:solidFill>
            <a:srgbClr val="22335A"/>
          </a:solidFill>
          <a:ln w="12700">
            <a:solidFill>
              <a:srgbClr val="22335A"/>
            </a:solidFill>
            <a:prstDash val="solid"/>
          </a:ln>
        </p:spPr>
        <p:txBody>
          <a:bodyPr/>
          <a:lstStyle/>
          <a:p>
            <a:endParaRPr lang="en-US"/>
          </a:p>
        </p:txBody>
      </p:sp>
      <p:sp>
        <p:nvSpPr>
          <p:cNvPr id="9" name="takeaway 2 number circle"/>
          <p:cNvSpPr/>
          <p:nvPr/>
        </p:nvSpPr>
        <p:spPr>
          <a:xfrm>
            <a:off x="3520440" y="141732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10" name="Text 8"/>
          <p:cNvSpPr txBox="1"/>
          <p:nvPr/>
        </p:nvSpPr>
        <p:spPr>
          <a:xfrm>
            <a:off x="3520440" y="14173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1" name="Text 9"/>
          <p:cNvSpPr txBox="1"/>
          <p:nvPr/>
        </p:nvSpPr>
        <p:spPr>
          <a:xfrm>
            <a:off x="3520440" y="2194560"/>
            <a:ext cx="2148840" cy="365760"/>
          </a:xfrm>
          <a:prstGeom prst="rect">
            <a:avLst/>
          </a:prstGeom>
          <a:noFill/>
          <a:ln/>
        </p:spPr>
        <p:txBody>
          <a:bodyPr wrap="square" lIns="0" tIns="0" rIns="0" bIns="0" rtlCol="0" anchor="t"/>
          <a:lstStyle/>
          <a:p>
            <a:pPr marL="0" indent="0">
              <a:buNone/>
            </a:pPr>
            <a:r>
              <a:rPr lang="en-US" sz="1800" b="1" dirty="0">
                <a:solidFill>
                  <a:schemeClr val="bg1"/>
                </a:solidFill>
              </a:rPr>
              <a:t>Wait near the calls</a:t>
            </a:r>
            <a:endParaRPr lang="en-US" sz="1800" dirty="0"/>
          </a:p>
        </p:txBody>
      </p:sp>
      <p:sp>
        <p:nvSpPr>
          <p:cNvPr id="12" name="Text 10"/>
          <p:cNvSpPr txBox="1"/>
          <p:nvPr/>
        </p:nvSpPr>
        <p:spPr>
          <a:xfrm>
            <a:off x="3520440" y="2633472"/>
            <a:ext cx="2148840" cy="868680"/>
          </a:xfrm>
          <a:prstGeom prst="rect">
            <a:avLst/>
          </a:prstGeom>
          <a:noFill/>
          <a:ln/>
        </p:spPr>
        <p:txBody>
          <a:bodyPr wrap="square" lIns="0" tIns="0" rIns="0" bIns="0" rtlCol="0" anchor="t"/>
          <a:lstStyle/>
          <a:p>
            <a:pPr marL="0" indent="0">
              <a:buNone/>
            </a:pPr>
            <a:r>
              <a:rPr lang="en-US" sz="1400" dirty="0">
                <a:solidFill>
                  <a:schemeClr val="bg2"/>
                </a:solidFill>
              </a:rPr>
              <a:t>Standby spots: −23.5% vs greedy, and below the return-to-base hindsight optimum</a:t>
            </a:r>
            <a:endParaRPr lang="en-US" sz="1400" dirty="0"/>
          </a:p>
        </p:txBody>
      </p:sp>
      <p:sp>
        <p:nvSpPr>
          <p:cNvPr id="13" name="takeaway 3"/>
          <p:cNvSpPr/>
          <p:nvPr/>
        </p:nvSpPr>
        <p:spPr>
          <a:xfrm>
            <a:off x="6126480" y="1188720"/>
            <a:ext cx="2560320" cy="2514600"/>
          </a:xfrm>
          <a:prstGeom prst="roundRect">
            <a:avLst>
              <a:gd name="adj" fmla="val 2909"/>
            </a:avLst>
          </a:prstGeom>
          <a:solidFill>
            <a:srgbClr val="22335A"/>
          </a:solidFill>
          <a:ln w="12700">
            <a:solidFill>
              <a:srgbClr val="22335A"/>
            </a:solidFill>
            <a:prstDash val="solid"/>
          </a:ln>
        </p:spPr>
        <p:txBody>
          <a:bodyPr/>
          <a:lstStyle/>
          <a:p>
            <a:endParaRPr lang="en-US"/>
          </a:p>
        </p:txBody>
      </p:sp>
      <p:sp>
        <p:nvSpPr>
          <p:cNvPr id="14" name="takeaway 3 number circle"/>
          <p:cNvSpPr/>
          <p:nvPr/>
        </p:nvSpPr>
        <p:spPr>
          <a:xfrm>
            <a:off x="6355080" y="1417320"/>
            <a:ext cx="548640" cy="548640"/>
          </a:xfrm>
          <a:prstGeom prst="ellipse">
            <a:avLst/>
          </a:prstGeom>
          <a:solidFill>
            <a:schemeClr val="accent1"/>
          </a:solidFill>
          <a:ln w="12700">
            <a:solidFill>
              <a:schemeClr val="accent1"/>
            </a:solidFill>
            <a:prstDash val="solid"/>
          </a:ln>
        </p:spPr>
        <p:txBody>
          <a:bodyPr/>
          <a:lstStyle/>
          <a:p>
            <a:endParaRPr lang="en-US"/>
          </a:p>
        </p:txBody>
      </p:sp>
      <p:sp>
        <p:nvSpPr>
          <p:cNvPr id="15" name="Text 13"/>
          <p:cNvSpPr txBox="1"/>
          <p:nvPr/>
        </p:nvSpPr>
        <p:spPr>
          <a:xfrm>
            <a:off x="6355080" y="14173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16" name="Text 14"/>
          <p:cNvSpPr txBox="1"/>
          <p:nvPr/>
        </p:nvSpPr>
        <p:spPr>
          <a:xfrm>
            <a:off x="6355080" y="2194560"/>
            <a:ext cx="2148840" cy="365760"/>
          </a:xfrm>
          <a:prstGeom prst="rect">
            <a:avLst/>
          </a:prstGeom>
          <a:noFill/>
          <a:ln/>
        </p:spPr>
        <p:txBody>
          <a:bodyPr wrap="square" lIns="0" tIns="0" rIns="0" bIns="0" rtlCol="0" anchor="t"/>
          <a:lstStyle/>
          <a:p>
            <a:pPr marL="0" indent="0">
              <a:buNone/>
            </a:pPr>
            <a:r>
              <a:rPr lang="en-US" sz="1800" b="1" dirty="0">
                <a:solidFill>
                  <a:schemeClr val="bg1"/>
                </a:solidFill>
              </a:rPr>
              <a:t>Close to the ceiling</a:t>
            </a:r>
            <a:endParaRPr lang="en-US" sz="1800" dirty="0"/>
          </a:p>
        </p:txBody>
      </p:sp>
      <p:sp>
        <p:nvSpPr>
          <p:cNvPr id="17" name="Text 15"/>
          <p:cNvSpPr txBox="1"/>
          <p:nvPr/>
        </p:nvSpPr>
        <p:spPr>
          <a:xfrm>
            <a:off x="6355080" y="2633472"/>
            <a:ext cx="2148840" cy="868680"/>
          </a:xfrm>
          <a:prstGeom prst="rect">
            <a:avLst/>
          </a:prstGeom>
          <a:noFill/>
          <a:ln/>
        </p:spPr>
        <p:txBody>
          <a:bodyPr wrap="square" lIns="0" tIns="0" rIns="0" bIns="0" rtlCol="0" anchor="t"/>
          <a:lstStyle/>
          <a:p>
            <a:pPr marL="0" indent="0">
              <a:buNone/>
            </a:pPr>
            <a:r>
              <a:rPr lang="en-US" sz="1400" dirty="0">
                <a:solidFill>
                  <a:schemeClr val="bg2"/>
                </a:solidFill>
              </a:rPr>
              <a:t>Within 0.6 to 2.1% of perfect hindsight under its own rules</a:t>
            </a:r>
            <a:endParaRPr lang="en-US" sz="1400" dirty="0"/>
          </a:p>
        </p:txBody>
      </p:sp>
      <p:sp>
        <p:nvSpPr>
          <p:cNvPr id="18" name="Text 16"/>
          <p:cNvSpPr txBox="1"/>
          <p:nvPr/>
        </p:nvSpPr>
        <p:spPr>
          <a:xfrm>
            <a:off x="457200" y="4023360"/>
            <a:ext cx="8229600" cy="365760"/>
          </a:xfrm>
          <a:prstGeom prst="rect">
            <a:avLst/>
          </a:prstGeom>
          <a:noFill/>
          <a:ln/>
        </p:spPr>
        <p:txBody>
          <a:bodyPr wrap="square" lIns="0" tIns="0" rIns="0" bIns="0" rtlCol="0" anchor="t"/>
          <a:lstStyle/>
          <a:p>
            <a:pPr marL="0" indent="0">
              <a:buNone/>
            </a:pPr>
            <a:r>
              <a:rPr lang="en-US" sz="1600" b="1" dirty="0">
                <a:solidFill>
                  <a:schemeClr val="bg1"/>
                </a:solidFill>
              </a:rPr>
              <a:t>Try it: </a:t>
            </a:r>
            <a:r>
              <a:rPr lang="en-US" sz="1600" dirty="0">
                <a:solidFill>
                  <a:schemeClr val="bg1"/>
                </a:solidFill>
                <a:latin typeface="Courier New" pitchFamily="34" charset="0"/>
                <a:ea typeface="Courier New" pitchFamily="34" charset="-122"/>
                <a:cs typeface="Courier New" pitchFamily="34" charset="-120"/>
              </a:rPr>
              <a:t>python dispatcher.py input.txt</a:t>
            </a:r>
            <a:r>
              <a:rPr lang="en-US" sz="1600" dirty="0">
                <a:solidFill>
                  <a:schemeClr val="bg1"/>
                </a:solidFill>
              </a:rPr>
              <a:t>   ·   replay: </a:t>
            </a:r>
            <a:r>
              <a:rPr lang="en-US" sz="1600" dirty="0">
                <a:solidFill>
                  <a:schemeClr val="bg1"/>
                </a:solidFill>
                <a:latin typeface="Courier New" pitchFamily="34" charset="0"/>
                <a:ea typeface="Courier New" pitchFamily="34" charset="-122"/>
                <a:cs typeface="Courier New" pitchFamily="34" charset="-120"/>
              </a:rPr>
              <a:t>apps/web</a:t>
            </a:r>
            <a:r>
              <a:rPr lang="en-US" sz="1600" dirty="0">
                <a:solidFill>
                  <a:schemeClr val="bg1"/>
                </a:solidFill>
              </a:rPr>
              <a:t>   ·   Questions?</a:t>
            </a:r>
            <a:endParaRPr lang="en-US" sz="16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3600" b="1" dirty="0">
                <a:solidFill>
                  <a:schemeClr val="tx2"/>
                </a:solidFill>
              </a:rPr>
              <a:t>Appendix: sample inputs</a:t>
            </a:r>
            <a:endParaRPr lang="en-US" sz="3600" dirty="0"/>
          </a:p>
        </p:txBody>
      </p:sp>
      <p:graphicFrame>
        <p:nvGraphicFramePr>
          <p:cNvPr id="16" name="input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688336"/>
        </p:xfrm>
        <a:graphic>
          <a:graphicData uri="http://schemas.openxmlformats.org/drawingml/2006/table">
            <a:tbl>
              <a:tblPr/>
              <a:tblGrid>
                <a:gridCol w="16916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600200">
                  <a:extLst>
                    <a:ext uri="{9D8B030D-6E8A-4147-A177-3AD203B41FA5}">
                      <a16:colId xmlns:a16="http://schemas.microsoft.com/office/drawing/2014/main" val="20006"/>
                    </a:ext>
                  </a:extLst>
                </a:gridCol>
              </a:tblGrid>
              <a:tr h="384048">
                <a:tc>
                  <a:txBody>
                    <a:bodyPr/>
                    <a:lstStyle/>
                    <a:p>
                      <a:pPr marL="0" indent="0">
                        <a:buNone/>
                      </a:pPr>
                      <a:r>
                        <a:rPr lang="en-US" sz="1400" b="1" dirty="0">
                          <a:solidFill>
                            <a:schemeClr val="bg1"/>
                          </a:solidFill>
                        </a:rPr>
                        <a:t>Input</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Vehicles</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Calls</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Greedy</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2"/>
                    </a:solidFill>
                  </a:tcPr>
                </a:tc>
                <a:tc>
                  <a:txBody>
                    <a:bodyPr/>
                    <a:lstStyle/>
                    <a:p>
                      <a:pPr marL="0" indent="0">
                        <a:buNone/>
                      </a:pPr>
                      <a:r>
                        <a:rPr lang="en-US" sz="1400" b="1" dirty="0">
                          <a:solidFill>
                            <a:schemeClr val="bg1"/>
                          </a:solidFill>
                        </a:rPr>
                        <a:t>Ours, base</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Ours, standby</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rPr>
                        <a:t>CP-SAT optimum</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example</a:t>
                      </a:r>
                      <a:endParaRPr lang="en-US" sz="1300" dirty="0">
                        <a:latin typeface="Courier New" charset="0"/>
                        <a:ea typeface="Courier New" charset="0"/>
                        <a:cs typeface="Courier New" charset="0"/>
                      </a:endParaRPr>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3</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44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44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44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44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edge_cases</a:t>
                      </a:r>
                      <a:endParaRPr lang="en-US" sz="1300" dirty="0">
                        <a:latin typeface="Courier New" charset="0"/>
                        <a:ea typeface="Courier New" charset="0"/>
                        <a:cs typeface="Courier New" charset="0"/>
                      </a:endParaRPr>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7</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114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108</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114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108</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single_vehicle</a:t>
                      </a:r>
                      <a:endParaRPr lang="en-US" sz="1300" dirty="0">
                        <a:latin typeface="Courier New" charset="0"/>
                        <a:ea typeface="Courier New" charset="0"/>
                        <a:cs typeface="Courier New" charset="0"/>
                      </a:endParaRPr>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7</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615</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462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462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416</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typical_day</a:t>
                      </a:r>
                      <a:endParaRPr lang="en-US" sz="1300" dirty="0">
                        <a:latin typeface="Courier New" charset="0"/>
                        <a:ea typeface="Courier New" charset="0"/>
                        <a:cs typeface="Courier New" charset="0"/>
                      </a:endParaRPr>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3</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20</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409</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409</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344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380</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rush_hour</a:t>
                      </a:r>
                      <a:endParaRPr lang="en-US" sz="1300" dirty="0">
                        <a:latin typeface="Courier New" charset="0"/>
                        <a:ea typeface="Courier New" charset="0"/>
                        <a:cs typeface="Courier New" charset="0"/>
                      </a:endParaRPr>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1553</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1256</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1256</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 1075</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buNone/>
                      </a:pPr>
                      <a:r>
                        <a:rPr lang="en-US" sz="1300" dirty="0">
                          <a:solidFill>
                            <a:schemeClr val="tx2"/>
                          </a:solidFill>
                          <a:latin typeface="Courier New" pitchFamily="34" charset="0"/>
                          <a:ea typeface="Courier New" pitchFamily="34" charset="-122"/>
                          <a:cs typeface="Courier New" pitchFamily="34" charset="-120"/>
                        </a:rPr>
                        <a:t>large_city</a:t>
                      </a:r>
                      <a:endParaRPr lang="en-US" sz="1300" dirty="0">
                        <a:latin typeface="Courier New" charset="0"/>
                        <a:ea typeface="Courier New" charset="0"/>
                        <a:cs typeface="Courier New" charset="0"/>
                      </a:endParaRPr>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35</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724</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b="1" dirty="0">
                          <a:solidFill>
                            <a:schemeClr val="accent1"/>
                          </a:solidFill>
                        </a:rPr>
                        <a:t>712</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728</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rPr>
                        <a:t>≤ 678</a:t>
                      </a:r>
                      <a:endParaRPr lang="en-US" sz="1400" dirty="0"/>
                    </a:p>
                  </a:txBody>
                  <a:tcPr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457200" y="4023360"/>
            <a:ext cx="8229600" cy="548640"/>
          </a:xfrm>
          <a:prstGeom prst="rect">
            <a:avLst/>
          </a:prstGeom>
          <a:noFill/>
          <a:ln/>
        </p:spPr>
        <p:txBody>
          <a:bodyPr wrap="square" lIns="0" tIns="0" rIns="0" bIns="0" rtlCol="0" anchor="t"/>
          <a:lstStyle/>
          <a:p>
            <a:pPr marL="0" indent="0">
              <a:buNone/>
            </a:pPr>
            <a:r>
              <a:rPr lang="en-US" sz="1200" dirty="0">
                <a:solidFill>
                  <a:schemeClr val="accent6"/>
                </a:solidFill>
              </a:rPr>
              <a:t>Total response delay in minutes; bold = lowest online result. CP-SAT sees the whole day and uses return-to-base rules; ≤ marks the best it found in 30 s (not proven). Standby can beat it (typical_day) because it may park away from base.</a:t>
            </a:r>
            <a:endParaRPr lang="en-US" sz="1200" dirty="0"/>
          </a:p>
        </p:txBody>
      </p:sp>
      <p:sp>
        <p:nvSpPr>
          <p:cNvPr id="25" name="Slide Number Placeholder 0"/>
          <p:cNvSpPr>
            <a:spLocks noGrp="1"/>
          </p:cNvSpPr>
          <p:nvPr>
            <p:ph type="sldNum" sz="quarter" idx="4294967295"/>
          </p:nvPr>
        </p:nvSpPr>
        <p:spPr>
          <a:xfrm>
            <a:off x="8138160" y="4754880"/>
            <a:ext cx="548640" cy="228600"/>
          </a:xfrm>
          <a:prstGeom prst="rect">
            <a:avLst/>
          </a:prstGeom>
          <a:extLst>
            <a:ext uri="{C572A759-6A51-4108-AA02-DFA0A04FC94B}">
              <ma14:wrappingTextBoxFlag xmlns=""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UVEC Dispatch">
  <a:themeElements>
    <a:clrScheme name="UVEC Dispatch">
      <a:dk1>
        <a:srgbClr val="1D2433"/>
      </a:dk1>
      <a:lt1>
        <a:srgbClr val="FFFFFF"/>
      </a:lt1>
      <a:dk2>
        <a:srgbClr val="15233F"/>
      </a:dk2>
      <a:lt2>
        <a:srgbClr val="EEF1F5"/>
      </a:lt2>
      <a:accent1>
        <a:srgbClr val="D62839"/>
      </a:accent1>
      <a:accent2>
        <a:srgbClr val="6B7588"/>
      </a:accent2>
      <a:accent3>
        <a:srgbClr val="1F5F8B"/>
      </a:accent3>
      <a:accent4>
        <a:srgbClr val="E89B2D"/>
      </a:accent4>
      <a:accent5>
        <a:srgbClr val="2E8B57"/>
      </a:accent5>
      <a:accent6>
        <a:srgbClr val="5B6475"/>
      </a:accent6>
      <a:hlink>
        <a:srgbClr val="1F5F8B"/>
      </a:hlink>
      <a:folHlink>
        <a:srgbClr val="5B6475"/>
      </a:folHlink>
    </a:clrScheme>
    <a:fontScheme name="UVEC Dispat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TotalTime>
  <Words>2669</Words>
  <Application>Microsoft Macintosh PowerPoint</Application>
  <PresentationFormat>On-screen Show (16:9)</PresentationFormat>
  <Paragraphs>260</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Courier New</vt:lpstr>
      <vt:lpstr>UVEC Dispatch</vt:lpstr>
      <vt:lpstr>Dispatching emergency vehicles as calls come in</vt:lpstr>
      <vt:lpstr>The problem</vt:lpstr>
      <vt:lpstr>The rules</vt:lpstr>
      <vt:lpstr>Three approaches</vt:lpstr>
      <vt:lpstr>Greedy vs ours: one queue</vt:lpstr>
      <vt:lpstr>Inside our dispatcher</vt:lpstr>
      <vt:lpstr>Where idle vehicles wait</vt:lpstr>
      <vt:lpstr>CP-SAT: perfect hindsight</vt:lpstr>
      <vt:lpstr>1,980 simulated days</vt:lpstr>
      <vt:lpstr>How close to hindsight?</vt:lpstr>
      <vt:lpstr>What didn't help</vt:lpstr>
      <vt:lpstr>How we know it's right</vt:lpstr>
      <vt:lpstr>Takeaways</vt:lpstr>
      <vt:lpstr>Appendix: sample inputs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Dispatching emergency vehicles as calls come in</dc:title>
  <dc:subject>UVEC 2026 Programming Stream</dc:subject>
  <dc:creator>PptxGenJS</dc:creator>
  <cp:lastModifiedBy>Kiyan Kassam</cp:lastModifiedBy>
  <cp:revision>4</cp:revision>
  <dcterms:created xsi:type="dcterms:W3CDTF">2026-10-25T21:37:26Z</dcterms:created>
  <dcterms:modified xsi:type="dcterms:W3CDTF">2026-10-26T00:04:15Z</dcterms:modified>
</cp:coreProperties>
</file>